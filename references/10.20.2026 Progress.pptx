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309" r:id="rId3"/>
    <p:sldId id="299" r:id="rId4"/>
    <p:sldId id="304" r:id="rId5"/>
    <p:sldId id="305" r:id="rId6"/>
    <p:sldId id="306" r:id="rId7"/>
    <p:sldId id="307" r:id="rId8"/>
    <p:sldId id="308" r:id="rId9"/>
    <p:sldId id="311" r:id="rId10"/>
    <p:sldId id="310" r:id="rId11"/>
    <p:sldId id="312" r:id="rId12"/>
    <p:sldId id="313" r:id="rId13"/>
    <p:sldId id="314" r:id="rId14"/>
    <p:sldId id="315" r:id="rId15"/>
    <p:sldId id="316" r:id="rId16"/>
    <p:sldId id="317" r:id="rId17"/>
    <p:sldId id="318" r:id="rId18"/>
    <p:sldId id="319" r:id="rId19"/>
    <p:sldId id="321" r:id="rId20"/>
    <p:sldId id="322" r:id="rId21"/>
    <p:sldId id="323" r:id="rId22"/>
    <p:sldId id="320" r:id="rId23"/>
    <p:sldId id="324" r:id="rId24"/>
    <p:sldId id="326" r:id="rId25"/>
    <p:sldId id="303" r:id="rId26"/>
    <p:sldId id="300" r:id="rId27"/>
    <p:sldId id="301" r:id="rId28"/>
    <p:sldId id="327" r:id="rId29"/>
    <p:sldId id="302" r:id="rId30"/>
    <p:sldId id="325" r:id="rId31"/>
    <p:sldId id="279"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F3FB"/>
    <a:srgbClr val="0000FF"/>
    <a:srgbClr val="009900"/>
    <a:srgbClr val="00FF00"/>
    <a:srgbClr val="00CC00"/>
    <a:srgbClr val="CC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1364" autoAdjust="0"/>
  </p:normalViewPr>
  <p:slideViewPr>
    <p:cSldViewPr snapToGrid="0">
      <p:cViewPr varScale="1">
        <p:scale>
          <a:sx n="107" d="100"/>
          <a:sy n="107" d="100"/>
        </p:scale>
        <p:origin x="43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9FDA8-B97C-131A-0C28-46FAE4992B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3D2C6B7-2E08-0BB1-CDDA-9AC6D6A18C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D0265C-D017-4960-F780-9342E4AF9456}"/>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5" name="Footer Placeholder 4">
            <a:extLst>
              <a:ext uri="{FF2B5EF4-FFF2-40B4-BE49-F238E27FC236}">
                <a16:creationId xmlns:a16="http://schemas.microsoft.com/office/drawing/2014/main" id="{BF245F0D-6FDE-9046-B609-BFB1F189AA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C3A89E-A55B-3410-4CC4-2A239A08E683}"/>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23153185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AF21D-6EBE-6C1C-8C6A-B727962BE1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0D7AE8E-C11D-0756-7812-2F3BEEEBB6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E6093-3E4D-C18D-6461-72AA83B91FAB}"/>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5" name="Footer Placeholder 4">
            <a:extLst>
              <a:ext uri="{FF2B5EF4-FFF2-40B4-BE49-F238E27FC236}">
                <a16:creationId xmlns:a16="http://schemas.microsoft.com/office/drawing/2014/main" id="{9FC7B42A-980C-500F-D971-03B18D8419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EE4E7B-0AAB-E7AE-F978-3E1A756191B6}"/>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2125067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2EA6-7E43-CDA9-CD83-79CD9A0581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72E5923-6BBA-9AC2-C7A0-94028650F65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91A651-8A4F-4DFC-C333-EEBF9BFDDE74}"/>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5" name="Footer Placeholder 4">
            <a:extLst>
              <a:ext uri="{FF2B5EF4-FFF2-40B4-BE49-F238E27FC236}">
                <a16:creationId xmlns:a16="http://schemas.microsoft.com/office/drawing/2014/main" id="{AC992B31-FF9F-0D56-5408-2FC8FECFB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3145F-3E54-6CD9-A99F-C05911ACD451}"/>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37062274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50578-2881-A229-4216-EFACAC3A38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283686-371B-97B8-FC48-936A7A080D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BF16760-C296-079F-0620-6CCB83E07BC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9B9E592-BB9C-B40C-9779-4E79ED042A34}"/>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6" name="Footer Placeholder 5">
            <a:extLst>
              <a:ext uri="{FF2B5EF4-FFF2-40B4-BE49-F238E27FC236}">
                <a16:creationId xmlns:a16="http://schemas.microsoft.com/office/drawing/2014/main" id="{4E22B2D5-0FC2-4EBB-40BB-DF5BE806B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A67731-67F3-C5AF-EBA5-8C419E392297}"/>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742863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9758D-CAE1-CAE9-09D9-0A4147A18B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6EEE75-6FF0-A76B-5458-C0B6A2FF43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127973-6253-B591-2A72-A1DDE23D285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FDB24CE-7968-2CCB-DECE-57478272EF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31A9D1-53A8-7E2C-BCC9-1DC9EDC737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B97DB5-A6EE-E9D0-7573-486D26BE9772}"/>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8" name="Footer Placeholder 7">
            <a:extLst>
              <a:ext uri="{FF2B5EF4-FFF2-40B4-BE49-F238E27FC236}">
                <a16:creationId xmlns:a16="http://schemas.microsoft.com/office/drawing/2014/main" id="{CC383610-DC6B-FB00-BB48-5EC400D694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3A7E0E2-44A7-5AB8-5191-7A997640A65F}"/>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2673204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D8080-4B2D-8D07-61CE-6070E078FA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DC62CE-4308-C41E-0E9B-AE7C4087559B}"/>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4" name="Footer Placeholder 3">
            <a:extLst>
              <a:ext uri="{FF2B5EF4-FFF2-40B4-BE49-F238E27FC236}">
                <a16:creationId xmlns:a16="http://schemas.microsoft.com/office/drawing/2014/main" id="{B3A29C87-8C55-4573-DDC4-859A158C116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F1174BA-4EAF-A896-394B-6B821B110BEC}"/>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2768774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9D07CCA-E988-6977-C772-2251D794C10D}"/>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3" name="Footer Placeholder 2">
            <a:extLst>
              <a:ext uri="{FF2B5EF4-FFF2-40B4-BE49-F238E27FC236}">
                <a16:creationId xmlns:a16="http://schemas.microsoft.com/office/drawing/2014/main" id="{2410402F-19C4-3B6F-15F4-C34D78B0568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6866D3-C180-9B08-C9FE-5B29C25C1BF5}"/>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1094751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A195C-62D7-F815-68CE-3AFE680A5F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98CE256-E965-8F5A-42B0-95C9AD8337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579F63-BBE7-F9D9-A272-45A856BA3A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33FC72-9EB4-9EB9-6CE2-6DEED4F18091}"/>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6" name="Footer Placeholder 5">
            <a:extLst>
              <a:ext uri="{FF2B5EF4-FFF2-40B4-BE49-F238E27FC236}">
                <a16:creationId xmlns:a16="http://schemas.microsoft.com/office/drawing/2014/main" id="{48F3A593-B56B-EBAB-6F79-1FA76543EA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CAB4C-02D5-F273-BE06-A4DD380AB748}"/>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1422218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2CC7A-CB44-7F86-5326-A27BCE5433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DD822F6-A86C-39D7-B799-56B22B5BE0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717BED8-9777-F1AF-486D-2C28A3CF3C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A69708-41DE-5495-624E-8018D0EDD047}"/>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6" name="Footer Placeholder 5">
            <a:extLst>
              <a:ext uri="{FF2B5EF4-FFF2-40B4-BE49-F238E27FC236}">
                <a16:creationId xmlns:a16="http://schemas.microsoft.com/office/drawing/2014/main" id="{4C745AD8-2078-1B27-5340-899AAE90CB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0B76C1D-1741-7499-3D86-AF7D5AE93C88}"/>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3631955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D3A39-69A9-D7CA-E865-2F41A6D9FE8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919CCF-BACE-1269-1A65-EAACB4C8A3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BA1549-4F17-0468-0758-FD538F382876}"/>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5" name="Footer Placeholder 4">
            <a:extLst>
              <a:ext uri="{FF2B5EF4-FFF2-40B4-BE49-F238E27FC236}">
                <a16:creationId xmlns:a16="http://schemas.microsoft.com/office/drawing/2014/main" id="{C4B4868D-7540-28F0-AC21-566BD2C631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E83E3A-3168-1E82-54C2-183FC1D14BED}"/>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1115905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1E4B82-D30C-540B-3EEC-BB53AC0E320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A61D736-85F1-48F9-D977-A1516B2FC6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3E11A7-5EA0-E5A3-29D7-702B5A3B25BC}"/>
              </a:ext>
            </a:extLst>
          </p:cNvPr>
          <p:cNvSpPr>
            <a:spLocks noGrp="1"/>
          </p:cNvSpPr>
          <p:nvPr>
            <p:ph type="dt" sz="half" idx="10"/>
          </p:nvPr>
        </p:nvSpPr>
        <p:spPr/>
        <p:txBody>
          <a:bodyPr/>
          <a:lstStyle/>
          <a:p>
            <a:fld id="{3AB2B175-5D5B-4F56-9385-DE67F3157D74}" type="datetimeFigureOut">
              <a:rPr lang="en-US" smtClean="0"/>
              <a:t>10/20/2026</a:t>
            </a:fld>
            <a:endParaRPr lang="en-US"/>
          </a:p>
        </p:txBody>
      </p:sp>
      <p:sp>
        <p:nvSpPr>
          <p:cNvPr id="5" name="Footer Placeholder 4">
            <a:extLst>
              <a:ext uri="{FF2B5EF4-FFF2-40B4-BE49-F238E27FC236}">
                <a16:creationId xmlns:a16="http://schemas.microsoft.com/office/drawing/2014/main" id="{1C99AB14-60E8-333F-7C3F-32D31C1EA9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EC2615-F11B-5574-91D1-D38957067E0D}"/>
              </a:ext>
            </a:extLst>
          </p:cNvPr>
          <p:cNvSpPr>
            <a:spLocks noGrp="1"/>
          </p:cNvSpPr>
          <p:nvPr>
            <p:ph type="sldNum" sz="quarter" idx="12"/>
          </p:nvPr>
        </p:nvSpPr>
        <p:spPr/>
        <p:txBody>
          <a:bodyPr/>
          <a:lstStyle/>
          <a:p>
            <a:fld id="{78D645B6-9F65-4912-9D04-A9E072E4C507}" type="slidenum">
              <a:rPr lang="en-US" smtClean="0"/>
              <a:t>‹#›</a:t>
            </a:fld>
            <a:endParaRPr lang="en-US"/>
          </a:p>
        </p:txBody>
      </p:sp>
    </p:spTree>
    <p:extLst>
      <p:ext uri="{BB962C8B-B14F-4D97-AF65-F5344CB8AC3E}">
        <p14:creationId xmlns:p14="http://schemas.microsoft.com/office/powerpoint/2010/main" val="12383872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88093D-9504-C4F5-49E1-6AE6759C9F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18062C-E2C4-4FFE-9E29-963AA5095A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4C3A98-9D0F-C622-F3FC-BF18A5C33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B2B175-5D5B-4F56-9385-DE67F3157D74}" type="datetimeFigureOut">
              <a:rPr lang="en-US" smtClean="0"/>
              <a:t>10/20/2026</a:t>
            </a:fld>
            <a:endParaRPr lang="en-US"/>
          </a:p>
        </p:txBody>
      </p:sp>
      <p:sp>
        <p:nvSpPr>
          <p:cNvPr id="5" name="Footer Placeholder 4">
            <a:extLst>
              <a:ext uri="{FF2B5EF4-FFF2-40B4-BE49-F238E27FC236}">
                <a16:creationId xmlns:a16="http://schemas.microsoft.com/office/drawing/2014/main" id="{9542B0D3-E0B5-F16E-02F2-1F2DB8A11A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FBF3CEB-8745-B73F-EDD3-879D7EDC74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8D645B6-9F65-4912-9D04-A9E072E4C507}" type="slidenum">
              <a:rPr lang="en-US" smtClean="0"/>
              <a:t>‹#›</a:t>
            </a:fld>
            <a:endParaRPr lang="en-US"/>
          </a:p>
        </p:txBody>
      </p:sp>
    </p:spTree>
    <p:extLst>
      <p:ext uri="{BB962C8B-B14F-4D97-AF65-F5344CB8AC3E}">
        <p14:creationId xmlns:p14="http://schemas.microsoft.com/office/powerpoint/2010/main" val="20906579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30.png"/></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1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 Id="rId5" Type="http://schemas.openxmlformats.org/officeDocument/2006/relationships/image" Target="../media/image56.png"/><Relationship Id="rId4" Type="http://schemas.openxmlformats.org/officeDocument/2006/relationships/image" Target="../media/image55.png"/></Relationships>
</file>

<file path=ppt/slides/_rels/slide14.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15.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16.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0.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2.xml"/><Relationship Id="rId5" Type="http://schemas.openxmlformats.org/officeDocument/2006/relationships/image" Target="../media/image77.png"/><Relationship Id="rId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1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0.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22.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B533C-3A56-4771-962F-0276BE9364D9}"/>
              </a:ext>
            </a:extLst>
          </p:cNvPr>
          <p:cNvSpPr>
            <a:spLocks noGrp="1"/>
          </p:cNvSpPr>
          <p:nvPr>
            <p:ph type="ctrTitle"/>
          </p:nvPr>
        </p:nvSpPr>
        <p:spPr/>
        <p:txBody>
          <a:bodyPr/>
          <a:lstStyle/>
          <a:p>
            <a:r>
              <a:rPr lang="en-US" dirty="0"/>
              <a:t>Progress Update</a:t>
            </a:r>
          </a:p>
        </p:txBody>
      </p:sp>
      <p:sp>
        <p:nvSpPr>
          <p:cNvPr id="3" name="Subtitle 2">
            <a:extLst>
              <a:ext uri="{FF2B5EF4-FFF2-40B4-BE49-F238E27FC236}">
                <a16:creationId xmlns:a16="http://schemas.microsoft.com/office/drawing/2014/main" id="{EFC188A8-2A09-B5FB-0A07-E52D48F85287}"/>
              </a:ext>
            </a:extLst>
          </p:cNvPr>
          <p:cNvSpPr>
            <a:spLocks noGrp="1"/>
          </p:cNvSpPr>
          <p:nvPr>
            <p:ph type="subTitle" idx="1"/>
          </p:nvPr>
        </p:nvSpPr>
        <p:spPr>
          <a:xfrm>
            <a:off x="1524000" y="3972153"/>
            <a:ext cx="9144000" cy="1655762"/>
          </a:xfrm>
        </p:spPr>
        <p:txBody>
          <a:bodyPr/>
          <a:lstStyle/>
          <a:p>
            <a:r>
              <a:rPr lang="en-US" dirty="0"/>
              <a:t>10.20.2026</a:t>
            </a:r>
          </a:p>
        </p:txBody>
      </p:sp>
    </p:spTree>
    <p:extLst>
      <p:ext uri="{BB962C8B-B14F-4D97-AF65-F5344CB8AC3E}">
        <p14:creationId xmlns:p14="http://schemas.microsoft.com/office/powerpoint/2010/main" val="28228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87C07-50E5-78D3-3114-4ED32D473A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9651DF-FDD0-97EF-0960-E96F611815CB}"/>
              </a:ext>
            </a:extLst>
          </p:cNvPr>
          <p:cNvSpPr>
            <a:spLocks noGrp="1"/>
          </p:cNvSpPr>
          <p:nvPr>
            <p:ph type="title"/>
          </p:nvPr>
        </p:nvSpPr>
        <p:spPr>
          <a:xfrm>
            <a:off x="356136" y="251479"/>
            <a:ext cx="10515600" cy="1325563"/>
          </a:xfrm>
        </p:spPr>
        <p:txBody>
          <a:bodyPr/>
          <a:lstStyle/>
          <a:p>
            <a:r>
              <a:rPr lang="en-US" altLang="zh-TW" b="1" dirty="0"/>
              <a:t>Part 1</a:t>
            </a:r>
            <a:r>
              <a:rPr lang="en-US" altLang="zh-TW" dirty="0"/>
              <a:t>: Lippmann-Schwinger to TFA</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28970F-3D30-15B7-E789-AD345EA3B8C1}"/>
                  </a:ext>
                </a:extLst>
              </p:cNvPr>
              <p:cNvSpPr>
                <a:spLocks noGrp="1"/>
              </p:cNvSpPr>
              <p:nvPr>
                <p:ph idx="1"/>
              </p:nvPr>
            </p:nvSpPr>
            <p:spPr>
              <a:xfrm>
                <a:off x="356135" y="1746461"/>
                <a:ext cx="11479727" cy="986552"/>
              </a:xfrm>
            </p:spPr>
            <p:txBody>
              <a:bodyPr>
                <a:normAutofit/>
              </a:bodyPr>
              <a:lstStyle/>
              <a:p>
                <a:pPr marL="0" indent="0" algn="just">
                  <a:buNone/>
                </a:pPr>
                <a:r>
                  <a:rPr lang="en-US" b="1" dirty="0"/>
                  <a:t>Goal:</a:t>
                </a:r>
                <a:r>
                  <a:rPr lang="en-US" dirty="0"/>
                  <a:t> I want to express the following TFA equation using Lippmann-Schwinger operators, i.e., define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𝑬</m:t>
                        </m:r>
                      </m:e>
                      <m:sub>
                        <m:r>
                          <a:rPr lang="en-US" b="0" i="1">
                            <a:latin typeface="Cambria Math" panose="02040503050406030204" pitchFamily="18" charset="0"/>
                            <a:ea typeface="Cambria Math" panose="02040503050406030204" pitchFamily="18" charset="0"/>
                          </a:rPr>
                          <m:t>𝐴</m:t>
                        </m:r>
                      </m:sub>
                    </m:sSub>
                  </m:oMath>
                </a14:m>
                <a:r>
                  <a:rPr lang="en-US" dirty="0"/>
                  <a:t> and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𝑷</m:t>
                        </m:r>
                      </m:e>
                      <m:sub>
                        <m:r>
                          <a:rPr lang="en-US" i="1">
                            <a:latin typeface="Cambria Math" panose="02040503050406030204" pitchFamily="18" charset="0"/>
                            <a:ea typeface="Cambria Math" panose="02040503050406030204" pitchFamily="18" charset="0"/>
                          </a:rPr>
                          <m:t>𝐴𝐵</m:t>
                        </m:r>
                      </m:sub>
                    </m:sSub>
                  </m:oMath>
                </a14:m>
                <a:r>
                  <a:rPr lang="en-US" dirty="0"/>
                  <a:t> in terms of these operators.  </a:t>
                </a:r>
              </a:p>
            </p:txBody>
          </p:sp>
        </mc:Choice>
        <mc:Fallback xmlns="">
          <p:sp>
            <p:nvSpPr>
              <p:cNvPr id="3" name="Content Placeholder 2">
                <a:extLst>
                  <a:ext uri="{FF2B5EF4-FFF2-40B4-BE49-F238E27FC236}">
                    <a16:creationId xmlns:a16="http://schemas.microsoft.com/office/drawing/2014/main" id="{4E28970F-3D30-15B7-E789-AD345EA3B8C1}"/>
                  </a:ext>
                </a:extLst>
              </p:cNvPr>
              <p:cNvSpPr>
                <a:spLocks noGrp="1" noRot="1" noChangeAspect="1" noMove="1" noResize="1" noEditPoints="1" noAdjustHandles="1" noChangeArrowheads="1" noChangeShapeType="1" noTextEdit="1"/>
              </p:cNvSpPr>
              <p:nvPr>
                <p:ph idx="1"/>
              </p:nvPr>
            </p:nvSpPr>
            <p:spPr>
              <a:xfrm>
                <a:off x="356135" y="1746461"/>
                <a:ext cx="11479727" cy="986552"/>
              </a:xfrm>
              <a:blipFill>
                <a:blip r:embed="rId2"/>
                <a:stretch>
                  <a:fillRect l="-1062" t="-10494" r="-1062" b="-43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798B5A7-BAF0-DD07-3A89-FAA2507EF6C0}"/>
                  </a:ext>
                </a:extLst>
              </p:cNvPr>
              <p:cNvSpPr txBox="1"/>
              <p:nvPr/>
            </p:nvSpPr>
            <p:spPr>
              <a:xfrm>
                <a:off x="3048809" y="3082073"/>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𝜺</m:t>
                          </m:r>
                        </m:e>
                        <m:sub>
                          <m:r>
                            <a:rPr lang="en-US" sz="2400" b="0" i="1" smtClean="0">
                              <a:solidFill>
                                <a:schemeClr val="tx1"/>
                              </a:solidFill>
                              <a:latin typeface="Cambria Math" panose="02040503050406030204" pitchFamily="18" charset="0"/>
                              <a:ea typeface="Cambria Math" panose="02040503050406030204" pitchFamily="18" charset="0"/>
                            </a:rPr>
                            <m:t>𝐴</m:t>
                          </m:r>
                        </m:sub>
                      </m:sSub>
                      <m:r>
                        <a:rPr lang="en-US" sz="2400" b="1" i="1">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𝑬</m:t>
                          </m:r>
                        </m:e>
                        <m:sub>
                          <m:r>
                            <a:rPr lang="en-US" sz="2400" b="0" i="1" smtClean="0">
                              <a:solidFill>
                                <a:schemeClr val="tx1"/>
                              </a:solidFill>
                              <a:latin typeface="Cambria Math" panose="02040503050406030204" pitchFamily="18" charset="0"/>
                              <a:ea typeface="Cambria Math" panose="02040503050406030204" pitchFamily="18" charset="0"/>
                            </a:rPr>
                            <m:t>𝐴</m:t>
                          </m:r>
                        </m:sub>
                      </m:sSub>
                      <m:r>
                        <a:rPr lang="en-US" sz="2400" b="1" i="1">
                          <a:solidFill>
                            <a:schemeClr val="tx1"/>
                          </a:solidFill>
                          <a:latin typeface="Cambria Math" panose="02040503050406030204" pitchFamily="18" charset="0"/>
                          <a:ea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1">
                          <a:solidFill>
                            <a:schemeClr val="tx1"/>
                          </a:solidFill>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𝑷</m:t>
                              </m:r>
                            </m:e>
                            <m:sub>
                              <m:r>
                                <a:rPr lang="en-US" sz="2400" b="0" i="1" smtClean="0">
                                  <a:solidFill>
                                    <a:schemeClr val="tx1"/>
                                  </a:solidFill>
                                  <a:latin typeface="Cambria Math" panose="02040503050406030204" pitchFamily="18" charset="0"/>
                                  <a:ea typeface="Cambria Math" panose="02040503050406030204" pitchFamily="18" charset="0"/>
                                </a:rPr>
                                <m:t>𝐴</m:t>
                              </m:r>
                              <m:r>
                                <a:rPr lang="en-US" sz="2400" i="1">
                                  <a:solidFill>
                                    <a:schemeClr val="tx1"/>
                                  </a:solidFill>
                                  <a:latin typeface="Cambria Math" panose="02040503050406030204" pitchFamily="18" charset="0"/>
                                  <a:ea typeface="Cambria Math" panose="02040503050406030204" pitchFamily="18" charset="0"/>
                                </a:rPr>
                                <m:t>𝐵</m:t>
                              </m:r>
                            </m:sub>
                          </m:sSub>
                          <m:r>
                            <a:rPr lang="en-US" sz="2400" b="1" i="1">
                              <a:solidFill>
                                <a:schemeClr val="tx1"/>
                              </a:solidFill>
                              <a:latin typeface="Cambria Math" panose="02040503050406030204" pitchFamily="18" charset="0"/>
                              <a:ea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𝝁</m:t>
                              </m:r>
                            </m:e>
                            <m:sub>
                              <m:r>
                                <a:rPr lang="en-US" sz="2400" i="1">
                                  <a:solidFill>
                                    <a:schemeClr val="tx1"/>
                                  </a:solidFill>
                                  <a:latin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6" name="TextBox 5">
                <a:extLst>
                  <a:ext uri="{FF2B5EF4-FFF2-40B4-BE49-F238E27FC236}">
                    <a16:creationId xmlns:a16="http://schemas.microsoft.com/office/drawing/2014/main" id="{6798B5A7-BAF0-DD07-3A89-FAA2507EF6C0}"/>
                  </a:ext>
                </a:extLst>
              </p:cNvPr>
              <p:cNvSpPr txBox="1">
                <a:spLocks noRot="1" noChangeAspect="1" noMove="1" noResize="1" noEditPoints="1" noAdjustHandles="1" noChangeArrowheads="1" noChangeShapeType="1" noTextEdit="1"/>
              </p:cNvSpPr>
              <p:nvPr/>
            </p:nvSpPr>
            <p:spPr>
              <a:xfrm>
                <a:off x="3048809" y="3082073"/>
                <a:ext cx="6094378" cy="986552"/>
              </a:xfrm>
              <a:prstGeom prst="rect">
                <a:avLst/>
              </a:prstGeom>
              <a:blipFill>
                <a:blip r:embed="rId3"/>
                <a:stretch>
                  <a:fillRect/>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81114112-CF58-DADA-9C6B-6E71211DD6DC}"/>
              </a:ext>
            </a:extLst>
          </p:cNvPr>
          <p:cNvSpPr txBox="1">
            <a:spLocks/>
          </p:cNvSpPr>
          <p:nvPr/>
        </p:nvSpPr>
        <p:spPr>
          <a:xfrm>
            <a:off x="356135" y="4417685"/>
            <a:ext cx="11479727" cy="165691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b="1" dirty="0"/>
              <a:t>Reason: </a:t>
            </a:r>
            <a:r>
              <a:rPr lang="en-US" dirty="0"/>
              <a:t>I want to explore a TFA-adjacent framework which allows for online FFT-acceleration. If I can express the TFA equation above using the Lippmann-Schwinger operators, it will be easier to perform a clear comparison between the two schemes. </a:t>
            </a:r>
          </a:p>
        </p:txBody>
      </p:sp>
    </p:spTree>
    <p:extLst>
      <p:ext uri="{BB962C8B-B14F-4D97-AF65-F5344CB8AC3E}">
        <p14:creationId xmlns:p14="http://schemas.microsoft.com/office/powerpoint/2010/main" val="41855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A3899-09FD-F871-5483-9F50C039B8E4}"/>
              </a:ext>
            </a:extLst>
          </p:cNvPr>
          <p:cNvSpPr>
            <a:spLocks noGrp="1"/>
          </p:cNvSpPr>
          <p:nvPr>
            <p:ph type="title"/>
          </p:nvPr>
        </p:nvSpPr>
        <p:spPr>
          <a:xfrm>
            <a:off x="303177" y="0"/>
            <a:ext cx="10515600" cy="1325563"/>
          </a:xfrm>
        </p:spPr>
        <p:txBody>
          <a:bodyPr/>
          <a:lstStyle/>
          <a:p>
            <a:r>
              <a:rPr lang="en-US" dirty="0"/>
              <a:t>Derivation: LS to TFA (1)</a:t>
            </a:r>
          </a:p>
        </p:txBody>
      </p:sp>
      <p:sp>
        <p:nvSpPr>
          <p:cNvPr id="3" name="Content Placeholder 2">
            <a:extLst>
              <a:ext uri="{FF2B5EF4-FFF2-40B4-BE49-F238E27FC236}">
                <a16:creationId xmlns:a16="http://schemas.microsoft.com/office/drawing/2014/main" id="{263FDAED-F092-14F7-88AF-0706396DA858}"/>
              </a:ext>
            </a:extLst>
          </p:cNvPr>
          <p:cNvSpPr>
            <a:spLocks noGrp="1"/>
          </p:cNvSpPr>
          <p:nvPr>
            <p:ph idx="1"/>
          </p:nvPr>
        </p:nvSpPr>
        <p:spPr>
          <a:xfrm>
            <a:off x="303177" y="1283082"/>
            <a:ext cx="10515600" cy="489558"/>
          </a:xfrm>
        </p:spPr>
        <p:txBody>
          <a:bodyPr/>
          <a:lstStyle/>
          <a:p>
            <a:pPr marL="0" indent="0">
              <a:buNone/>
            </a:pPr>
            <a:r>
              <a:rPr lang="en-US" dirty="0"/>
              <a:t>Starting with the constitutive law, compatibility, and equilibrium:</a:t>
            </a:r>
          </a:p>
          <a:p>
            <a:pPr marL="0" indent="0">
              <a:buNone/>
            </a:pPr>
            <a:endParaRPr lang="en-US" dirty="0"/>
          </a:p>
        </p:txBody>
      </p:sp>
      <p:grpSp>
        <p:nvGrpSpPr>
          <p:cNvPr id="10" name="Group 9">
            <a:extLst>
              <a:ext uri="{FF2B5EF4-FFF2-40B4-BE49-F238E27FC236}">
                <a16:creationId xmlns:a16="http://schemas.microsoft.com/office/drawing/2014/main" id="{8A80BA12-4D7D-1BDA-880D-8B416936DD76}"/>
              </a:ext>
            </a:extLst>
          </p:cNvPr>
          <p:cNvGrpSpPr/>
          <p:nvPr/>
        </p:nvGrpSpPr>
        <p:grpSpPr>
          <a:xfrm>
            <a:off x="2747252" y="1882304"/>
            <a:ext cx="6094378" cy="1668351"/>
            <a:chOff x="3047189" y="2382025"/>
            <a:chExt cx="6094378" cy="1668351"/>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BBAC34C-B2B3-88BA-417E-22EC181E1D51}"/>
                    </a:ext>
                  </a:extLst>
                </p:cNvPr>
                <p:cNvSpPr txBox="1"/>
                <p:nvPr/>
              </p:nvSpPr>
              <p:spPr>
                <a:xfrm>
                  <a:off x="3047189" y="2382025"/>
                  <a:ext cx="6094378" cy="461665"/>
                </a:xfrm>
                <a:prstGeom prst="rect">
                  <a:avLst/>
                </a:prstGeom>
                <a:noFill/>
              </p:spPr>
              <p:txBody>
                <a:bodyPr wrap="square">
                  <a:spAutoFit/>
                </a:bodyPr>
                <a:lstStyle/>
                <a:p>
                  <a:pPr marL="0" indent="0">
                    <a:buNone/>
                  </a:pPr>
                  <a14:m>
                    <m:oMathPara xmlns:m="http://schemas.openxmlformats.org/officeDocument/2006/math">
                      <m:oMath>
                        <m:r>
                          <a:rPr lang="en-US" sz="2400" b="1" i="1" smtClean="0">
                            <a:latin typeface="Cambria Math" panose="02040503050406030204" pitchFamily="18" charset="0"/>
                          </a:rPr>
                          <m:t>𝝈</m:t>
                        </m:r>
                        <m:r>
                          <a:rPr lang="en-US" sz="2400" b="1" i="1" smtClean="0">
                            <a:latin typeface="Cambria Math" panose="02040503050406030204" pitchFamily="18" charset="0"/>
                          </a:rPr>
                          <m:t>=</m:t>
                        </m:r>
                        <m:r>
                          <a:rPr lang="en-US" sz="2400" b="1" i="1" smtClean="0">
                            <a:latin typeface="Cambria Math" panose="02040503050406030204" pitchFamily="18" charset="0"/>
                          </a:rPr>
                          <m:t>𝑪</m:t>
                        </m:r>
                        <m:r>
                          <a:rPr lang="en-US" sz="2400" b="1" i="1" smtClean="0">
                            <a:latin typeface="Cambria Math" panose="02040503050406030204" pitchFamily="18" charset="0"/>
                          </a:rPr>
                          <m:t>:</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𝜺</m:t>
                            </m:r>
                            <m:r>
                              <a:rPr lang="en-US" sz="2400" b="1" i="1" smtClean="0">
                                <a:latin typeface="Cambria Math" panose="02040503050406030204" pitchFamily="18" charset="0"/>
                              </a:rPr>
                              <m:t>−</m:t>
                            </m:r>
                            <m:r>
                              <a:rPr lang="en-US" sz="2400" b="1" i="1" smtClean="0">
                                <a:latin typeface="Cambria Math" panose="02040503050406030204" pitchFamily="18" charset="0"/>
                              </a:rPr>
                              <m:t>𝝁</m:t>
                            </m:r>
                          </m:e>
                        </m:d>
                      </m:oMath>
                    </m:oMathPara>
                  </a14:m>
                  <a:endParaRPr lang="en-US" sz="2400" b="1" dirty="0"/>
                </a:p>
              </p:txBody>
            </p:sp>
          </mc:Choice>
          <mc:Fallback xmlns="">
            <p:sp>
              <p:nvSpPr>
                <p:cNvPr id="5" name="TextBox 4">
                  <a:extLst>
                    <a:ext uri="{FF2B5EF4-FFF2-40B4-BE49-F238E27FC236}">
                      <a16:creationId xmlns:a16="http://schemas.microsoft.com/office/drawing/2014/main" id="{FBBAC34C-B2B3-88BA-417E-22EC181E1D51}"/>
                    </a:ext>
                  </a:extLst>
                </p:cNvPr>
                <p:cNvSpPr txBox="1">
                  <a:spLocks noRot="1" noChangeAspect="1" noMove="1" noResize="1" noEditPoints="1" noAdjustHandles="1" noChangeArrowheads="1" noChangeShapeType="1" noTextEdit="1"/>
                </p:cNvSpPr>
                <p:nvPr/>
              </p:nvSpPr>
              <p:spPr>
                <a:xfrm>
                  <a:off x="3047189" y="2382025"/>
                  <a:ext cx="6094378" cy="461665"/>
                </a:xfrm>
                <a:prstGeom prst="rect">
                  <a:avLst/>
                </a:prstGeom>
                <a:blipFill>
                  <a:blip r:embed="rId2"/>
                  <a:stretch>
                    <a:fillRect b="-65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00EC3FC-07F9-5D34-97BC-6872C2E10FF2}"/>
                    </a:ext>
                  </a:extLst>
                </p:cNvPr>
                <p:cNvSpPr txBox="1"/>
                <p:nvPr/>
              </p:nvSpPr>
              <p:spPr>
                <a:xfrm>
                  <a:off x="3047189" y="2985368"/>
                  <a:ext cx="6094378" cy="461665"/>
                </a:xfrm>
                <a:prstGeom prst="rect">
                  <a:avLst/>
                </a:prstGeom>
                <a:noFill/>
              </p:spPr>
              <p:txBody>
                <a:bodyPr wrap="square">
                  <a:spAutoFit/>
                </a:bodyPr>
                <a:lstStyle/>
                <a:p>
                  <a:pPr marL="0" indent="0">
                    <a:buNone/>
                  </a:pPr>
                  <a14:m>
                    <m:oMathPara xmlns:m="http://schemas.openxmlformats.org/officeDocument/2006/math">
                      <m:oMath>
                        <m:r>
                          <a:rPr lang="en-US" sz="2400" b="1" i="1" smtClean="0">
                            <a:latin typeface="Cambria Math" panose="02040503050406030204" pitchFamily="18" charset="0"/>
                          </a:rPr>
                          <m:t>𝜺</m:t>
                        </m:r>
                        <m:r>
                          <a:rPr lang="en-US" sz="2400" b="1" i="1" smtClean="0">
                            <a:latin typeface="Cambria Math" panose="02040503050406030204" pitchFamily="18" charset="0"/>
                          </a:rPr>
                          <m:t>=</m:t>
                        </m:r>
                        <m:acc>
                          <m:accPr>
                            <m:chr m:val="̅"/>
                            <m:ctrlPr>
                              <a:rPr lang="en-US" sz="2400" b="1" i="1" smtClean="0">
                                <a:latin typeface="Cambria Math" panose="02040503050406030204" pitchFamily="18" charset="0"/>
                              </a:rPr>
                            </m:ctrlPr>
                          </m:accPr>
                          <m:e>
                            <m:r>
                              <a:rPr lang="en-US" sz="2400" b="1" i="1" smtClean="0">
                                <a:latin typeface="Cambria Math" panose="02040503050406030204" pitchFamily="18" charset="0"/>
                              </a:rPr>
                              <m:t>𝜺</m:t>
                            </m:r>
                          </m:e>
                        </m:acc>
                        <m:r>
                          <a:rPr lang="en-US" sz="2400" b="1" i="1" smtClean="0">
                            <a:latin typeface="Cambria Math" panose="02040503050406030204" pitchFamily="18" charset="0"/>
                          </a:rPr>
                          <m:t>+</m:t>
                        </m:r>
                        <m:sSup>
                          <m:sSupPr>
                            <m:ctrlPr>
                              <a:rPr lang="en-US" sz="2400" b="0" i="0" smtClean="0">
                                <a:latin typeface="Cambria Math" panose="02040503050406030204" pitchFamily="18" charset="0"/>
                              </a:rPr>
                            </m:ctrlPr>
                          </m:sSupPr>
                          <m:e>
                            <m:r>
                              <m:rPr>
                                <m:sty m:val="p"/>
                              </m:rPr>
                              <a:rPr lang="en-US" sz="2400" b="0" i="0" smtClean="0">
                                <a:latin typeface="Cambria Math" panose="02040503050406030204" pitchFamily="18" charset="0"/>
                              </a:rPr>
                              <m:t>∇</m:t>
                            </m:r>
                          </m:e>
                          <m:sup>
                            <m:r>
                              <a:rPr lang="en-US" sz="2400" b="0" i="1" smtClean="0">
                                <a:latin typeface="Cambria Math" panose="02040503050406030204" pitchFamily="18" charset="0"/>
                              </a:rPr>
                              <m:t>𝑠</m:t>
                            </m:r>
                          </m:sup>
                        </m:sSup>
                        <m:r>
                          <a:rPr lang="en-US" sz="2400" b="1" i="1" smtClean="0">
                            <a:latin typeface="Cambria Math" panose="02040503050406030204" pitchFamily="18" charset="0"/>
                          </a:rPr>
                          <m:t>𝒖</m:t>
                        </m:r>
                      </m:oMath>
                    </m:oMathPara>
                  </a14:m>
                  <a:endParaRPr lang="en-US" sz="2400" b="1" dirty="0"/>
                </a:p>
              </p:txBody>
            </p:sp>
          </mc:Choice>
          <mc:Fallback xmlns="">
            <p:sp>
              <p:nvSpPr>
                <p:cNvPr id="7" name="TextBox 6">
                  <a:extLst>
                    <a:ext uri="{FF2B5EF4-FFF2-40B4-BE49-F238E27FC236}">
                      <a16:creationId xmlns:a16="http://schemas.microsoft.com/office/drawing/2014/main" id="{800EC3FC-07F9-5D34-97BC-6872C2E10FF2}"/>
                    </a:ext>
                  </a:extLst>
                </p:cNvPr>
                <p:cNvSpPr txBox="1">
                  <a:spLocks noRot="1" noChangeAspect="1" noMove="1" noResize="1" noEditPoints="1" noAdjustHandles="1" noChangeArrowheads="1" noChangeShapeType="1" noTextEdit="1"/>
                </p:cNvSpPr>
                <p:nvPr/>
              </p:nvSpPr>
              <p:spPr>
                <a:xfrm>
                  <a:off x="3047189" y="2985368"/>
                  <a:ext cx="6094378"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F94A1DB-C0B2-22AD-CED8-4D4B8707879B}"/>
                    </a:ext>
                  </a:extLst>
                </p:cNvPr>
                <p:cNvSpPr txBox="1"/>
                <p:nvPr/>
              </p:nvSpPr>
              <p:spPr>
                <a:xfrm>
                  <a:off x="3047189" y="3588711"/>
                  <a:ext cx="6094378" cy="461665"/>
                </a:xfrm>
                <a:prstGeom prst="rect">
                  <a:avLst/>
                </a:prstGeom>
                <a:noFill/>
              </p:spPr>
              <p:txBody>
                <a:bodyPr wrap="square">
                  <a:spAutoFit/>
                </a:bodyPr>
                <a:lstStyle/>
                <a:p>
                  <a:pPr marL="0" indent="0">
                    <a:buNone/>
                  </a:pPr>
                  <a14:m>
                    <m:oMathPara xmlns:m="http://schemas.openxmlformats.org/officeDocument/2006/math">
                      <m:oMath>
                        <m:r>
                          <a:rPr lang="en-US" sz="2400" b="1" i="0" smtClean="0">
                            <a:latin typeface="Cambria Math" panose="02040503050406030204" pitchFamily="18" charset="0"/>
                          </a:rPr>
                          <m:t>𝛁</m:t>
                        </m:r>
                        <m:r>
                          <a:rPr lang="en-US" sz="2400" b="1" i="1" smtClean="0">
                            <a:latin typeface="Cambria Math" panose="02040503050406030204" pitchFamily="18" charset="0"/>
                          </a:rPr>
                          <m:t> ⋅</m:t>
                        </m:r>
                        <m:r>
                          <a:rPr lang="en-US" sz="2400" b="1" i="1" smtClean="0">
                            <a:latin typeface="Cambria Math" panose="02040503050406030204" pitchFamily="18" charset="0"/>
                          </a:rPr>
                          <m:t>𝝈</m:t>
                        </m:r>
                        <m:r>
                          <a:rPr lang="en-US" sz="2400" b="1" i="1" smtClean="0">
                            <a:latin typeface="Cambria Math" panose="02040503050406030204" pitchFamily="18" charset="0"/>
                          </a:rPr>
                          <m:t>=0</m:t>
                        </m:r>
                      </m:oMath>
                    </m:oMathPara>
                  </a14:m>
                  <a:endParaRPr lang="en-US" sz="2400" dirty="0"/>
                </a:p>
              </p:txBody>
            </p:sp>
          </mc:Choice>
          <mc:Fallback xmlns="">
            <p:sp>
              <p:nvSpPr>
                <p:cNvPr id="9" name="TextBox 8">
                  <a:extLst>
                    <a:ext uri="{FF2B5EF4-FFF2-40B4-BE49-F238E27FC236}">
                      <a16:creationId xmlns:a16="http://schemas.microsoft.com/office/drawing/2014/main" id="{DF94A1DB-C0B2-22AD-CED8-4D4B8707879B}"/>
                    </a:ext>
                  </a:extLst>
                </p:cNvPr>
                <p:cNvSpPr txBox="1">
                  <a:spLocks noRot="1" noChangeAspect="1" noMove="1" noResize="1" noEditPoints="1" noAdjustHandles="1" noChangeArrowheads="1" noChangeShapeType="1" noTextEdit="1"/>
                </p:cNvSpPr>
                <p:nvPr/>
              </p:nvSpPr>
              <p:spPr>
                <a:xfrm>
                  <a:off x="3047189" y="3588711"/>
                  <a:ext cx="6094378" cy="461665"/>
                </a:xfrm>
                <a:prstGeom prst="rect">
                  <a:avLst/>
                </a:prstGeom>
                <a:blipFill>
                  <a:blip r:embed="rId4"/>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B26D9966-1965-9FE3-0CB6-99F3352850ED}"/>
                  </a:ext>
                </a:extLst>
              </p:cNvPr>
              <p:cNvSpPr txBox="1">
                <a:spLocks/>
              </p:cNvSpPr>
              <p:nvPr/>
            </p:nvSpPr>
            <p:spPr>
              <a:xfrm>
                <a:off x="303177" y="3721874"/>
                <a:ext cx="11340830" cy="8960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 a polarization stress (where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i="1">
                            <a:latin typeface="Cambria Math" panose="02040503050406030204" pitchFamily="18" charset="0"/>
                          </a:rPr>
                          <m:t>0</m:t>
                        </m:r>
                      </m:sub>
                    </m:sSub>
                  </m:oMath>
                </a14:m>
                <a:r>
                  <a:rPr lang="en-US" dirty="0"/>
                  <a:t> is the stiffness of a homogeneous reference material):</a:t>
                </a:r>
                <a:endParaRPr lang="en-US" b="1" dirty="0"/>
              </a:p>
            </p:txBody>
          </p:sp>
        </mc:Choice>
        <mc:Fallback xmlns="">
          <p:sp>
            <p:nvSpPr>
              <p:cNvPr id="11" name="Content Placeholder 2">
                <a:extLst>
                  <a:ext uri="{FF2B5EF4-FFF2-40B4-BE49-F238E27FC236}">
                    <a16:creationId xmlns:a16="http://schemas.microsoft.com/office/drawing/2014/main" id="{B26D9966-1965-9FE3-0CB6-99F3352850ED}"/>
                  </a:ext>
                </a:extLst>
              </p:cNvPr>
              <p:cNvSpPr txBox="1">
                <a:spLocks noRot="1" noChangeAspect="1" noMove="1" noResize="1" noEditPoints="1" noAdjustHandles="1" noChangeArrowheads="1" noChangeShapeType="1" noTextEdit="1"/>
              </p:cNvSpPr>
              <p:nvPr/>
            </p:nvSpPr>
            <p:spPr>
              <a:xfrm>
                <a:off x="303177" y="3721874"/>
                <a:ext cx="11340830" cy="896008"/>
              </a:xfrm>
              <a:prstGeom prst="rect">
                <a:avLst/>
              </a:prstGeom>
              <a:blipFill>
                <a:blip r:embed="rId5"/>
                <a:stretch>
                  <a:fillRect l="-1129" t="-12245" b="-1496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E49AB96-3755-F8C2-AD14-C2689E91C15E}"/>
                  </a:ext>
                </a:extLst>
              </p:cNvPr>
              <p:cNvSpPr txBox="1"/>
              <p:nvPr/>
            </p:nvSpPr>
            <p:spPr>
              <a:xfrm>
                <a:off x="2747252" y="4727546"/>
                <a:ext cx="6094378" cy="461665"/>
              </a:xfrm>
              <a:prstGeom prst="rect">
                <a:avLst/>
              </a:prstGeom>
              <a:noFill/>
            </p:spPr>
            <p:txBody>
              <a:bodyPr wrap="square">
                <a:spAutoFit/>
              </a:bodyPr>
              <a:lstStyle/>
              <a:p>
                <a:pPr/>
                <a14:m>
                  <m:oMathPara xmlns:m="http://schemas.openxmlformats.org/officeDocument/2006/math">
                    <m:oMath>
                      <m:r>
                        <a:rPr lang="en-US" sz="2400" b="1" i="1" smtClean="0">
                          <a:latin typeface="Cambria Math" panose="02040503050406030204" pitchFamily="18" charset="0"/>
                        </a:rPr>
                        <m:t>𝝉</m:t>
                      </m:r>
                      <m:r>
                        <a:rPr lang="en-US" sz="2400" b="1" i="1" smtClean="0">
                          <a:latin typeface="Cambria Math" panose="02040503050406030204" pitchFamily="18" charset="0"/>
                        </a:rPr>
                        <m:t>=</m:t>
                      </m:r>
                      <m:r>
                        <a:rPr lang="en-US" sz="2400" b="1" i="1" smtClean="0">
                          <a:latin typeface="Cambria Math" panose="02040503050406030204" pitchFamily="18" charset="0"/>
                        </a:rPr>
                        <m:t>𝝈</m:t>
                      </m:r>
                      <m:r>
                        <a:rPr lang="en-US" sz="2400" b="1" i="1" smtClean="0">
                          <a:latin typeface="Cambria Math" panose="02040503050406030204" pitchFamily="18" charset="0"/>
                        </a:rPr>
                        <m:t>−</m:t>
                      </m:r>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𝑪</m:t>
                          </m:r>
                        </m:e>
                        <m:sub>
                          <m:r>
                            <a:rPr lang="en-US" sz="2400" b="0" i="1" smtClean="0">
                              <a:latin typeface="Cambria Math" panose="02040503050406030204" pitchFamily="18" charset="0"/>
                            </a:rPr>
                            <m:t>0</m:t>
                          </m:r>
                        </m:sub>
                      </m:sSub>
                      <m:r>
                        <a:rPr lang="en-US" sz="2400" b="1" i="1" smtClean="0">
                          <a:latin typeface="Cambria Math" panose="02040503050406030204" pitchFamily="18" charset="0"/>
                        </a:rPr>
                        <m:t>:</m:t>
                      </m:r>
                      <m:r>
                        <a:rPr lang="en-US" sz="2400" b="1" i="1" smtClean="0">
                          <a:latin typeface="Cambria Math" panose="02040503050406030204" pitchFamily="18" charset="0"/>
                        </a:rPr>
                        <m:t>𝜺</m:t>
                      </m:r>
                    </m:oMath>
                  </m:oMathPara>
                </a14:m>
                <a:endParaRPr lang="en-US" sz="2400" dirty="0"/>
              </a:p>
            </p:txBody>
          </p:sp>
        </mc:Choice>
        <mc:Fallback xmlns="">
          <p:sp>
            <p:nvSpPr>
              <p:cNvPr id="14" name="TextBox 13">
                <a:extLst>
                  <a:ext uri="{FF2B5EF4-FFF2-40B4-BE49-F238E27FC236}">
                    <a16:creationId xmlns:a16="http://schemas.microsoft.com/office/drawing/2014/main" id="{DE49AB96-3755-F8C2-AD14-C2689E91C15E}"/>
                  </a:ext>
                </a:extLst>
              </p:cNvPr>
              <p:cNvSpPr txBox="1">
                <a:spLocks noRot="1" noChangeAspect="1" noMove="1" noResize="1" noEditPoints="1" noAdjustHandles="1" noChangeArrowheads="1" noChangeShapeType="1" noTextEdit="1"/>
              </p:cNvSpPr>
              <p:nvPr/>
            </p:nvSpPr>
            <p:spPr>
              <a:xfrm>
                <a:off x="2747252" y="4727546"/>
                <a:ext cx="6094378" cy="461665"/>
              </a:xfrm>
              <a:prstGeom prst="rect">
                <a:avLst/>
              </a:prstGeom>
              <a:blipFill>
                <a:blip r:embed="rId6"/>
                <a:stretch>
                  <a:fillRect/>
                </a:stretch>
              </a:blipFill>
            </p:spPr>
            <p:txBody>
              <a:bodyPr/>
              <a:lstStyle/>
              <a:p>
                <a:r>
                  <a:rPr lang="en-US">
                    <a:noFill/>
                  </a:rPr>
                  <a:t> </a:t>
                </a:r>
              </a:p>
            </p:txBody>
          </p:sp>
        </mc:Fallback>
      </mc:AlternateContent>
      <p:sp>
        <p:nvSpPr>
          <p:cNvPr id="16" name="Content Placeholder 2">
            <a:extLst>
              <a:ext uri="{FF2B5EF4-FFF2-40B4-BE49-F238E27FC236}">
                <a16:creationId xmlns:a16="http://schemas.microsoft.com/office/drawing/2014/main" id="{D7C836E3-663F-532F-405D-C294A87964A6}"/>
              </a:ext>
            </a:extLst>
          </p:cNvPr>
          <p:cNvSpPr txBox="1">
            <a:spLocks/>
          </p:cNvSpPr>
          <p:nvPr/>
        </p:nvSpPr>
        <p:spPr>
          <a:xfrm>
            <a:off x="303177" y="5360430"/>
            <a:ext cx="10515600"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Rewrite the equilibrium equation with the polarization stress:</a:t>
            </a:r>
            <a:endParaRPr lang="en-US" b="1" dirty="0"/>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855E694B-378E-1EFA-B885-8F5762EB400B}"/>
                  </a:ext>
                </a:extLst>
              </p:cNvPr>
              <p:cNvSpPr txBox="1"/>
              <p:nvPr/>
            </p:nvSpPr>
            <p:spPr>
              <a:xfrm>
                <a:off x="2747252" y="5959651"/>
                <a:ext cx="6094378" cy="461665"/>
              </a:xfrm>
              <a:prstGeom prst="rect">
                <a:avLst/>
              </a:prstGeom>
              <a:noFill/>
            </p:spPr>
            <p:txBody>
              <a:bodyPr wrap="square">
                <a:spAutoFit/>
              </a:bodyPr>
              <a:lstStyle/>
              <a:p>
                <a:pPr/>
                <a14:m>
                  <m:oMathPara xmlns:m="http://schemas.openxmlformats.org/officeDocument/2006/math">
                    <m:oMath>
                      <m:r>
                        <a:rPr lang="en-US" sz="2400" b="1" i="0" smtClean="0">
                          <a:latin typeface="Cambria Math" panose="02040503050406030204" pitchFamily="18" charset="0"/>
                        </a:rPr>
                        <m:t>𝛁</m:t>
                      </m:r>
                      <m:r>
                        <a:rPr lang="en-US" sz="2400" b="1" i="1" smtClean="0">
                          <a:latin typeface="Cambria Math" panose="02040503050406030204" pitchFamily="18" charset="0"/>
                        </a:rPr>
                        <m:t> ⋅</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𝝉</m:t>
                          </m:r>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r>
                            <a:rPr lang="en-US" sz="2400" b="1" i="1">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𝜺</m:t>
                          </m:r>
                        </m:e>
                      </m:d>
                      <m:r>
                        <a:rPr lang="en-US" sz="2400" b="1" i="1" smtClean="0">
                          <a:latin typeface="Cambria Math" panose="02040503050406030204" pitchFamily="18" charset="0"/>
                        </a:rPr>
                        <m:t>=0</m:t>
                      </m:r>
                    </m:oMath>
                  </m:oMathPara>
                </a14:m>
                <a:endParaRPr lang="en-US" sz="2400" dirty="0"/>
              </a:p>
            </p:txBody>
          </p:sp>
        </mc:Choice>
        <mc:Fallback xmlns="">
          <p:sp>
            <p:nvSpPr>
              <p:cNvPr id="18" name="TextBox 17">
                <a:extLst>
                  <a:ext uri="{FF2B5EF4-FFF2-40B4-BE49-F238E27FC236}">
                    <a16:creationId xmlns:a16="http://schemas.microsoft.com/office/drawing/2014/main" id="{855E694B-378E-1EFA-B885-8F5762EB400B}"/>
                  </a:ext>
                </a:extLst>
              </p:cNvPr>
              <p:cNvSpPr txBox="1">
                <a:spLocks noRot="1" noChangeAspect="1" noMove="1" noResize="1" noEditPoints="1" noAdjustHandles="1" noChangeArrowheads="1" noChangeShapeType="1" noTextEdit="1"/>
              </p:cNvSpPr>
              <p:nvPr/>
            </p:nvSpPr>
            <p:spPr>
              <a:xfrm>
                <a:off x="2747252" y="5959651"/>
                <a:ext cx="6094378" cy="46166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75035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B0BEE-FF0D-6A00-517D-7475DD1732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1FDE23-DF46-1E1D-623C-B27CD300F367}"/>
              </a:ext>
            </a:extLst>
          </p:cNvPr>
          <p:cNvSpPr>
            <a:spLocks noGrp="1"/>
          </p:cNvSpPr>
          <p:nvPr>
            <p:ph idx="1"/>
          </p:nvPr>
        </p:nvSpPr>
        <p:spPr>
          <a:xfrm>
            <a:off x="303177" y="1325563"/>
            <a:ext cx="11292192" cy="489558"/>
          </a:xfrm>
        </p:spPr>
        <p:txBody>
          <a:bodyPr>
            <a:normAutofit/>
          </a:bodyPr>
          <a:lstStyle/>
          <a:p>
            <a:pPr marL="0" indent="0">
              <a:buNone/>
            </a:pPr>
            <a:r>
              <a:rPr lang="en-US" dirty="0"/>
              <a:t>Rearrange the equation to put the polarization stress on the RHS:</a:t>
            </a:r>
            <a:endParaRPr lang="en-US" b="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5813187-EB8E-DD72-9275-FFF9795CBCB1}"/>
                  </a:ext>
                </a:extLst>
              </p:cNvPr>
              <p:cNvSpPr txBox="1"/>
              <p:nvPr/>
            </p:nvSpPr>
            <p:spPr>
              <a:xfrm>
                <a:off x="3048811" y="2033247"/>
                <a:ext cx="6094378" cy="461665"/>
              </a:xfrm>
              <a:prstGeom prst="rect">
                <a:avLst/>
              </a:prstGeom>
              <a:noFill/>
            </p:spPr>
            <p:txBody>
              <a:bodyPr wrap="square">
                <a:spAutoFit/>
              </a:bodyPr>
              <a:lstStyle/>
              <a:p>
                <a:pPr/>
                <a14:m>
                  <m:oMathPara xmlns:m="http://schemas.openxmlformats.org/officeDocument/2006/math">
                    <m:oMath>
                      <m:r>
                        <a:rPr lang="en-US" sz="2400" b="1" i="0" smtClean="0">
                          <a:latin typeface="Cambria Math" panose="02040503050406030204" pitchFamily="18" charset="0"/>
                        </a:rPr>
                        <m:t>𝛁</m:t>
                      </m:r>
                      <m:r>
                        <a:rPr lang="en-US" sz="2400" b="1" i="1" smtClean="0">
                          <a:latin typeface="Cambria Math" panose="02040503050406030204" pitchFamily="18" charset="0"/>
                        </a:rPr>
                        <m:t> ⋅</m:t>
                      </m:r>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𝜺</m:t>
                          </m:r>
                        </m:e>
                      </m:d>
                      <m:r>
                        <a:rPr lang="en-US" sz="2400" b="1" i="1" smtClean="0">
                          <a:latin typeface="Cambria Math" panose="02040503050406030204" pitchFamily="18" charset="0"/>
                        </a:rPr>
                        <m:t>=</m:t>
                      </m:r>
                      <m:r>
                        <a:rPr lang="en-US" sz="2400" b="1" i="0" smtClean="0">
                          <a:solidFill>
                            <a:srgbClr val="FF0000"/>
                          </a:solidFill>
                          <a:latin typeface="Cambria Math" panose="02040503050406030204" pitchFamily="18" charset="0"/>
                        </a:rPr>
                        <m:t>−</m:t>
                      </m:r>
                      <m:r>
                        <a:rPr lang="en-US" sz="2400" b="1" smtClean="0">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 ⋅</m:t>
                      </m:r>
                      <m:r>
                        <a:rPr lang="en-US" sz="2400" b="1" i="1" smtClean="0">
                          <a:solidFill>
                            <a:srgbClr val="FF0000"/>
                          </a:solidFill>
                          <a:latin typeface="Cambria Math" panose="02040503050406030204" pitchFamily="18" charset="0"/>
                        </a:rPr>
                        <m:t>𝝉</m:t>
                      </m:r>
                    </m:oMath>
                  </m:oMathPara>
                </a14:m>
                <a:endParaRPr lang="en-US" sz="2400" dirty="0"/>
              </a:p>
            </p:txBody>
          </p:sp>
        </mc:Choice>
        <mc:Fallback xmlns="">
          <p:sp>
            <p:nvSpPr>
              <p:cNvPr id="6" name="TextBox 5">
                <a:extLst>
                  <a:ext uri="{FF2B5EF4-FFF2-40B4-BE49-F238E27FC236}">
                    <a16:creationId xmlns:a16="http://schemas.microsoft.com/office/drawing/2014/main" id="{D5813187-EB8E-DD72-9275-FFF9795CBCB1}"/>
                  </a:ext>
                </a:extLst>
              </p:cNvPr>
              <p:cNvSpPr txBox="1">
                <a:spLocks noRot="1" noChangeAspect="1" noMove="1" noResize="1" noEditPoints="1" noAdjustHandles="1" noChangeArrowheads="1" noChangeShapeType="1" noTextEdit="1"/>
              </p:cNvSpPr>
              <p:nvPr/>
            </p:nvSpPr>
            <p:spPr>
              <a:xfrm>
                <a:off x="3048811" y="2033247"/>
                <a:ext cx="6094378"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8707831-66AE-6091-ADE6-A7BE74F73F7C}"/>
                  </a:ext>
                </a:extLst>
              </p:cNvPr>
              <p:cNvSpPr txBox="1">
                <a:spLocks/>
              </p:cNvSpPr>
              <p:nvPr/>
            </p:nvSpPr>
            <p:spPr>
              <a:xfrm>
                <a:off x="303177" y="2774593"/>
                <a:ext cx="1191476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 the RHS as a force, i.e., </a:t>
                </a:r>
                <a14:m>
                  <m:oMath xmlns:m="http://schemas.openxmlformats.org/officeDocument/2006/math">
                    <m:r>
                      <a:rPr lang="en-US" b="1" i="1" smtClean="0">
                        <a:latin typeface="Cambria Math" panose="02040503050406030204" pitchFamily="18" charset="0"/>
                      </a:rPr>
                      <m:t>𝒇</m:t>
                    </m:r>
                    <m:r>
                      <a:rPr lang="en-US" b="1" i="1" smtClean="0">
                        <a:latin typeface="Cambria Math" panose="02040503050406030204" pitchFamily="18" charset="0"/>
                      </a:rPr>
                      <m:t>=−</m:t>
                    </m:r>
                    <m:r>
                      <a:rPr lang="en-US" b="1">
                        <a:latin typeface="Cambria Math" panose="02040503050406030204" pitchFamily="18" charset="0"/>
                      </a:rPr>
                      <m:t>𝛁</m:t>
                    </m:r>
                    <m:r>
                      <a:rPr lang="en-US" b="1" i="1">
                        <a:latin typeface="Cambria Math" panose="02040503050406030204" pitchFamily="18" charset="0"/>
                      </a:rPr>
                      <m:t> ⋅</m:t>
                    </m:r>
                    <m:r>
                      <a:rPr lang="en-US" b="1" i="1">
                        <a:latin typeface="Cambria Math" panose="02040503050406030204" pitchFamily="18" charset="0"/>
                      </a:rPr>
                      <m:t>𝝉</m:t>
                    </m:r>
                  </m:oMath>
                </a14:m>
                <a:r>
                  <a:rPr lang="en-US" dirty="0"/>
                  <a:t>:</a:t>
                </a:r>
              </a:p>
            </p:txBody>
          </p:sp>
        </mc:Choice>
        <mc:Fallback xmlns="">
          <p:sp>
            <p:nvSpPr>
              <p:cNvPr id="8" name="Content Placeholder 2">
                <a:extLst>
                  <a:ext uri="{FF2B5EF4-FFF2-40B4-BE49-F238E27FC236}">
                    <a16:creationId xmlns:a16="http://schemas.microsoft.com/office/drawing/2014/main" id="{88707831-66AE-6091-ADE6-A7BE74F73F7C}"/>
                  </a:ext>
                </a:extLst>
              </p:cNvPr>
              <p:cNvSpPr txBox="1">
                <a:spLocks noRot="1" noChangeAspect="1" noMove="1" noResize="1" noEditPoints="1" noAdjustHandles="1" noChangeArrowheads="1" noChangeShapeType="1" noTextEdit="1"/>
              </p:cNvSpPr>
              <p:nvPr/>
            </p:nvSpPr>
            <p:spPr>
              <a:xfrm>
                <a:off x="303177" y="2774593"/>
                <a:ext cx="11914762" cy="489558"/>
              </a:xfrm>
              <a:prstGeom prst="rect">
                <a:avLst/>
              </a:prstGeom>
              <a:blipFill>
                <a:blip r:embed="rId3"/>
                <a:stretch>
                  <a:fillRect l="-1075" t="-2125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EDDB46BF-8758-1540-8C07-FCC434DF01CB}"/>
                  </a:ext>
                </a:extLst>
              </p:cNvPr>
              <p:cNvSpPr txBox="1"/>
              <p:nvPr/>
            </p:nvSpPr>
            <p:spPr>
              <a:xfrm>
                <a:off x="3048811" y="3482277"/>
                <a:ext cx="6094378" cy="461665"/>
              </a:xfrm>
              <a:prstGeom prst="rect">
                <a:avLst/>
              </a:prstGeom>
              <a:noFill/>
            </p:spPr>
            <p:txBody>
              <a:bodyPr wrap="square">
                <a:spAutoFit/>
              </a:bodyPr>
              <a:lstStyle/>
              <a:p>
                <a:pPr/>
                <a14:m>
                  <m:oMathPara xmlns:m="http://schemas.openxmlformats.org/officeDocument/2006/math">
                    <m:oMath>
                      <m:r>
                        <a:rPr lang="en-US" sz="2400" b="1">
                          <a:latin typeface="Cambria Math" panose="02040503050406030204" pitchFamily="18" charset="0"/>
                        </a:rPr>
                        <m:t>𝛁</m:t>
                      </m:r>
                      <m:r>
                        <a:rPr lang="en-US" sz="2400" b="1" i="1">
                          <a:latin typeface="Cambria Math" panose="02040503050406030204" pitchFamily="18" charset="0"/>
                        </a:rPr>
                        <m:t> ⋅</m:t>
                      </m:r>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𝜺</m:t>
                          </m:r>
                        </m:e>
                      </m:d>
                      <m:r>
                        <a:rPr lang="en-US" sz="2400" b="1" i="1" smtClean="0">
                          <a:latin typeface="Cambria Math" panose="02040503050406030204" pitchFamily="18" charset="0"/>
                        </a:rPr>
                        <m:t>=</m:t>
                      </m:r>
                      <m:r>
                        <a:rPr lang="en-US" sz="2400" b="1" i="1" smtClean="0">
                          <a:solidFill>
                            <a:srgbClr val="FF0000"/>
                          </a:solidFill>
                          <a:latin typeface="Cambria Math" panose="02040503050406030204" pitchFamily="18" charset="0"/>
                        </a:rPr>
                        <m:t>𝒇</m:t>
                      </m:r>
                    </m:oMath>
                  </m:oMathPara>
                </a14:m>
                <a:endParaRPr lang="en-US" sz="2400" dirty="0"/>
              </a:p>
            </p:txBody>
          </p:sp>
        </mc:Choice>
        <mc:Fallback xmlns="">
          <p:sp>
            <p:nvSpPr>
              <p:cNvPr id="13" name="TextBox 12">
                <a:extLst>
                  <a:ext uri="{FF2B5EF4-FFF2-40B4-BE49-F238E27FC236}">
                    <a16:creationId xmlns:a16="http://schemas.microsoft.com/office/drawing/2014/main" id="{EDDB46BF-8758-1540-8C07-FCC434DF01CB}"/>
                  </a:ext>
                </a:extLst>
              </p:cNvPr>
              <p:cNvSpPr txBox="1">
                <a:spLocks noRot="1" noChangeAspect="1" noMove="1" noResize="1" noEditPoints="1" noAdjustHandles="1" noChangeArrowheads="1" noChangeShapeType="1" noTextEdit="1"/>
              </p:cNvSpPr>
              <p:nvPr/>
            </p:nvSpPr>
            <p:spPr>
              <a:xfrm>
                <a:off x="3048811" y="3482277"/>
                <a:ext cx="6094378" cy="461665"/>
              </a:xfrm>
              <a:prstGeom prst="rect">
                <a:avLst/>
              </a:prstGeom>
              <a:blipFill>
                <a:blip r:embed="rId4"/>
                <a:stretch>
                  <a:fillRect b="-15789"/>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CC15D689-4F14-54F6-D228-D6BCCAE6CF0E}"/>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TFA (2)</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2E50189C-02E1-225A-C7A1-DC5D55CCE218}"/>
                  </a:ext>
                </a:extLst>
              </p:cNvPr>
              <p:cNvSpPr txBox="1">
                <a:spLocks/>
              </p:cNvSpPr>
              <p:nvPr/>
            </p:nvSpPr>
            <p:spPr>
              <a:xfrm>
                <a:off x="303177" y="4162068"/>
                <a:ext cx="11914762" cy="8865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Because this is a homogeneous material subject to a force </a:t>
                </a:r>
                <a14:m>
                  <m:oMath xmlns:m="http://schemas.openxmlformats.org/officeDocument/2006/math">
                    <m:r>
                      <a:rPr lang="en-US" b="1" i="1" smtClean="0">
                        <a:latin typeface="Cambria Math" panose="02040503050406030204" pitchFamily="18" charset="0"/>
                      </a:rPr>
                      <m:t>𝒇</m:t>
                    </m:r>
                  </m:oMath>
                </a14:m>
                <a:r>
                  <a:rPr lang="en-US" dirty="0"/>
                  <a:t>, we can employ the Green’s operator:</a:t>
                </a:r>
              </a:p>
            </p:txBody>
          </p:sp>
        </mc:Choice>
        <mc:Fallback xmlns="">
          <p:sp>
            <p:nvSpPr>
              <p:cNvPr id="21" name="Content Placeholder 2">
                <a:extLst>
                  <a:ext uri="{FF2B5EF4-FFF2-40B4-BE49-F238E27FC236}">
                    <a16:creationId xmlns:a16="http://schemas.microsoft.com/office/drawing/2014/main" id="{2E50189C-02E1-225A-C7A1-DC5D55CCE218}"/>
                  </a:ext>
                </a:extLst>
              </p:cNvPr>
              <p:cNvSpPr txBox="1">
                <a:spLocks noRot="1" noChangeAspect="1" noMove="1" noResize="1" noEditPoints="1" noAdjustHandles="1" noChangeArrowheads="1" noChangeShapeType="1" noTextEdit="1"/>
              </p:cNvSpPr>
              <p:nvPr/>
            </p:nvSpPr>
            <p:spPr>
              <a:xfrm>
                <a:off x="303177" y="4162068"/>
                <a:ext cx="11914762" cy="886588"/>
              </a:xfrm>
              <a:prstGeom prst="rect">
                <a:avLst/>
              </a:prstGeom>
              <a:blipFill>
                <a:blip r:embed="rId5"/>
                <a:stretch>
                  <a:fillRect l="-1075" t="-12414" r="-972" b="-165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0EB243A-8878-D2D1-698D-A39DA3E8AA4A}"/>
                  </a:ext>
                </a:extLst>
              </p:cNvPr>
              <p:cNvSpPr txBox="1"/>
              <p:nvPr/>
            </p:nvSpPr>
            <p:spPr>
              <a:xfrm>
                <a:off x="3048811" y="4930089"/>
                <a:ext cx="6094378" cy="461665"/>
              </a:xfrm>
              <a:prstGeom prst="rect">
                <a:avLst/>
              </a:prstGeom>
              <a:noFill/>
            </p:spPr>
            <p:txBody>
              <a:bodyPr wrap="square">
                <a:spAutoFit/>
              </a:bodyPr>
              <a:lstStyle/>
              <a:p>
                <a:pPr/>
                <a14:m>
                  <m:oMathPara xmlns:m="http://schemas.openxmlformats.org/officeDocument/2006/math">
                    <m:oMath>
                      <m:r>
                        <a:rPr lang="en-US" sz="2400" b="1" i="1" smtClean="0">
                          <a:latin typeface="Cambria Math" panose="02040503050406030204" pitchFamily="18" charset="0"/>
                        </a:rPr>
                        <m:t>𝒖</m:t>
                      </m:r>
                      <m:r>
                        <a:rPr lang="en-US" sz="2400" b="1" i="1" smtClean="0">
                          <a:latin typeface="Cambria Math" panose="02040503050406030204" pitchFamily="18" charset="0"/>
                        </a:rPr>
                        <m:t>=</m:t>
                      </m:r>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𝑮</m:t>
                          </m:r>
                        </m:e>
                        <m:sub>
                          <m:r>
                            <a:rPr lang="en-US" sz="2400" b="0" i="1" smtClean="0">
                              <a:solidFill>
                                <a:srgbClr val="FF0000"/>
                              </a:solidFill>
                              <a:latin typeface="Cambria Math" panose="02040503050406030204" pitchFamily="18" charset="0"/>
                            </a:rPr>
                            <m:t>0</m:t>
                          </m:r>
                        </m:sub>
                      </m:sSub>
                      <m:d>
                        <m:dPr>
                          <m:begChr m:val="["/>
                          <m:endChr m:val="]"/>
                          <m:ctrlPr>
                            <a:rPr lang="en-US" sz="2400" b="1" i="1" smtClean="0">
                              <a:latin typeface="Cambria Math" panose="02040503050406030204" pitchFamily="18" charset="0"/>
                            </a:rPr>
                          </m:ctrlPr>
                        </m:dPr>
                        <m:e>
                          <m:r>
                            <a:rPr lang="en-US" sz="2400" b="1" i="1" smtClean="0">
                              <a:latin typeface="Cambria Math" panose="02040503050406030204" pitchFamily="18" charset="0"/>
                            </a:rPr>
                            <m:t>𝒇</m:t>
                          </m:r>
                        </m:e>
                      </m:d>
                    </m:oMath>
                  </m:oMathPara>
                </a14:m>
                <a:endParaRPr lang="en-US" sz="2400" dirty="0"/>
              </a:p>
            </p:txBody>
          </p:sp>
        </mc:Choice>
        <mc:Fallback xmlns="">
          <p:sp>
            <p:nvSpPr>
              <p:cNvPr id="24" name="TextBox 23">
                <a:extLst>
                  <a:ext uri="{FF2B5EF4-FFF2-40B4-BE49-F238E27FC236}">
                    <a16:creationId xmlns:a16="http://schemas.microsoft.com/office/drawing/2014/main" id="{D0EB243A-8878-D2D1-698D-A39DA3E8AA4A}"/>
                  </a:ext>
                </a:extLst>
              </p:cNvPr>
              <p:cNvSpPr txBox="1">
                <a:spLocks noRot="1" noChangeAspect="1" noMove="1" noResize="1" noEditPoints="1" noAdjustHandles="1" noChangeArrowheads="1" noChangeShapeType="1" noTextEdit="1"/>
              </p:cNvSpPr>
              <p:nvPr/>
            </p:nvSpPr>
            <p:spPr>
              <a:xfrm>
                <a:off x="3048811" y="4930089"/>
                <a:ext cx="6094378" cy="461665"/>
              </a:xfrm>
              <a:prstGeom prst="rect">
                <a:avLst/>
              </a:prstGeom>
              <a:blipFill>
                <a:blip r:embed="rId6"/>
                <a:stretch>
                  <a:fillRect b="-17333"/>
                </a:stretch>
              </a:blipFill>
            </p:spPr>
            <p:txBody>
              <a:bodyPr/>
              <a:lstStyle/>
              <a:p>
                <a:r>
                  <a:rPr lang="en-US">
                    <a:noFill/>
                  </a:rPr>
                  <a:t> </a:t>
                </a:r>
              </a:p>
            </p:txBody>
          </p:sp>
        </mc:Fallback>
      </mc:AlternateContent>
      <p:sp>
        <p:nvSpPr>
          <p:cNvPr id="26" name="Content Placeholder 2">
            <a:extLst>
              <a:ext uri="{FF2B5EF4-FFF2-40B4-BE49-F238E27FC236}">
                <a16:creationId xmlns:a16="http://schemas.microsoft.com/office/drawing/2014/main" id="{F91D8178-0611-5BBC-2C09-2E17A601EEC3}"/>
              </a:ext>
            </a:extLst>
          </p:cNvPr>
          <p:cNvSpPr txBox="1">
            <a:spLocks/>
          </p:cNvSpPr>
          <p:nvPr/>
        </p:nvSpPr>
        <p:spPr>
          <a:xfrm>
            <a:off x="303177" y="5594921"/>
            <a:ext cx="11914762" cy="46166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We can define the strain as: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55418DB-3DFF-3663-7EE6-6741891F461E}"/>
                  </a:ext>
                </a:extLst>
              </p:cNvPr>
              <p:cNvSpPr txBox="1"/>
              <p:nvPr/>
            </p:nvSpPr>
            <p:spPr>
              <a:xfrm>
                <a:off x="3048811" y="6056586"/>
                <a:ext cx="6094378" cy="469937"/>
              </a:xfrm>
              <a:prstGeom prst="rect">
                <a:avLst/>
              </a:prstGeom>
              <a:noFill/>
            </p:spPr>
            <p:txBody>
              <a:bodyPr wrap="square">
                <a:spAutoFit/>
              </a:bodyPr>
              <a:lstStyle/>
              <a:p>
                <a:pPr/>
                <a14:m>
                  <m:oMathPara xmlns:m="http://schemas.openxmlformats.org/officeDocument/2006/math">
                    <m:oMath>
                      <m:r>
                        <a:rPr lang="en-US" sz="2400" b="1" i="1" smtClean="0">
                          <a:latin typeface="Cambria Math" panose="02040503050406030204" pitchFamily="18" charset="0"/>
                        </a:rPr>
                        <m:t>𝜺</m:t>
                      </m:r>
                      <m:r>
                        <a:rPr lang="en-US" sz="2400" b="1" i="1" smtClean="0">
                          <a:latin typeface="Cambria Math" panose="02040503050406030204" pitchFamily="18" charset="0"/>
                        </a:rPr>
                        <m:t>=</m:t>
                      </m:r>
                      <m:acc>
                        <m:accPr>
                          <m:chr m:val="̅"/>
                          <m:ctrlPr>
                            <a:rPr lang="en-US" sz="2400" b="1" i="1" smtClean="0">
                              <a:solidFill>
                                <a:srgbClr val="FF0000"/>
                              </a:solidFill>
                              <a:latin typeface="Cambria Math" panose="02040503050406030204" pitchFamily="18" charset="0"/>
                            </a:rPr>
                          </m:ctrlPr>
                        </m:accPr>
                        <m:e>
                          <m:r>
                            <a:rPr lang="en-US" sz="2400" b="1" i="1" smtClean="0">
                              <a:solidFill>
                                <a:srgbClr val="FF0000"/>
                              </a:solidFill>
                              <a:latin typeface="Cambria Math" panose="02040503050406030204" pitchFamily="18" charset="0"/>
                            </a:rPr>
                            <m:t>𝜺</m:t>
                          </m:r>
                        </m:e>
                      </m:acc>
                      <m:r>
                        <a:rPr lang="en-US" sz="2400" b="1" i="1" smtClean="0">
                          <a:solidFill>
                            <a:schemeClr val="tx1"/>
                          </a:solidFill>
                          <a:latin typeface="Cambria Math" panose="02040503050406030204" pitchFamily="18" charset="0"/>
                        </a:rPr>
                        <m:t>+</m:t>
                      </m:r>
                      <m:sSup>
                        <m:sSupPr>
                          <m:ctrlPr>
                            <a:rPr lang="en-US" sz="2400">
                              <a:solidFill>
                                <a:srgbClr val="FF0000"/>
                              </a:solidFill>
                              <a:latin typeface="Cambria Math" panose="02040503050406030204" pitchFamily="18" charset="0"/>
                            </a:rPr>
                          </m:ctrlPr>
                        </m:sSupPr>
                        <m:e>
                          <m:r>
                            <m:rPr>
                              <m:sty m:val="p"/>
                            </m:rPr>
                            <a:rPr lang="en-US" sz="2400">
                              <a:solidFill>
                                <a:srgbClr val="FF0000"/>
                              </a:solidFill>
                              <a:latin typeface="Cambria Math" panose="02040503050406030204" pitchFamily="18" charset="0"/>
                            </a:rPr>
                            <m:t>∇</m:t>
                          </m:r>
                        </m:e>
                        <m:sup>
                          <m:r>
                            <a:rPr lang="en-US" sz="2400" i="1">
                              <a:solidFill>
                                <a:srgbClr val="FF0000"/>
                              </a:solidFill>
                              <a:latin typeface="Cambria Math" panose="02040503050406030204" pitchFamily="18" charset="0"/>
                            </a:rPr>
                            <m:t>𝑠</m:t>
                          </m:r>
                        </m:sup>
                      </m:sSup>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𝑮</m:t>
                          </m:r>
                        </m:e>
                        <m:sub>
                          <m:r>
                            <a:rPr lang="en-US" sz="2400" b="0" i="1" smtClean="0">
                              <a:latin typeface="Cambria Math" panose="02040503050406030204" pitchFamily="18" charset="0"/>
                            </a:rPr>
                            <m:t>0</m:t>
                          </m:r>
                        </m:sub>
                      </m:sSub>
                      <m:d>
                        <m:dPr>
                          <m:begChr m:val="["/>
                          <m:endChr m:val="]"/>
                          <m:ctrlPr>
                            <a:rPr lang="en-US" sz="2400" b="1" i="1" smtClean="0">
                              <a:latin typeface="Cambria Math" panose="02040503050406030204" pitchFamily="18" charset="0"/>
                            </a:rPr>
                          </m:ctrlPr>
                        </m:dPr>
                        <m:e>
                          <m:r>
                            <a:rPr lang="en-US" sz="2400" b="1" i="1" smtClean="0">
                              <a:latin typeface="Cambria Math" panose="02040503050406030204" pitchFamily="18" charset="0"/>
                            </a:rPr>
                            <m:t>𝒇</m:t>
                          </m:r>
                        </m:e>
                      </m:d>
                    </m:oMath>
                  </m:oMathPara>
                </a14:m>
                <a:endParaRPr lang="en-US" sz="2400" dirty="0"/>
              </a:p>
            </p:txBody>
          </p:sp>
        </mc:Choice>
        <mc:Fallback xmlns="">
          <p:sp>
            <p:nvSpPr>
              <p:cNvPr id="30" name="TextBox 29">
                <a:extLst>
                  <a:ext uri="{FF2B5EF4-FFF2-40B4-BE49-F238E27FC236}">
                    <a16:creationId xmlns:a16="http://schemas.microsoft.com/office/drawing/2014/main" id="{555418DB-3DFF-3663-7EE6-6741891F461E}"/>
                  </a:ext>
                </a:extLst>
              </p:cNvPr>
              <p:cNvSpPr txBox="1">
                <a:spLocks noRot="1" noChangeAspect="1" noMove="1" noResize="1" noEditPoints="1" noAdjustHandles="1" noChangeArrowheads="1" noChangeShapeType="1" noTextEdit="1"/>
              </p:cNvSpPr>
              <p:nvPr/>
            </p:nvSpPr>
            <p:spPr>
              <a:xfrm>
                <a:off x="3048811" y="6056586"/>
                <a:ext cx="6094378" cy="469937"/>
              </a:xfrm>
              <a:prstGeom prst="rect">
                <a:avLst/>
              </a:prstGeom>
              <a:blipFill>
                <a:blip r:embed="rId7"/>
                <a:stretch>
                  <a:fillRect b="-14286"/>
                </a:stretch>
              </a:blipFill>
            </p:spPr>
            <p:txBody>
              <a:bodyPr/>
              <a:lstStyle/>
              <a:p>
                <a:r>
                  <a:rPr lang="en-US">
                    <a:noFill/>
                  </a:rPr>
                  <a:t> </a:t>
                </a:r>
              </a:p>
            </p:txBody>
          </p:sp>
        </mc:Fallback>
      </mc:AlternateContent>
    </p:spTree>
    <p:extLst>
      <p:ext uri="{BB962C8B-B14F-4D97-AF65-F5344CB8AC3E}">
        <p14:creationId xmlns:p14="http://schemas.microsoft.com/office/powerpoint/2010/main" val="30218391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31648-405B-D33A-F876-DC2552DE4B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54AF4A-B393-0D61-321E-08E9808A6F25}"/>
              </a:ext>
            </a:extLst>
          </p:cNvPr>
          <p:cNvSpPr>
            <a:spLocks noGrp="1"/>
          </p:cNvSpPr>
          <p:nvPr>
            <p:ph idx="1"/>
          </p:nvPr>
        </p:nvSpPr>
        <p:spPr>
          <a:xfrm>
            <a:off x="303177" y="1325563"/>
            <a:ext cx="11292192" cy="489558"/>
          </a:xfrm>
        </p:spPr>
        <p:txBody>
          <a:bodyPr>
            <a:normAutofit/>
          </a:bodyPr>
          <a:lstStyle/>
          <a:p>
            <a:pPr marL="0" indent="0">
              <a:buNone/>
            </a:pPr>
            <a:r>
              <a:rPr lang="en-US" dirty="0"/>
              <a:t>Bring the polarization stress back:</a:t>
            </a:r>
            <a:endParaRPr lang="en-US" b="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50B5816-36C1-6640-C7CD-7CC19496CC3E}"/>
                  </a:ext>
                </a:extLst>
              </p:cNvPr>
              <p:cNvSpPr txBox="1"/>
              <p:nvPr/>
            </p:nvSpPr>
            <p:spPr>
              <a:xfrm>
                <a:off x="3048811" y="2033247"/>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1">
                          <a:solidFill>
                            <a:schemeClr val="tx1"/>
                          </a:solidFill>
                          <a:latin typeface="Cambria Math" panose="02040503050406030204" pitchFamily="18" charset="0"/>
                        </a:rPr>
                        <m:t>+</m:t>
                      </m:r>
                      <m:sSup>
                        <m:sSupPr>
                          <m:ctrlPr>
                            <a:rPr lang="en-US" sz="2400">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m:t>
                          </m:r>
                        </m:e>
                        <m:sup>
                          <m:r>
                            <a:rPr lang="en-US" sz="2400" i="1">
                              <a:solidFill>
                                <a:schemeClr val="tx1"/>
                              </a:solidFill>
                              <a:latin typeface="Cambria Math" panose="02040503050406030204" pitchFamily="18" charset="0"/>
                            </a:rPr>
                            <m:t>𝑠</m:t>
                          </m:r>
                        </m:sup>
                      </m:sSup>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𝑮</m:t>
                          </m:r>
                        </m:e>
                        <m:sub>
                          <m:r>
                            <a:rPr lang="en-US" sz="2400" b="0" i="1">
                              <a:solidFill>
                                <a:schemeClr val="tx1"/>
                              </a:solidFill>
                              <a:latin typeface="Cambria Math" panose="02040503050406030204" pitchFamily="18" charset="0"/>
                            </a:rPr>
                            <m:t>0</m:t>
                          </m:r>
                        </m:sub>
                      </m:sSub>
                      <m:d>
                        <m:dPr>
                          <m:begChr m:val="["/>
                          <m:endChr m:val="]"/>
                          <m:ctrlPr>
                            <a:rPr lang="en-US" sz="2400" b="1" smtClean="0">
                              <a:solidFill>
                                <a:srgbClr val="FF0000"/>
                              </a:solidFill>
                              <a:latin typeface="Cambria Math" panose="02040503050406030204" pitchFamily="18" charset="0"/>
                            </a:rPr>
                          </m:ctrlPr>
                        </m:dPr>
                        <m:e>
                          <m:r>
                            <a:rPr lang="en-US" sz="2400" b="1" smtClean="0">
                              <a:solidFill>
                                <a:srgbClr val="FF0000"/>
                              </a:solidFill>
                              <a:latin typeface="Cambria Math" panose="02040503050406030204" pitchFamily="18" charset="0"/>
                            </a:rPr>
                            <m:t>−</m:t>
                          </m:r>
                          <m:r>
                            <a:rPr lang="en-US" sz="2400" b="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 ⋅</m:t>
                          </m:r>
                          <m:r>
                            <a:rPr lang="en-US" sz="2400" b="1" i="1" smtClean="0">
                              <a:solidFill>
                                <a:srgbClr val="FF0000"/>
                              </a:solidFill>
                              <a:latin typeface="Cambria Math" panose="02040503050406030204" pitchFamily="18" charset="0"/>
                            </a:rPr>
                            <m:t>𝝉</m:t>
                          </m:r>
                        </m:e>
                      </m:d>
                    </m:oMath>
                  </m:oMathPara>
                </a14:m>
                <a:endParaRPr lang="en-US" sz="2400" dirty="0">
                  <a:solidFill>
                    <a:schemeClr val="tx1"/>
                  </a:solidFill>
                </a:endParaRPr>
              </a:p>
            </p:txBody>
          </p:sp>
        </mc:Choice>
        <mc:Fallback xmlns="">
          <p:sp>
            <p:nvSpPr>
              <p:cNvPr id="6" name="TextBox 5">
                <a:extLst>
                  <a:ext uri="{FF2B5EF4-FFF2-40B4-BE49-F238E27FC236}">
                    <a16:creationId xmlns:a16="http://schemas.microsoft.com/office/drawing/2014/main" id="{D50B5816-36C1-6640-C7CD-7CC19496CC3E}"/>
                  </a:ext>
                </a:extLst>
              </p:cNvPr>
              <p:cNvSpPr txBox="1">
                <a:spLocks noRot="1" noChangeAspect="1" noMove="1" noResize="1" noEditPoints="1" noAdjustHandles="1" noChangeArrowheads="1" noChangeShapeType="1" noTextEdit="1"/>
              </p:cNvSpPr>
              <p:nvPr/>
            </p:nvSpPr>
            <p:spPr>
              <a:xfrm>
                <a:off x="3048811" y="2033247"/>
                <a:ext cx="6094378" cy="461665"/>
              </a:xfrm>
              <a:prstGeom prst="rect">
                <a:avLst/>
              </a:prstGeom>
              <a:blipFill>
                <a:blip r:embed="rId2"/>
                <a:stretch>
                  <a:fillRect/>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A9C81AEF-4245-30D7-E7D5-A0920747C9F6}"/>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TFA (3)</a:t>
            </a:r>
          </a:p>
        </p:txBody>
      </p:sp>
      <p:sp>
        <p:nvSpPr>
          <p:cNvPr id="2" name="Content Placeholder 2">
            <a:extLst>
              <a:ext uri="{FF2B5EF4-FFF2-40B4-BE49-F238E27FC236}">
                <a16:creationId xmlns:a16="http://schemas.microsoft.com/office/drawing/2014/main" id="{D2045FC8-7794-F796-6C47-DFE636FE9FA2}"/>
              </a:ext>
            </a:extLst>
          </p:cNvPr>
          <p:cNvSpPr txBox="1">
            <a:spLocks/>
          </p:cNvSpPr>
          <p:nvPr/>
        </p:nvSpPr>
        <p:spPr>
          <a:xfrm>
            <a:off x="303177" y="2651126"/>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Then bring the original stress back (and pull the negative sign out):</a:t>
            </a:r>
            <a:endParaRPr lang="en-US" b="1"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74E11DC-E2B7-C62C-F398-EC361ED3ECF3}"/>
                  </a:ext>
                </a:extLst>
              </p:cNvPr>
              <p:cNvSpPr txBox="1"/>
              <p:nvPr/>
            </p:nvSpPr>
            <p:spPr>
              <a:xfrm>
                <a:off x="3048811" y="3270582"/>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smtClean="0">
                          <a:solidFill>
                            <a:srgbClr val="FF0000"/>
                          </a:solidFill>
                          <a:latin typeface="Cambria Math" panose="02040503050406030204" pitchFamily="18" charset="0"/>
                        </a:rPr>
                        <m:t>−</m:t>
                      </m:r>
                      <m:sSup>
                        <m:sSupPr>
                          <m:ctrlPr>
                            <a:rPr lang="en-US" sz="2400">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m:t>
                          </m:r>
                        </m:e>
                        <m:sup>
                          <m:r>
                            <a:rPr lang="en-US" sz="2400" i="1">
                              <a:solidFill>
                                <a:schemeClr val="tx1"/>
                              </a:solidFill>
                              <a:latin typeface="Cambria Math" panose="02040503050406030204" pitchFamily="18" charset="0"/>
                            </a:rPr>
                            <m:t>𝑠</m:t>
                          </m:r>
                        </m:sup>
                      </m:sSup>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𝑮</m:t>
                          </m:r>
                        </m:e>
                        <m:sub>
                          <m:r>
                            <a:rPr lang="en-US" sz="2400" b="0" i="1">
                              <a:solidFill>
                                <a:schemeClr val="tx1"/>
                              </a:solidFill>
                              <a:latin typeface="Cambria Math" panose="02040503050406030204" pitchFamily="18" charset="0"/>
                            </a:rPr>
                            <m:t>0</m:t>
                          </m:r>
                        </m:sub>
                      </m:sSub>
                      <m:d>
                        <m:dPr>
                          <m:begChr m:val="["/>
                          <m:endChr m:val="]"/>
                          <m:ctrlPr>
                            <a:rPr lang="en-US" sz="2400" b="1">
                              <a:solidFill>
                                <a:schemeClr val="tx1"/>
                              </a:solidFill>
                              <a:latin typeface="Cambria Math" panose="02040503050406030204" pitchFamily="18" charset="0"/>
                            </a:rPr>
                          </m:ctrlPr>
                        </m:dPr>
                        <m:e>
                          <m:r>
                            <a:rPr lang="en-US" sz="2400" b="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 ⋅</m:t>
                          </m:r>
                          <m:d>
                            <m:dPr>
                              <m:ctrlPr>
                                <a:rPr lang="en-US" sz="2400" b="1" i="1" smtClean="0">
                                  <a:solidFill>
                                    <a:srgbClr val="FF0000"/>
                                  </a:solidFill>
                                  <a:latin typeface="Cambria Math" panose="02040503050406030204" pitchFamily="18" charset="0"/>
                                </a:rPr>
                              </m:ctrlPr>
                            </m:dPr>
                            <m:e>
                              <m:r>
                                <a:rPr lang="en-US" sz="2400" b="1" i="1" smtClean="0">
                                  <a:solidFill>
                                    <a:srgbClr val="FF0000"/>
                                  </a:solidFill>
                                  <a:latin typeface="Cambria Math" panose="02040503050406030204" pitchFamily="18" charset="0"/>
                                </a:rPr>
                                <m:t>𝝈</m:t>
                              </m:r>
                              <m:r>
                                <a:rPr lang="en-US" sz="2400" b="1" i="1" smtClean="0">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r>
                                <a:rPr lang="en-US" sz="2400" b="1" i="1">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𝜺</m:t>
                              </m:r>
                            </m:e>
                          </m:d>
                        </m:e>
                      </m:d>
                    </m:oMath>
                  </m:oMathPara>
                </a14:m>
                <a:endParaRPr lang="en-US" sz="2400" dirty="0">
                  <a:solidFill>
                    <a:schemeClr val="tx1"/>
                  </a:solidFill>
                </a:endParaRPr>
              </a:p>
            </p:txBody>
          </p:sp>
        </mc:Choice>
        <mc:Fallback xmlns="">
          <p:sp>
            <p:nvSpPr>
              <p:cNvPr id="5" name="TextBox 4">
                <a:extLst>
                  <a:ext uri="{FF2B5EF4-FFF2-40B4-BE49-F238E27FC236}">
                    <a16:creationId xmlns:a16="http://schemas.microsoft.com/office/drawing/2014/main" id="{774E11DC-E2B7-C62C-F398-EC361ED3ECF3}"/>
                  </a:ext>
                </a:extLst>
              </p:cNvPr>
              <p:cNvSpPr txBox="1">
                <a:spLocks noRot="1" noChangeAspect="1" noMove="1" noResize="1" noEditPoints="1" noAdjustHandles="1" noChangeArrowheads="1" noChangeShapeType="1" noTextEdit="1"/>
              </p:cNvSpPr>
              <p:nvPr/>
            </p:nvSpPr>
            <p:spPr>
              <a:xfrm>
                <a:off x="3048811" y="3270582"/>
                <a:ext cx="6094378"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BFB3A644-091F-04A1-92AA-19491C217B24}"/>
                  </a:ext>
                </a:extLst>
              </p:cNvPr>
              <p:cNvSpPr txBox="1">
                <a:spLocks/>
              </p:cNvSpPr>
              <p:nvPr/>
            </p:nvSpPr>
            <p:spPr>
              <a:xfrm>
                <a:off x="303177" y="3908683"/>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 a new operator (expressed acting on some tensor </a:t>
                </a:r>
                <a14:m>
                  <m:oMath xmlns:m="http://schemas.openxmlformats.org/officeDocument/2006/math">
                    <m:r>
                      <a:rPr lang="en-US" b="1" i="1" smtClean="0">
                        <a:latin typeface="Cambria Math" panose="02040503050406030204" pitchFamily="18" charset="0"/>
                      </a:rPr>
                      <m:t>𝒗</m:t>
                    </m:r>
                  </m:oMath>
                </a14:m>
                <a:r>
                  <a:rPr lang="en-US" dirty="0"/>
                  <a:t>):</a:t>
                </a:r>
                <a:endParaRPr lang="en-US" b="1" dirty="0"/>
              </a:p>
            </p:txBody>
          </p:sp>
        </mc:Choice>
        <mc:Fallback xmlns="">
          <p:sp>
            <p:nvSpPr>
              <p:cNvPr id="9" name="Content Placeholder 2">
                <a:extLst>
                  <a:ext uri="{FF2B5EF4-FFF2-40B4-BE49-F238E27FC236}">
                    <a16:creationId xmlns:a16="http://schemas.microsoft.com/office/drawing/2014/main" id="{BFB3A644-091F-04A1-92AA-19491C217B24}"/>
                  </a:ext>
                </a:extLst>
              </p:cNvPr>
              <p:cNvSpPr txBox="1">
                <a:spLocks noRot="1" noChangeAspect="1" noMove="1" noResize="1" noEditPoints="1" noAdjustHandles="1" noChangeArrowheads="1" noChangeShapeType="1" noTextEdit="1"/>
              </p:cNvSpPr>
              <p:nvPr/>
            </p:nvSpPr>
            <p:spPr>
              <a:xfrm>
                <a:off x="303177" y="3908683"/>
                <a:ext cx="11292192" cy="489558"/>
              </a:xfrm>
              <a:prstGeom prst="rect">
                <a:avLst/>
              </a:prstGeom>
              <a:blipFill>
                <a:blip r:embed="rId4"/>
                <a:stretch>
                  <a:fillRect l="-1134" t="-2125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D920D29-3FFB-0F7D-9B24-BCC2DB8E9E0C}"/>
                  </a:ext>
                </a:extLst>
              </p:cNvPr>
              <p:cNvSpPr txBox="1"/>
              <p:nvPr/>
            </p:nvSpPr>
            <p:spPr>
              <a:xfrm>
                <a:off x="3048811" y="4500246"/>
                <a:ext cx="6094378" cy="461665"/>
              </a:xfrm>
              <a:prstGeom prst="rect">
                <a:avLst/>
              </a:prstGeom>
              <a:noFill/>
            </p:spPr>
            <p:txBody>
              <a:bodyPr wrap="square">
                <a:spAutoFit/>
              </a:bodyPr>
              <a:lstStyle/>
              <a:p>
                <a:pPr/>
                <a14:m>
                  <m:oMathPara xmlns:m="http://schemas.openxmlformats.org/officeDocument/2006/math">
                    <m:oMath>
                      <m:sSub>
                        <m:sSubPr>
                          <m:ctrlPr>
                            <a:rPr lang="en-US" sz="2400" b="1" i="0" smtClean="0">
                              <a:solidFill>
                                <a:schemeClr val="tx1"/>
                              </a:solidFill>
                              <a:latin typeface="Cambria Math" panose="02040503050406030204" pitchFamily="18" charset="0"/>
                            </a:rPr>
                          </m:ctrlPr>
                        </m:sSubPr>
                        <m:e>
                          <m:r>
                            <a:rPr lang="en-US" sz="2400" b="1" i="0" smtClean="0">
                              <a:solidFill>
                                <a:schemeClr val="tx1"/>
                              </a:solidFill>
                              <a:latin typeface="Cambria Math" panose="02040503050406030204" pitchFamily="18" charset="0"/>
                            </a:rPr>
                            <m:t>𝚪</m:t>
                          </m:r>
                        </m:e>
                        <m:sub>
                          <m:r>
                            <a:rPr lang="en-US" sz="2400" b="0" i="1" smtClean="0">
                              <a:solidFill>
                                <a:schemeClr val="tx1"/>
                              </a:solidFill>
                              <a:latin typeface="Cambria Math" panose="02040503050406030204" pitchFamily="18" charset="0"/>
                            </a:rPr>
                            <m:t>0</m:t>
                          </m:r>
                        </m:sub>
                      </m:sSub>
                      <m:d>
                        <m:dPr>
                          <m:begChr m:val="["/>
                          <m:endChr m:val="]"/>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𝒗</m:t>
                          </m:r>
                        </m:e>
                      </m:d>
                      <m:r>
                        <a:rPr lang="en-US" sz="2400" b="0" i="1" smtClean="0">
                          <a:solidFill>
                            <a:schemeClr val="tx1"/>
                          </a:solidFill>
                          <a:latin typeface="Cambria Math" panose="02040503050406030204" pitchFamily="18" charset="0"/>
                        </a:rPr>
                        <m:t>=</m:t>
                      </m:r>
                      <m:sSup>
                        <m:sSupPr>
                          <m:ctrlPr>
                            <a:rPr lang="en-US" sz="2400">
                              <a:solidFill>
                                <a:schemeClr val="tx1"/>
                              </a:solidFill>
                              <a:latin typeface="Cambria Math" panose="02040503050406030204" pitchFamily="18" charset="0"/>
                            </a:rPr>
                          </m:ctrlPr>
                        </m:sSupPr>
                        <m:e>
                          <m:r>
                            <m:rPr>
                              <m:sty m:val="p"/>
                            </m:rPr>
                            <a:rPr lang="en-US" sz="2400">
                              <a:solidFill>
                                <a:schemeClr val="tx1"/>
                              </a:solidFill>
                              <a:latin typeface="Cambria Math" panose="02040503050406030204" pitchFamily="18" charset="0"/>
                            </a:rPr>
                            <m:t>∇</m:t>
                          </m:r>
                        </m:e>
                        <m:sup>
                          <m:r>
                            <a:rPr lang="en-US" sz="2400" i="1">
                              <a:solidFill>
                                <a:schemeClr val="tx1"/>
                              </a:solidFill>
                              <a:latin typeface="Cambria Math" panose="02040503050406030204" pitchFamily="18" charset="0"/>
                            </a:rPr>
                            <m:t>𝑠</m:t>
                          </m:r>
                        </m:sup>
                      </m:sSup>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𝑮</m:t>
                          </m:r>
                        </m:e>
                        <m:sub>
                          <m:r>
                            <a:rPr lang="en-US" sz="2400" i="1">
                              <a:solidFill>
                                <a:schemeClr val="tx1"/>
                              </a:solidFill>
                              <a:latin typeface="Cambria Math" panose="02040503050406030204" pitchFamily="18" charset="0"/>
                            </a:rPr>
                            <m:t>0</m:t>
                          </m:r>
                        </m:sub>
                      </m:sSub>
                      <m:d>
                        <m:dPr>
                          <m:begChr m:val="["/>
                          <m:endChr m:val="]"/>
                          <m:ctrlPr>
                            <a:rPr lang="en-US" sz="2400" b="1" smtClean="0">
                              <a:solidFill>
                                <a:schemeClr val="tx1"/>
                              </a:solidFill>
                              <a:latin typeface="Cambria Math" panose="02040503050406030204" pitchFamily="18" charset="0"/>
                            </a:rPr>
                          </m:ctrlPr>
                        </m:dPr>
                        <m:e>
                          <m:r>
                            <a:rPr lang="en-US" sz="2400" b="1" smtClean="0">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 ⋅</m:t>
                          </m:r>
                          <m:r>
                            <a:rPr lang="en-US" sz="2400" b="1" i="1" smtClean="0">
                              <a:solidFill>
                                <a:schemeClr val="tx1"/>
                              </a:solidFill>
                              <a:latin typeface="Cambria Math" panose="02040503050406030204" pitchFamily="18" charset="0"/>
                            </a:rPr>
                            <m:t>𝒗</m:t>
                          </m:r>
                        </m:e>
                      </m:d>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DD920D29-3FFB-0F7D-9B24-BCC2DB8E9E0C}"/>
                  </a:ext>
                </a:extLst>
              </p:cNvPr>
              <p:cNvSpPr txBox="1">
                <a:spLocks noRot="1" noChangeAspect="1" noMove="1" noResize="1" noEditPoints="1" noAdjustHandles="1" noChangeArrowheads="1" noChangeShapeType="1" noTextEdit="1"/>
              </p:cNvSpPr>
              <p:nvPr/>
            </p:nvSpPr>
            <p:spPr>
              <a:xfrm>
                <a:off x="3048811" y="4500246"/>
                <a:ext cx="6094378" cy="461665"/>
              </a:xfrm>
              <a:prstGeom prst="rect">
                <a:avLst/>
              </a:prstGeom>
              <a:blipFill>
                <a:blip r:embed="rId5"/>
                <a:stretch>
                  <a:fillRect/>
                </a:stretch>
              </a:blipFill>
            </p:spPr>
            <p:txBody>
              <a:bodyPr/>
              <a:lstStyle/>
              <a:p>
                <a:r>
                  <a:rPr lang="en-US">
                    <a:noFill/>
                  </a:rPr>
                  <a:t> </a:t>
                </a:r>
              </a:p>
            </p:txBody>
          </p:sp>
        </mc:Fallback>
      </mc:AlternateContent>
      <p:sp>
        <p:nvSpPr>
          <p:cNvPr id="14" name="Content Placeholder 2">
            <a:extLst>
              <a:ext uri="{FF2B5EF4-FFF2-40B4-BE49-F238E27FC236}">
                <a16:creationId xmlns:a16="http://schemas.microsoft.com/office/drawing/2014/main" id="{1368D679-DD67-4762-B3A5-9B1D2FF7BB96}"/>
              </a:ext>
            </a:extLst>
          </p:cNvPr>
          <p:cNvSpPr txBox="1">
            <a:spLocks/>
          </p:cNvSpPr>
          <p:nvPr/>
        </p:nvSpPr>
        <p:spPr>
          <a:xfrm>
            <a:off x="303177" y="5170926"/>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Then we have:</a:t>
            </a:r>
            <a:endParaRPr lang="en-US" b="1" dirty="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B89C135D-7502-BA61-3D7F-65FE4F2098CE}"/>
                  </a:ext>
                </a:extLst>
              </p:cNvPr>
              <p:cNvSpPr txBox="1"/>
              <p:nvPr/>
            </p:nvSpPr>
            <p:spPr>
              <a:xfrm>
                <a:off x="3048811" y="5660484"/>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solidFill>
                            <a:schemeClr val="tx1"/>
                          </a:solidFill>
                          <a:latin typeface="Cambria Math" panose="02040503050406030204" pitchFamily="18" charset="0"/>
                        </a:rPr>
                        <m:t>−</m:t>
                      </m:r>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𝝈</m:t>
                          </m:r>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𝜺</m:t>
                          </m:r>
                        </m:e>
                      </m:d>
                    </m:oMath>
                  </m:oMathPara>
                </a14:m>
                <a:endParaRPr lang="en-US" sz="2400" dirty="0">
                  <a:solidFill>
                    <a:schemeClr val="tx1"/>
                  </a:solidFill>
                </a:endParaRPr>
              </a:p>
            </p:txBody>
          </p:sp>
        </mc:Choice>
        <mc:Fallback xmlns="">
          <p:sp>
            <p:nvSpPr>
              <p:cNvPr id="17" name="TextBox 16">
                <a:extLst>
                  <a:ext uri="{FF2B5EF4-FFF2-40B4-BE49-F238E27FC236}">
                    <a16:creationId xmlns:a16="http://schemas.microsoft.com/office/drawing/2014/main" id="{B89C135D-7502-BA61-3D7F-65FE4F2098CE}"/>
                  </a:ext>
                </a:extLst>
              </p:cNvPr>
              <p:cNvSpPr txBox="1">
                <a:spLocks noRot="1" noChangeAspect="1" noMove="1" noResize="1" noEditPoints="1" noAdjustHandles="1" noChangeArrowheads="1" noChangeShapeType="1" noTextEdit="1"/>
              </p:cNvSpPr>
              <p:nvPr/>
            </p:nvSpPr>
            <p:spPr>
              <a:xfrm>
                <a:off x="3048811" y="5660484"/>
                <a:ext cx="6094378" cy="461665"/>
              </a:xfrm>
              <a:prstGeom prst="rect">
                <a:avLst/>
              </a:prstGeom>
              <a:blipFill>
                <a:blip r:embed="rId6"/>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B5BB0E77-1991-6B30-4549-841269950F68}"/>
              </a:ext>
            </a:extLst>
          </p:cNvPr>
          <p:cNvSpPr txBox="1"/>
          <p:nvPr/>
        </p:nvSpPr>
        <p:spPr>
          <a:xfrm>
            <a:off x="7667019" y="5475818"/>
            <a:ext cx="4221804" cy="830997"/>
          </a:xfrm>
          <a:prstGeom prst="rect">
            <a:avLst/>
          </a:prstGeom>
          <a:noFill/>
        </p:spPr>
        <p:txBody>
          <a:bodyPr wrap="square" rtlCol="0">
            <a:spAutoFit/>
          </a:bodyPr>
          <a:lstStyle/>
          <a:p>
            <a:pPr algn="ctr"/>
            <a:r>
              <a:rPr lang="en-US" sz="2400" dirty="0">
                <a:solidFill>
                  <a:srgbClr val="0000FF"/>
                </a:solidFill>
              </a:rPr>
              <a:t>This is the Lippmann-Schwinger equation</a:t>
            </a:r>
          </a:p>
        </p:txBody>
      </p:sp>
    </p:spTree>
    <p:extLst>
      <p:ext uri="{BB962C8B-B14F-4D97-AF65-F5344CB8AC3E}">
        <p14:creationId xmlns:p14="http://schemas.microsoft.com/office/powerpoint/2010/main" val="4085490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889E1-D49E-D845-28B4-47DB8BC8A9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12CFD0-8C9A-10EA-639F-3F2F3A3D5285}"/>
              </a:ext>
            </a:extLst>
          </p:cNvPr>
          <p:cNvSpPr>
            <a:spLocks noGrp="1"/>
          </p:cNvSpPr>
          <p:nvPr>
            <p:ph idx="1"/>
          </p:nvPr>
        </p:nvSpPr>
        <p:spPr>
          <a:xfrm>
            <a:off x="303177" y="1325563"/>
            <a:ext cx="11292192" cy="489558"/>
          </a:xfrm>
        </p:spPr>
        <p:txBody>
          <a:bodyPr>
            <a:normAutofit/>
          </a:bodyPr>
          <a:lstStyle/>
          <a:p>
            <a:pPr marL="0" indent="0">
              <a:buNone/>
            </a:pPr>
            <a:r>
              <a:rPr lang="en-US" dirty="0"/>
              <a:t>Plug in the definition for stress:</a:t>
            </a:r>
            <a:endParaRPr lang="en-US" b="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8BF9ECD-7125-58D5-D211-C70909714DC0}"/>
                  </a:ext>
                </a:extLst>
              </p:cNvPr>
              <p:cNvSpPr txBox="1"/>
              <p:nvPr/>
            </p:nvSpPr>
            <p:spPr>
              <a:xfrm>
                <a:off x="3048811" y="2033247"/>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latin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b="1" i="1" smtClean="0">
                              <a:solidFill>
                                <a:srgbClr val="FF0000"/>
                              </a:solidFill>
                              <a:latin typeface="Cambria Math" panose="02040503050406030204" pitchFamily="18" charset="0"/>
                            </a:rPr>
                          </m:ctrlPr>
                        </m:dPr>
                        <m:e>
                          <m:r>
                            <a:rPr lang="en-US" sz="2400" b="1" i="1" smtClean="0">
                              <a:solidFill>
                                <a:srgbClr val="FF0000"/>
                              </a:solidFill>
                              <a:latin typeface="Cambria Math" panose="02040503050406030204" pitchFamily="18" charset="0"/>
                            </a:rPr>
                            <m:t>𝑪</m:t>
                          </m:r>
                          <m:r>
                            <a:rPr lang="en-US" sz="2400" b="1" i="1" smtClean="0">
                              <a:solidFill>
                                <a:srgbClr val="FF0000"/>
                              </a:solidFill>
                              <a:latin typeface="Cambria Math" panose="02040503050406030204" pitchFamily="18" charset="0"/>
                            </a:rPr>
                            <m:t>:</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𝜺</m:t>
                              </m:r>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𝝁</m:t>
                              </m:r>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𝜺</m:t>
                          </m:r>
                        </m:e>
                      </m:d>
                    </m:oMath>
                  </m:oMathPara>
                </a14:m>
                <a:endParaRPr lang="en-US" sz="2400" dirty="0">
                  <a:solidFill>
                    <a:schemeClr val="tx1"/>
                  </a:solidFill>
                </a:endParaRPr>
              </a:p>
            </p:txBody>
          </p:sp>
        </mc:Choice>
        <mc:Fallback xmlns="">
          <p:sp>
            <p:nvSpPr>
              <p:cNvPr id="6" name="TextBox 5">
                <a:extLst>
                  <a:ext uri="{FF2B5EF4-FFF2-40B4-BE49-F238E27FC236}">
                    <a16:creationId xmlns:a16="http://schemas.microsoft.com/office/drawing/2014/main" id="{68BF9ECD-7125-58D5-D211-C70909714DC0}"/>
                  </a:ext>
                </a:extLst>
              </p:cNvPr>
              <p:cNvSpPr txBox="1">
                <a:spLocks noRot="1" noChangeAspect="1" noMove="1" noResize="1" noEditPoints="1" noAdjustHandles="1" noChangeArrowheads="1" noChangeShapeType="1" noTextEdit="1"/>
              </p:cNvSpPr>
              <p:nvPr/>
            </p:nvSpPr>
            <p:spPr>
              <a:xfrm>
                <a:off x="3048811" y="2033247"/>
                <a:ext cx="6094378" cy="461665"/>
              </a:xfrm>
              <a:prstGeom prst="rect">
                <a:avLst/>
              </a:prstGeom>
              <a:blipFill>
                <a:blip r:embed="rId2"/>
                <a:stretch>
                  <a:fillRect b="-8000"/>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F118CBF0-B35B-BBB3-5336-B6E3DCC23A9C}"/>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TFA (4)</a:t>
            </a:r>
          </a:p>
        </p:txBody>
      </p:sp>
      <p:sp>
        <p:nvSpPr>
          <p:cNvPr id="12" name="Content Placeholder 2">
            <a:extLst>
              <a:ext uri="{FF2B5EF4-FFF2-40B4-BE49-F238E27FC236}">
                <a16:creationId xmlns:a16="http://schemas.microsoft.com/office/drawing/2014/main" id="{D52BB062-067C-4839-3488-19C1C6219EB8}"/>
              </a:ext>
            </a:extLst>
          </p:cNvPr>
          <p:cNvSpPr txBox="1">
            <a:spLocks/>
          </p:cNvSpPr>
          <p:nvPr/>
        </p:nvSpPr>
        <p:spPr>
          <a:xfrm>
            <a:off x="303177" y="2651126"/>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Rearrange:</a:t>
            </a:r>
            <a:endParaRPr lang="en-US" b="1" dirty="0"/>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A9FD30C-3329-CB9C-ECE1-20FF4B8BEF77}"/>
                  </a:ext>
                </a:extLst>
              </p:cNvPr>
              <p:cNvSpPr txBox="1"/>
              <p:nvPr/>
            </p:nvSpPr>
            <p:spPr>
              <a:xfrm>
                <a:off x="3048811" y="3198167"/>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latin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b="1" i="1" smtClean="0">
                              <a:solidFill>
                                <a:srgbClr val="FF0000"/>
                              </a:solidFill>
                              <a:latin typeface="Cambria Math" panose="02040503050406030204" pitchFamily="18" charset="0"/>
                            </a:rPr>
                          </m:ctrlPr>
                        </m:dPr>
                        <m:e>
                          <m:d>
                            <m:dPr>
                              <m:ctrlPr>
                                <a:rPr lang="en-US" sz="2400" b="1" i="1" smtClean="0">
                                  <a:solidFill>
                                    <a:srgbClr val="FF0000"/>
                                  </a:solidFill>
                                  <a:latin typeface="Cambria Math" panose="02040503050406030204" pitchFamily="18" charset="0"/>
                                </a:rPr>
                              </m:ctrlPr>
                            </m:dPr>
                            <m:e>
                              <m:r>
                                <a:rPr lang="en-US" sz="2400" b="1" i="1" smtClean="0">
                                  <a:solidFill>
                                    <a:srgbClr val="FF0000"/>
                                  </a:solidFill>
                                  <a:latin typeface="Cambria Math" panose="02040503050406030204" pitchFamily="18" charset="0"/>
                                </a:rPr>
                                <m:t>𝑪</m:t>
                              </m:r>
                              <m:r>
                                <a:rPr lang="en-US" sz="2400" b="1" i="1" smtClean="0">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smtClean="0">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𝜺</m:t>
                          </m:r>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𝑪</m:t>
                          </m:r>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𝝁</m:t>
                          </m:r>
                        </m:e>
                      </m:d>
                    </m:oMath>
                  </m:oMathPara>
                </a14:m>
                <a:endParaRPr lang="en-US" sz="2400" dirty="0">
                  <a:solidFill>
                    <a:schemeClr val="tx1"/>
                  </a:solidFill>
                </a:endParaRPr>
              </a:p>
            </p:txBody>
          </p:sp>
        </mc:Choice>
        <mc:Fallback xmlns="">
          <p:sp>
            <p:nvSpPr>
              <p:cNvPr id="16" name="TextBox 15">
                <a:extLst>
                  <a:ext uri="{FF2B5EF4-FFF2-40B4-BE49-F238E27FC236}">
                    <a16:creationId xmlns:a16="http://schemas.microsoft.com/office/drawing/2014/main" id="{0A9FD30C-3329-CB9C-ECE1-20FF4B8BEF77}"/>
                  </a:ext>
                </a:extLst>
              </p:cNvPr>
              <p:cNvSpPr txBox="1">
                <a:spLocks noRot="1" noChangeAspect="1" noMove="1" noResize="1" noEditPoints="1" noAdjustHandles="1" noChangeArrowheads="1" noChangeShapeType="1" noTextEdit="1"/>
              </p:cNvSpPr>
              <p:nvPr/>
            </p:nvSpPr>
            <p:spPr>
              <a:xfrm>
                <a:off x="3048811" y="3198167"/>
                <a:ext cx="6094378" cy="461665"/>
              </a:xfrm>
              <a:prstGeom prst="rect">
                <a:avLst/>
              </a:prstGeom>
              <a:blipFill>
                <a:blip r:embed="rId3"/>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Content Placeholder 2">
                <a:extLst>
                  <a:ext uri="{FF2B5EF4-FFF2-40B4-BE49-F238E27FC236}">
                    <a16:creationId xmlns:a16="http://schemas.microsoft.com/office/drawing/2014/main" id="{AE9CFB9C-5517-9382-5952-929A5419E88D}"/>
                  </a:ext>
                </a:extLst>
              </p:cNvPr>
              <p:cNvSpPr txBox="1">
                <a:spLocks/>
              </p:cNvSpPr>
              <p:nvPr/>
            </p:nvSpPr>
            <p:spPr>
              <a:xfrm>
                <a:off x="303177" y="3949738"/>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Move the total strain (</a:t>
                </a:r>
                <a14:m>
                  <m:oMath xmlns:m="http://schemas.openxmlformats.org/officeDocument/2006/math">
                    <m:r>
                      <a:rPr lang="en-US" b="1" i="1" smtClean="0">
                        <a:latin typeface="Cambria Math" panose="02040503050406030204" pitchFamily="18" charset="0"/>
                      </a:rPr>
                      <m:t>𝜺</m:t>
                    </m:r>
                  </m:oMath>
                </a14:m>
                <a:r>
                  <a:rPr lang="en-US" dirty="0"/>
                  <a:t>) term to the LHS:</a:t>
                </a:r>
                <a:endParaRPr lang="en-US" b="1" dirty="0"/>
              </a:p>
            </p:txBody>
          </p:sp>
        </mc:Choice>
        <mc:Fallback xmlns="">
          <p:sp>
            <p:nvSpPr>
              <p:cNvPr id="19" name="Content Placeholder 2">
                <a:extLst>
                  <a:ext uri="{FF2B5EF4-FFF2-40B4-BE49-F238E27FC236}">
                    <a16:creationId xmlns:a16="http://schemas.microsoft.com/office/drawing/2014/main" id="{AE9CFB9C-5517-9382-5952-929A5419E88D}"/>
                  </a:ext>
                </a:extLst>
              </p:cNvPr>
              <p:cNvSpPr txBox="1">
                <a:spLocks noRot="1" noChangeAspect="1" noMove="1" noResize="1" noEditPoints="1" noAdjustHandles="1" noChangeArrowheads="1" noChangeShapeType="1" noTextEdit="1"/>
              </p:cNvSpPr>
              <p:nvPr/>
            </p:nvSpPr>
            <p:spPr>
              <a:xfrm>
                <a:off x="303177" y="3949738"/>
                <a:ext cx="11292192" cy="489558"/>
              </a:xfrm>
              <a:prstGeom prst="rect">
                <a:avLst/>
              </a:prstGeom>
              <a:blipFill>
                <a:blip r:embed="rId4"/>
                <a:stretch>
                  <a:fillRect l="-1134"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B2FEA693-DAFD-14FF-4F58-ABE7B69F455A}"/>
                  </a:ext>
                </a:extLst>
              </p:cNvPr>
              <p:cNvSpPr txBox="1"/>
              <p:nvPr/>
            </p:nvSpPr>
            <p:spPr>
              <a:xfrm>
                <a:off x="3048811" y="4651381"/>
                <a:ext cx="6094378" cy="461665"/>
              </a:xfrm>
              <a:prstGeom prst="rect">
                <a:avLst/>
              </a:prstGeom>
              <a:noFill/>
            </p:spPr>
            <p:txBody>
              <a:bodyPr wrap="square">
                <a:spAutoFit/>
              </a:bodyPr>
              <a:lstStyle/>
              <a:p>
                <a:pPr algn="ctr"/>
                <a14:m>
                  <m:oMath xmlns:m="http://schemas.openxmlformats.org/officeDocument/2006/math">
                    <m:r>
                      <a:rPr lang="en-US" sz="2400" b="1" i="1" smtClean="0">
                        <a:solidFill>
                          <a:schemeClr val="tx1"/>
                        </a:solidFill>
                        <a:latin typeface="Cambria Math" panose="02040503050406030204" pitchFamily="18" charset="0"/>
                      </a:rPr>
                      <m:t>𝜺</m:t>
                    </m:r>
                    <m:r>
                      <a:rPr lang="en-US" sz="2400" b="1" i="1" smtClean="0">
                        <a:solidFill>
                          <a:srgbClr val="FF0000"/>
                        </a:solidFill>
                        <a:latin typeface="Cambria Math" panose="02040503050406030204" pitchFamily="18" charset="0"/>
                      </a:rPr>
                      <m:t>+</m:t>
                    </m:r>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b="1" i="1">
                            <a:solidFill>
                              <a:srgbClr val="FF0000"/>
                            </a:solidFill>
                            <a:latin typeface="Cambria Math" panose="02040503050406030204" pitchFamily="18" charset="0"/>
                          </a:rPr>
                        </m:ctrlPr>
                      </m:dPr>
                      <m:e>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𝑪</m:t>
                            </m:r>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𝜺</m:t>
                        </m:r>
                      </m:e>
                    </m:d>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1" smtClean="0">
                        <a:solidFill>
                          <a:srgbClr val="FF0000"/>
                        </a:solidFill>
                        <a:latin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oMath>
                </a14:m>
                <a:r>
                  <a:rPr lang="en-US" sz="2400" b="1" dirty="0"/>
                  <a:t> </a:t>
                </a:r>
                <a14:m>
                  <m:oMath xmlns:m="http://schemas.openxmlformats.org/officeDocument/2006/math">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𝑪</m:t>
                        </m:r>
                        <m:r>
                          <a:rPr lang="en-US" sz="2400" b="1" i="1">
                            <a:latin typeface="Cambria Math" panose="02040503050406030204" pitchFamily="18" charset="0"/>
                          </a:rPr>
                          <m:t>:</m:t>
                        </m:r>
                        <m:r>
                          <a:rPr lang="en-US" sz="2400" b="1" i="1">
                            <a:latin typeface="Cambria Math" panose="02040503050406030204" pitchFamily="18" charset="0"/>
                          </a:rPr>
                          <m:t>𝝁</m:t>
                        </m:r>
                      </m:e>
                    </m:d>
                  </m:oMath>
                </a14:m>
                <a:endParaRPr lang="en-US" sz="2400" dirty="0">
                  <a:solidFill>
                    <a:schemeClr val="tx1"/>
                  </a:solidFill>
                </a:endParaRPr>
              </a:p>
            </p:txBody>
          </p:sp>
        </mc:Choice>
        <mc:Fallback xmlns="">
          <p:sp>
            <p:nvSpPr>
              <p:cNvPr id="21" name="TextBox 20">
                <a:extLst>
                  <a:ext uri="{FF2B5EF4-FFF2-40B4-BE49-F238E27FC236}">
                    <a16:creationId xmlns:a16="http://schemas.microsoft.com/office/drawing/2014/main" id="{B2FEA693-DAFD-14FF-4F58-ABE7B69F455A}"/>
                  </a:ext>
                </a:extLst>
              </p:cNvPr>
              <p:cNvSpPr txBox="1">
                <a:spLocks noRot="1" noChangeAspect="1" noMove="1" noResize="1" noEditPoints="1" noAdjustHandles="1" noChangeArrowheads="1" noChangeShapeType="1" noTextEdit="1"/>
              </p:cNvSpPr>
              <p:nvPr/>
            </p:nvSpPr>
            <p:spPr>
              <a:xfrm>
                <a:off x="3048811" y="4651381"/>
                <a:ext cx="6094378" cy="461665"/>
              </a:xfrm>
              <a:prstGeom prst="rect">
                <a:avLst/>
              </a:prstGeom>
              <a:blipFill>
                <a:blip r:embed="rId5"/>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EFA5BE87-CC00-3302-BBF4-33C837375218}"/>
                  </a:ext>
                </a:extLst>
              </p:cNvPr>
              <p:cNvSpPr txBox="1">
                <a:spLocks/>
              </p:cNvSpPr>
              <p:nvPr/>
            </p:nvSpPr>
            <p:spPr>
              <a:xfrm>
                <a:off x="303177" y="5325131"/>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Define a new operator (expressed acting on some tensor </a:t>
                </a:r>
                <a14:m>
                  <m:oMath xmlns:m="http://schemas.openxmlformats.org/officeDocument/2006/math">
                    <m:r>
                      <a:rPr lang="en-US" b="1" i="1">
                        <a:latin typeface="Cambria Math" panose="02040503050406030204" pitchFamily="18" charset="0"/>
                      </a:rPr>
                      <m:t>𝒗</m:t>
                    </m:r>
                  </m:oMath>
                </a14:m>
                <a:r>
                  <a:rPr lang="en-US" dirty="0"/>
                  <a:t>): </a:t>
                </a:r>
                <a:endParaRPr lang="en-US" b="1" dirty="0"/>
              </a:p>
            </p:txBody>
          </p:sp>
        </mc:Choice>
        <mc:Fallback xmlns="">
          <p:sp>
            <p:nvSpPr>
              <p:cNvPr id="23" name="Content Placeholder 2">
                <a:extLst>
                  <a:ext uri="{FF2B5EF4-FFF2-40B4-BE49-F238E27FC236}">
                    <a16:creationId xmlns:a16="http://schemas.microsoft.com/office/drawing/2014/main" id="{EFA5BE87-CC00-3302-BBF4-33C837375218}"/>
                  </a:ext>
                </a:extLst>
              </p:cNvPr>
              <p:cNvSpPr txBox="1">
                <a:spLocks noRot="1" noChangeAspect="1" noMove="1" noResize="1" noEditPoints="1" noAdjustHandles="1" noChangeArrowheads="1" noChangeShapeType="1" noTextEdit="1"/>
              </p:cNvSpPr>
              <p:nvPr/>
            </p:nvSpPr>
            <p:spPr>
              <a:xfrm>
                <a:off x="303177" y="5325131"/>
                <a:ext cx="11292192" cy="489558"/>
              </a:xfrm>
              <a:prstGeom prst="rect">
                <a:avLst/>
              </a:prstGeom>
              <a:blipFill>
                <a:blip r:embed="rId6"/>
                <a:stretch>
                  <a:fillRect l="-1134"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70C2823-9C5F-B850-871E-75C3287CC670}"/>
                  </a:ext>
                </a:extLst>
              </p:cNvPr>
              <p:cNvSpPr txBox="1"/>
              <p:nvPr/>
            </p:nvSpPr>
            <p:spPr>
              <a:xfrm>
                <a:off x="3048811" y="5998881"/>
                <a:ext cx="6094378" cy="461665"/>
              </a:xfrm>
              <a:prstGeom prst="rect">
                <a:avLst/>
              </a:prstGeom>
              <a:noFill/>
            </p:spPr>
            <p:txBody>
              <a:bodyPr wrap="square">
                <a:spAutoFit/>
              </a:bodyPr>
              <a:lstStyle/>
              <a:p>
                <a:pPr algn="ctr"/>
                <a14:m>
                  <m:oMathPara xmlns:m="http://schemas.openxmlformats.org/officeDocument/2006/math">
                    <m:oMath>
                      <m:sSub>
                        <m:sSubPr>
                          <m:ctrlPr>
                            <a:rPr lang="el-GR" sz="2400" b="1" i="1" smtClean="0">
                              <a:solidFill>
                                <a:schemeClr val="tx1"/>
                              </a:solidFill>
                              <a:latin typeface="Cambria Math" panose="02040503050406030204" pitchFamily="18" charset="0"/>
                              <a:ea typeface="Cambria Math" panose="02040503050406030204" pitchFamily="18" charset="0"/>
                            </a:rPr>
                          </m:ctrlPr>
                        </m:sSubPr>
                        <m:e>
                          <m:r>
                            <a:rPr lang="el-GR" sz="2400" b="1" i="1" smtClean="0">
                              <a:solidFill>
                                <a:schemeClr val="tx1"/>
                              </a:solidFill>
                              <a:latin typeface="Cambria Math" panose="02040503050406030204" pitchFamily="18" charset="0"/>
                              <a:ea typeface="Cambria Math" panose="02040503050406030204" pitchFamily="18" charset="0"/>
                            </a:rPr>
                            <m:t>𝜦</m:t>
                          </m:r>
                        </m:e>
                        <m:sub>
                          <m:r>
                            <a:rPr lang="en-US" sz="2400" b="0" i="1" smtClean="0">
                              <a:solidFill>
                                <a:schemeClr val="tx1"/>
                              </a:solidFill>
                              <a:latin typeface="Cambria Math" panose="02040503050406030204" pitchFamily="18" charset="0"/>
                              <a:ea typeface="Cambria Math" panose="02040503050406030204" pitchFamily="18" charset="0"/>
                            </a:rPr>
                            <m:t>0</m:t>
                          </m:r>
                        </m:sub>
                      </m:sSub>
                      <m:d>
                        <m:dPr>
                          <m:begChr m:val="["/>
                          <m:endChr m:val="]"/>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𝒗</m:t>
                          </m:r>
                        </m:e>
                      </m:d>
                      <m:r>
                        <a:rPr lang="en-US" sz="2400" b="0"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𝒗</m:t>
                      </m:r>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𝒗</m:t>
                          </m:r>
                        </m:e>
                      </m:d>
                    </m:oMath>
                  </m:oMathPara>
                </a14:m>
                <a:endParaRPr lang="en-US" sz="2400" dirty="0">
                  <a:solidFill>
                    <a:schemeClr val="tx1"/>
                  </a:solidFill>
                </a:endParaRPr>
              </a:p>
            </p:txBody>
          </p:sp>
        </mc:Choice>
        <mc:Fallback xmlns="">
          <p:sp>
            <p:nvSpPr>
              <p:cNvPr id="25" name="TextBox 24">
                <a:extLst>
                  <a:ext uri="{FF2B5EF4-FFF2-40B4-BE49-F238E27FC236}">
                    <a16:creationId xmlns:a16="http://schemas.microsoft.com/office/drawing/2014/main" id="{E70C2823-9C5F-B850-871E-75C3287CC670}"/>
                  </a:ext>
                </a:extLst>
              </p:cNvPr>
              <p:cNvSpPr txBox="1">
                <a:spLocks noRot="1" noChangeAspect="1" noMove="1" noResize="1" noEditPoints="1" noAdjustHandles="1" noChangeArrowheads="1" noChangeShapeType="1" noTextEdit="1"/>
              </p:cNvSpPr>
              <p:nvPr/>
            </p:nvSpPr>
            <p:spPr>
              <a:xfrm>
                <a:off x="3048811" y="5998881"/>
                <a:ext cx="6094378" cy="461665"/>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27566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D36D7-3302-9432-645B-B9F9DC38B2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CA699-2A7C-FA5E-7D80-3961A8346832}"/>
              </a:ext>
            </a:extLst>
          </p:cNvPr>
          <p:cNvSpPr>
            <a:spLocks noGrp="1"/>
          </p:cNvSpPr>
          <p:nvPr>
            <p:ph idx="1"/>
          </p:nvPr>
        </p:nvSpPr>
        <p:spPr>
          <a:xfrm>
            <a:off x="303177" y="1325563"/>
            <a:ext cx="11292192" cy="489558"/>
          </a:xfrm>
        </p:spPr>
        <p:txBody>
          <a:bodyPr>
            <a:normAutofit/>
          </a:bodyPr>
          <a:lstStyle/>
          <a:p>
            <a:pPr marL="0" indent="0">
              <a:buNone/>
            </a:pPr>
            <a:r>
              <a:rPr lang="en-US" dirty="0"/>
              <a:t>Then we have:</a:t>
            </a:r>
            <a:endParaRPr lang="en-US" b="1"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F046C9-51DC-6275-A216-FEC5275C4CF0}"/>
                  </a:ext>
                </a:extLst>
              </p:cNvPr>
              <p:cNvSpPr txBox="1"/>
              <p:nvPr/>
            </p:nvSpPr>
            <p:spPr>
              <a:xfrm>
                <a:off x="3048811" y="1858144"/>
                <a:ext cx="6094378" cy="461665"/>
              </a:xfrm>
              <a:prstGeom prst="rect">
                <a:avLst/>
              </a:prstGeom>
              <a:noFill/>
            </p:spPr>
            <p:txBody>
              <a:bodyPr wrap="square">
                <a:spAutoFit/>
              </a:bodyPr>
              <a:lstStyle/>
              <a:p>
                <a:pPr algn="ctr"/>
                <a14:m>
                  <m:oMathPara xmlns:m="http://schemas.openxmlformats.org/officeDocument/2006/math">
                    <m:oMath>
                      <m:sSub>
                        <m:sSubPr>
                          <m:ctrlPr>
                            <a:rPr lang="el-GR" sz="2400" b="1" i="1">
                              <a:solidFill>
                                <a:srgbClr val="FF0000"/>
                              </a:solidFill>
                              <a:latin typeface="Cambria Math" panose="02040503050406030204" pitchFamily="18" charset="0"/>
                              <a:ea typeface="Cambria Math" panose="02040503050406030204" pitchFamily="18" charset="0"/>
                            </a:rPr>
                          </m:ctrlPr>
                        </m:sSubPr>
                        <m:e>
                          <m:r>
                            <a:rPr lang="el-GR" sz="2400" b="1" i="1">
                              <a:solidFill>
                                <a:srgbClr val="FF0000"/>
                              </a:solidFill>
                              <a:latin typeface="Cambria Math" panose="02040503050406030204" pitchFamily="18" charset="0"/>
                              <a:ea typeface="Cambria Math" panose="02040503050406030204" pitchFamily="18" charset="0"/>
                            </a:rPr>
                            <m:t>𝜦</m:t>
                          </m:r>
                        </m:e>
                        <m:sub>
                          <m:r>
                            <a:rPr lang="en-US" sz="2400" i="1">
                              <a:solidFill>
                                <a:srgbClr val="FF0000"/>
                              </a:solidFill>
                              <a:latin typeface="Cambria Math" panose="02040503050406030204" pitchFamily="18" charset="0"/>
                              <a:ea typeface="Cambria Math" panose="02040503050406030204" pitchFamily="18" charset="0"/>
                            </a:rPr>
                            <m:t>0</m:t>
                          </m:r>
                        </m:sub>
                      </m:sSub>
                      <m:d>
                        <m:dPr>
                          <m:begChr m:val="["/>
                          <m:endChr m:val="]"/>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𝜺</m:t>
                          </m:r>
                        </m:e>
                      </m:d>
                      <m:r>
                        <a:rPr lang="en-US" sz="2400" b="1" i="1" smtClean="0">
                          <a:latin typeface="Cambria Math" panose="02040503050406030204" pitchFamily="18" charset="0"/>
                          <a:ea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𝜺</m:t>
                          </m:r>
                        </m:e>
                      </m:acc>
                      <m:r>
                        <a:rPr lang="en-US" sz="2400" b="1" i="1">
                          <a:latin typeface="Cambria Math" panose="02040503050406030204" pitchFamily="18" charset="0"/>
                        </a:rPr>
                        <m:t>+</m:t>
                      </m:r>
                      <m:sSub>
                        <m:sSubPr>
                          <m:ctrlPr>
                            <a:rPr lang="en-US" sz="2400" b="1">
                              <a:latin typeface="Cambria Math" panose="02040503050406030204" pitchFamily="18" charset="0"/>
                            </a:rPr>
                          </m:ctrlPr>
                        </m:sSubPr>
                        <m:e>
                          <m:r>
                            <a:rPr lang="en-US" sz="2400" b="1">
                              <a:latin typeface="Cambria Math" panose="02040503050406030204" pitchFamily="18" charset="0"/>
                            </a:rPr>
                            <m:t>𝚪</m:t>
                          </m:r>
                        </m:e>
                        <m:sub>
                          <m:r>
                            <a:rPr lang="en-US" sz="2400" i="1">
                              <a:latin typeface="Cambria Math" panose="02040503050406030204" pitchFamily="18" charset="0"/>
                            </a:rPr>
                            <m:t>0</m:t>
                          </m:r>
                        </m:sub>
                      </m:sSub>
                      <m:r>
                        <m:rPr>
                          <m:nor/>
                        </m:rPr>
                        <a:rPr lang="en-US" sz="2400" b="1" i="0" dirty="0"/>
                        <m:t> </m:t>
                      </m:r>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𝑪</m:t>
                          </m:r>
                          <m:r>
                            <a:rPr lang="en-US" sz="2400" b="1" i="1">
                              <a:latin typeface="Cambria Math" panose="02040503050406030204" pitchFamily="18" charset="0"/>
                            </a:rPr>
                            <m:t>:</m:t>
                          </m:r>
                          <m:r>
                            <a:rPr lang="en-US" sz="2400" b="1" i="1">
                              <a:latin typeface="Cambria Math" panose="02040503050406030204" pitchFamily="18" charset="0"/>
                            </a:rPr>
                            <m:t>𝝁</m:t>
                          </m:r>
                        </m:e>
                      </m:d>
                    </m:oMath>
                  </m:oMathPara>
                </a14:m>
                <a:endParaRPr lang="en-US" sz="2400" dirty="0"/>
              </a:p>
            </p:txBody>
          </p:sp>
        </mc:Choice>
        <mc:Fallback xmlns="">
          <p:sp>
            <p:nvSpPr>
              <p:cNvPr id="6" name="TextBox 5">
                <a:extLst>
                  <a:ext uri="{FF2B5EF4-FFF2-40B4-BE49-F238E27FC236}">
                    <a16:creationId xmlns:a16="http://schemas.microsoft.com/office/drawing/2014/main" id="{90F046C9-51DC-6275-A216-FEC5275C4CF0}"/>
                  </a:ext>
                </a:extLst>
              </p:cNvPr>
              <p:cNvSpPr txBox="1">
                <a:spLocks noRot="1" noChangeAspect="1" noMove="1" noResize="1" noEditPoints="1" noAdjustHandles="1" noChangeArrowheads="1" noChangeShapeType="1" noTextEdit="1"/>
              </p:cNvSpPr>
              <p:nvPr/>
            </p:nvSpPr>
            <p:spPr>
              <a:xfrm>
                <a:off x="3048811" y="1858144"/>
                <a:ext cx="6094378" cy="461665"/>
              </a:xfrm>
              <a:prstGeom prst="rect">
                <a:avLst/>
              </a:prstGeom>
              <a:blipFill>
                <a:blip r:embed="rId2"/>
                <a:stretch>
                  <a:fillRect b="-6579"/>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F84016A3-417E-5264-1D8B-8B65096976FC}"/>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TFA (5)</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34645C58-4502-F002-CC71-81362E3B1B7C}"/>
                  </a:ext>
                </a:extLst>
              </p:cNvPr>
              <p:cNvSpPr txBox="1">
                <a:spLocks/>
              </p:cNvSpPr>
              <p:nvPr/>
            </p:nvSpPr>
            <p:spPr>
              <a:xfrm>
                <a:off x="303177" y="2544120"/>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Assuming the operator </a:t>
                </a:r>
                <a14:m>
                  <m:oMath xmlns:m="http://schemas.openxmlformats.org/officeDocument/2006/math">
                    <m:sSub>
                      <m:sSubPr>
                        <m:ctrlPr>
                          <a:rPr lang="el-GR" b="1" i="1">
                            <a:latin typeface="Cambria Math" panose="02040503050406030204" pitchFamily="18" charset="0"/>
                            <a:ea typeface="Cambria Math" panose="02040503050406030204" pitchFamily="18" charset="0"/>
                          </a:rPr>
                        </m:ctrlPr>
                      </m:sSubPr>
                      <m:e>
                        <m:r>
                          <a:rPr lang="el-GR" b="1" i="1">
                            <a:latin typeface="Cambria Math" panose="02040503050406030204" pitchFamily="18" charset="0"/>
                            <a:ea typeface="Cambria Math" panose="02040503050406030204" pitchFamily="18" charset="0"/>
                          </a:rPr>
                          <m:t>𝜦</m:t>
                        </m:r>
                      </m:e>
                      <m:sub>
                        <m:r>
                          <a:rPr lang="en-US" i="1">
                            <a:latin typeface="Cambria Math" panose="02040503050406030204" pitchFamily="18" charset="0"/>
                            <a:ea typeface="Cambria Math" panose="02040503050406030204" pitchFamily="18" charset="0"/>
                          </a:rPr>
                          <m:t>0</m:t>
                        </m:r>
                      </m:sub>
                    </m:sSub>
                  </m:oMath>
                </a14:m>
                <a:r>
                  <a:rPr lang="en-US" dirty="0"/>
                  <a:t> is invertible: </a:t>
                </a:r>
                <a:endParaRPr lang="en-US" b="1" dirty="0"/>
              </a:p>
            </p:txBody>
          </p:sp>
        </mc:Choice>
        <mc:Fallback xmlns="">
          <p:sp>
            <p:nvSpPr>
              <p:cNvPr id="7" name="Content Placeholder 2">
                <a:extLst>
                  <a:ext uri="{FF2B5EF4-FFF2-40B4-BE49-F238E27FC236}">
                    <a16:creationId xmlns:a16="http://schemas.microsoft.com/office/drawing/2014/main" id="{34645C58-4502-F002-CC71-81362E3B1B7C}"/>
                  </a:ext>
                </a:extLst>
              </p:cNvPr>
              <p:cNvSpPr txBox="1">
                <a:spLocks noRot="1" noChangeAspect="1" noMove="1" noResize="1" noEditPoints="1" noAdjustHandles="1" noChangeArrowheads="1" noChangeShapeType="1" noTextEdit="1"/>
              </p:cNvSpPr>
              <p:nvPr/>
            </p:nvSpPr>
            <p:spPr>
              <a:xfrm>
                <a:off x="303177" y="2544120"/>
                <a:ext cx="11292192" cy="489558"/>
              </a:xfrm>
              <a:prstGeom prst="rect">
                <a:avLst/>
              </a:prstGeom>
              <a:blipFill>
                <a:blip r:embed="rId3"/>
                <a:stretch>
                  <a:fillRect l="-1134" t="-20988" b="-308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6CB6094-1DFD-6B22-142F-1E6DC9D9E610}"/>
                  </a:ext>
                </a:extLst>
              </p:cNvPr>
              <p:cNvSpPr txBox="1"/>
              <p:nvPr/>
            </p:nvSpPr>
            <p:spPr>
              <a:xfrm>
                <a:off x="3048811" y="3189892"/>
                <a:ext cx="6094378" cy="468205"/>
              </a:xfrm>
              <a:prstGeom prst="rect">
                <a:avLst/>
              </a:prstGeom>
              <a:noFill/>
            </p:spPr>
            <p:txBody>
              <a:bodyPr wrap="square">
                <a:spAutoFit/>
              </a:bodyPr>
              <a:lstStyle/>
              <a:p>
                <a:pPr algn="ctr"/>
                <a14:m>
                  <m:oMathPara xmlns:m="http://schemas.openxmlformats.org/officeDocument/2006/math">
                    <m:oMath>
                      <m:r>
                        <a:rPr lang="en-US" sz="2400" b="1" i="1" smtClean="0">
                          <a:latin typeface="Cambria Math" panose="02040503050406030204" pitchFamily="18" charset="0"/>
                          <a:ea typeface="Cambria Math" panose="02040503050406030204" pitchFamily="18" charset="0"/>
                        </a:rPr>
                        <m:t>𝜺</m:t>
                      </m:r>
                      <m:r>
                        <a:rPr lang="en-US" sz="2400" b="1" i="1" smtClean="0">
                          <a:latin typeface="Cambria Math" panose="02040503050406030204" pitchFamily="18" charset="0"/>
                          <a:ea typeface="Cambria Math" panose="02040503050406030204" pitchFamily="18" charset="0"/>
                        </a:rPr>
                        <m:t>=</m:t>
                      </m:r>
                      <m:sSubSup>
                        <m:sSubSupPr>
                          <m:ctrlPr>
                            <a:rPr lang="el-GR" sz="2400" b="1" i="1">
                              <a:solidFill>
                                <a:srgbClr val="FF0000"/>
                              </a:solidFill>
                              <a:latin typeface="Cambria Math" panose="02040503050406030204" pitchFamily="18" charset="0"/>
                              <a:ea typeface="Cambria Math" panose="02040503050406030204" pitchFamily="18" charset="0"/>
                            </a:rPr>
                          </m:ctrlPr>
                        </m:sSubSupPr>
                        <m:e>
                          <m:r>
                            <a:rPr lang="el-GR" sz="2400" b="1" i="1">
                              <a:solidFill>
                                <a:srgbClr val="FF0000"/>
                              </a:solidFill>
                              <a:latin typeface="Cambria Math" panose="02040503050406030204" pitchFamily="18" charset="0"/>
                              <a:ea typeface="Cambria Math" panose="02040503050406030204" pitchFamily="18" charset="0"/>
                            </a:rPr>
                            <m:t>𝜦</m:t>
                          </m:r>
                        </m:e>
                        <m:sub>
                          <m:r>
                            <a:rPr lang="en-US" sz="2400" i="1">
                              <a:solidFill>
                                <a:srgbClr val="FF0000"/>
                              </a:solidFill>
                              <a:latin typeface="Cambria Math" panose="02040503050406030204" pitchFamily="18" charset="0"/>
                              <a:ea typeface="Cambria Math" panose="02040503050406030204" pitchFamily="18" charset="0"/>
                            </a:rPr>
                            <m:t>0</m:t>
                          </m:r>
                        </m:sub>
                        <m:sup>
                          <m:r>
                            <a:rPr lang="en-US" sz="2400" b="0" i="1" smtClean="0">
                              <a:solidFill>
                                <a:srgbClr val="FF0000"/>
                              </a:solidFill>
                              <a:latin typeface="Cambria Math" panose="02040503050406030204" pitchFamily="18" charset="0"/>
                              <a:ea typeface="Cambria Math" panose="02040503050406030204" pitchFamily="18" charset="0"/>
                            </a:rPr>
                            <m:t>−1</m:t>
                          </m:r>
                        </m:sup>
                      </m:sSubSup>
                      <m:d>
                        <m:dPr>
                          <m:begChr m:val="["/>
                          <m:endChr m:val="]"/>
                          <m:ctrlPr>
                            <a:rPr lang="en-US" sz="2400" b="1" i="1">
                              <a:latin typeface="Cambria Math" panose="02040503050406030204" pitchFamily="18" charset="0"/>
                            </a:rPr>
                          </m:ctrlPr>
                        </m:dPr>
                        <m:e>
                          <m:acc>
                            <m:accPr>
                              <m:chr m:val="̅"/>
                              <m:ctrlPr>
                                <a:rPr lang="en-US" sz="2400" b="1" i="1">
                                  <a:latin typeface="Cambria Math" panose="02040503050406030204" pitchFamily="18" charset="0"/>
                                </a:rPr>
                              </m:ctrlPr>
                            </m:accPr>
                            <m:e>
                              <m:r>
                                <a:rPr lang="en-US" sz="2400" b="1" i="1">
                                  <a:latin typeface="Cambria Math" panose="02040503050406030204" pitchFamily="18" charset="0"/>
                                </a:rPr>
                                <m:t>𝜺</m:t>
                              </m:r>
                            </m:e>
                          </m:acc>
                        </m:e>
                      </m:d>
                      <m:r>
                        <a:rPr lang="en-US" sz="2400" b="1" i="1" smtClean="0">
                          <a:latin typeface="Cambria Math" panose="02040503050406030204" pitchFamily="18" charset="0"/>
                          <a:ea typeface="Cambria Math" panose="02040503050406030204" pitchFamily="18" charset="0"/>
                        </a:rPr>
                        <m:t>+</m:t>
                      </m:r>
                      <m:sSubSup>
                        <m:sSubSupPr>
                          <m:ctrlPr>
                            <a:rPr lang="el-GR" sz="2400" b="1" i="1">
                              <a:solidFill>
                                <a:srgbClr val="FF0000"/>
                              </a:solidFill>
                              <a:latin typeface="Cambria Math" panose="02040503050406030204" pitchFamily="18" charset="0"/>
                              <a:ea typeface="Cambria Math" panose="02040503050406030204" pitchFamily="18" charset="0"/>
                            </a:rPr>
                          </m:ctrlPr>
                        </m:sSubSupPr>
                        <m:e>
                          <m:r>
                            <a:rPr lang="el-GR" sz="2400" b="1" i="1">
                              <a:solidFill>
                                <a:srgbClr val="FF0000"/>
                              </a:solidFill>
                              <a:latin typeface="Cambria Math" panose="02040503050406030204" pitchFamily="18" charset="0"/>
                              <a:ea typeface="Cambria Math" panose="02040503050406030204" pitchFamily="18" charset="0"/>
                            </a:rPr>
                            <m:t>𝜦</m:t>
                          </m:r>
                        </m:e>
                        <m:sub>
                          <m:r>
                            <a:rPr lang="en-US" sz="2400" i="1">
                              <a:solidFill>
                                <a:srgbClr val="FF0000"/>
                              </a:solidFill>
                              <a:latin typeface="Cambria Math" panose="02040503050406030204" pitchFamily="18" charset="0"/>
                              <a:ea typeface="Cambria Math" panose="02040503050406030204" pitchFamily="18" charset="0"/>
                            </a:rPr>
                            <m:t>0</m:t>
                          </m:r>
                        </m:sub>
                        <m:sup>
                          <m:r>
                            <a:rPr lang="en-US" sz="2400" i="1">
                              <a:solidFill>
                                <a:srgbClr val="FF0000"/>
                              </a:solidFill>
                              <a:latin typeface="Cambria Math" panose="02040503050406030204" pitchFamily="18" charset="0"/>
                              <a:ea typeface="Cambria Math" panose="02040503050406030204" pitchFamily="18" charset="0"/>
                            </a:rPr>
                            <m:t>−1</m:t>
                          </m:r>
                        </m:sup>
                      </m:sSubSup>
                      <m:sSub>
                        <m:sSubPr>
                          <m:ctrlPr>
                            <a:rPr lang="en-US" sz="2400" b="1">
                              <a:latin typeface="Cambria Math" panose="02040503050406030204" pitchFamily="18" charset="0"/>
                            </a:rPr>
                          </m:ctrlPr>
                        </m:sSubPr>
                        <m:e>
                          <m:r>
                            <a:rPr lang="en-US" sz="2400" b="1">
                              <a:latin typeface="Cambria Math" panose="02040503050406030204" pitchFamily="18" charset="0"/>
                            </a:rPr>
                            <m:t>𝚪</m:t>
                          </m:r>
                        </m:e>
                        <m:sub>
                          <m:r>
                            <a:rPr lang="en-US" sz="2400" i="1">
                              <a:latin typeface="Cambria Math" panose="02040503050406030204" pitchFamily="18" charset="0"/>
                            </a:rPr>
                            <m:t>0</m:t>
                          </m:r>
                        </m:sub>
                      </m:sSub>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𝑪</m:t>
                          </m:r>
                          <m:r>
                            <a:rPr lang="en-US" sz="2400" b="1" i="1">
                              <a:latin typeface="Cambria Math" panose="02040503050406030204" pitchFamily="18" charset="0"/>
                            </a:rPr>
                            <m:t>:</m:t>
                          </m:r>
                          <m:r>
                            <a:rPr lang="en-US" sz="2400" b="1" i="1">
                              <a:latin typeface="Cambria Math" panose="02040503050406030204" pitchFamily="18" charset="0"/>
                            </a:rPr>
                            <m:t>𝝁</m:t>
                          </m:r>
                        </m:e>
                      </m:d>
                    </m:oMath>
                  </m:oMathPara>
                </a14:m>
                <a:endParaRPr lang="en-US" sz="2400" dirty="0"/>
              </a:p>
            </p:txBody>
          </p:sp>
        </mc:Choice>
        <mc:Fallback xmlns="">
          <p:sp>
            <p:nvSpPr>
              <p:cNvPr id="9" name="TextBox 8">
                <a:extLst>
                  <a:ext uri="{FF2B5EF4-FFF2-40B4-BE49-F238E27FC236}">
                    <a16:creationId xmlns:a16="http://schemas.microsoft.com/office/drawing/2014/main" id="{A6CB6094-1DFD-6B22-142F-1E6DC9D9E610}"/>
                  </a:ext>
                </a:extLst>
              </p:cNvPr>
              <p:cNvSpPr txBox="1">
                <a:spLocks noRot="1" noChangeAspect="1" noMove="1" noResize="1" noEditPoints="1" noAdjustHandles="1" noChangeArrowheads="1" noChangeShapeType="1" noTextEdit="1"/>
              </p:cNvSpPr>
              <p:nvPr/>
            </p:nvSpPr>
            <p:spPr>
              <a:xfrm>
                <a:off x="3048811" y="3189892"/>
                <a:ext cx="6094378" cy="468205"/>
              </a:xfrm>
              <a:prstGeom prst="rect">
                <a:avLst/>
              </a:prstGeom>
              <a:blipFill>
                <a:blip r:embed="rId4"/>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327A625A-3A3C-7DEB-3309-D7CF5B1A58DB}"/>
                  </a:ext>
                </a:extLst>
              </p:cNvPr>
              <p:cNvSpPr txBox="1">
                <a:spLocks/>
              </p:cNvSpPr>
              <p:nvPr/>
            </p:nvSpPr>
            <p:spPr>
              <a:xfrm>
                <a:off x="303177" y="3869683"/>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Apply the TFA assumption of constant eigenstrain in partition </a:t>
                </a:r>
                <a14:m>
                  <m:oMath xmlns:m="http://schemas.openxmlformats.org/officeDocument/2006/math">
                    <m:r>
                      <a:rPr lang="en-US" b="0" i="1" smtClean="0">
                        <a:latin typeface="Cambria Math" panose="02040503050406030204" pitchFamily="18" charset="0"/>
                      </a:rPr>
                      <m:t>𝐵</m:t>
                    </m:r>
                  </m:oMath>
                </a14:m>
                <a:r>
                  <a:rPr lang="en-US" dirty="0"/>
                  <a:t>: </a:t>
                </a:r>
              </a:p>
            </p:txBody>
          </p:sp>
        </mc:Choice>
        <mc:Fallback xmlns="">
          <p:sp>
            <p:nvSpPr>
              <p:cNvPr id="11" name="Content Placeholder 2">
                <a:extLst>
                  <a:ext uri="{FF2B5EF4-FFF2-40B4-BE49-F238E27FC236}">
                    <a16:creationId xmlns:a16="http://schemas.microsoft.com/office/drawing/2014/main" id="{327A625A-3A3C-7DEB-3309-D7CF5B1A58DB}"/>
                  </a:ext>
                </a:extLst>
              </p:cNvPr>
              <p:cNvSpPr txBox="1">
                <a:spLocks noRot="1" noChangeAspect="1" noMove="1" noResize="1" noEditPoints="1" noAdjustHandles="1" noChangeArrowheads="1" noChangeShapeType="1" noTextEdit="1"/>
              </p:cNvSpPr>
              <p:nvPr/>
            </p:nvSpPr>
            <p:spPr>
              <a:xfrm>
                <a:off x="303177" y="3869683"/>
                <a:ext cx="11292192" cy="489558"/>
              </a:xfrm>
              <a:prstGeom prst="rect">
                <a:avLst/>
              </a:prstGeom>
              <a:blipFill>
                <a:blip r:embed="rId5"/>
                <a:stretch>
                  <a:fillRect l="-1134"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B1034C4-25F4-393A-743F-2ABB5E7D6168}"/>
                  </a:ext>
                </a:extLst>
              </p:cNvPr>
              <p:cNvSpPr txBox="1"/>
              <p:nvPr/>
            </p:nvSpPr>
            <p:spPr>
              <a:xfrm>
                <a:off x="3048811" y="4460083"/>
                <a:ext cx="7447334" cy="1006879"/>
              </a:xfrm>
              <a:prstGeom prst="rect">
                <a:avLst/>
              </a:prstGeom>
              <a:noFill/>
            </p:spPr>
            <p:txBody>
              <a:bodyPr wrap="square">
                <a:spAutoFit/>
              </a:bodyPr>
              <a:lstStyle/>
              <a:p>
                <a:pPr algn="ctr"/>
                <a14:m>
                  <m:oMathPara xmlns:m="http://schemas.openxmlformats.org/officeDocument/2006/math">
                    <m:oMath>
                      <m:r>
                        <a:rPr lang="en-US" sz="2400" b="1" i="1" smtClean="0">
                          <a:latin typeface="Cambria Math" panose="02040503050406030204" pitchFamily="18" charset="0"/>
                        </a:rPr>
                        <m:t>𝝁</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r>
                        <a:rPr lang="en-US" sz="2400" b="1"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𝐵</m:t>
                          </m:r>
                        </m:sub>
                        <m:sup>
                          <m:r>
                            <a:rPr lang="en-US" sz="2400" b="1" i="1" smtClean="0">
                              <a:latin typeface="Cambria Math" panose="02040503050406030204" pitchFamily="18" charset="0"/>
                            </a:rPr>
                            <m:t> </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𝜒</m:t>
                              </m:r>
                            </m:e>
                            <m:sub>
                              <m:r>
                                <a:rPr lang="en-US" sz="2400" b="0" i="1" smtClean="0">
                                  <a:latin typeface="Cambria Math" panose="02040503050406030204" pitchFamily="18" charset="0"/>
                                </a:rPr>
                                <m:t>𝐵</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𝝁</m:t>
                              </m:r>
                            </m:e>
                            <m:sub>
                              <m:r>
                                <a:rPr lang="en-US" sz="2400" b="0" i="1" smtClean="0">
                                  <a:latin typeface="Cambria Math" panose="02040503050406030204" pitchFamily="18" charset="0"/>
                                </a:rPr>
                                <m:t>𝐵</m:t>
                              </m:r>
                            </m:sub>
                          </m:sSub>
                        </m:e>
                      </m:nary>
                      <m:r>
                        <a:rPr lang="en-US" sz="2400" b="1" i="1" smtClean="0">
                          <a:latin typeface="Cambria Math" panose="02040503050406030204" pitchFamily="18" charset="0"/>
                        </a:rPr>
                        <m:t>;      </m:t>
                      </m:r>
                      <m:sSub>
                        <m:sSubPr>
                          <m:ctrlPr>
                            <a:rPr lang="en-US" sz="2400" b="0" i="1">
                              <a:latin typeface="Cambria Math" panose="02040503050406030204" pitchFamily="18" charset="0"/>
                            </a:rPr>
                          </m:ctrlPr>
                        </m:sSubPr>
                        <m:e>
                          <m:r>
                            <a:rPr lang="en-US" sz="2400" b="0" i="1">
                              <a:latin typeface="Cambria Math" panose="02040503050406030204" pitchFamily="18" charset="0"/>
                            </a:rPr>
                            <m:t>𝜒</m:t>
                          </m:r>
                        </m:e>
                        <m:sub>
                          <m:r>
                            <a:rPr lang="en-US" sz="2400" i="1">
                              <a:latin typeface="Cambria Math" panose="02040503050406030204" pitchFamily="18" charset="0"/>
                            </a:rPr>
                            <m:t>𝐵</m:t>
                          </m:r>
                        </m:sub>
                      </m:sSub>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1 </m:t>
                              </m:r>
                              <m:r>
                                <a:rPr lang="en-US" sz="2400" b="0" i="1" smtClean="0">
                                  <a:latin typeface="Cambria Math" panose="02040503050406030204" pitchFamily="18" charset="0"/>
                                </a:rPr>
                                <m:t>𝑖𝑓</m:t>
                              </m:r>
                              <m:r>
                                <a:rPr lang="en-US" sz="2400" b="0" i="1" smtClean="0">
                                  <a:latin typeface="Cambria Math" panose="02040503050406030204" pitchFamily="18" charset="0"/>
                                </a:rPr>
                                <m:t> </m:t>
                              </m:r>
                              <m:r>
                                <a:rPr lang="en-US" sz="2400" b="1" i="1" smtClean="0">
                                  <a:latin typeface="Cambria Math" panose="02040503050406030204" pitchFamily="18" charset="0"/>
                                </a:rPr>
                                <m:t>𝒙</m:t>
                              </m:r>
                              <m:r>
                                <a:rPr lang="en-US" sz="2400" b="0" i="1" smtClean="0">
                                  <a:latin typeface="Cambria Math" panose="02040503050406030204" pitchFamily="18" charset="0"/>
                                  <a:ea typeface="Cambria Math" panose="02040503050406030204" pitchFamily="18" charset="0"/>
                                </a:rPr>
                                <m:t>∈</m:t>
                              </m:r>
                              <m:sSub>
                                <m:sSubPr>
                                  <m:ctrlPr>
                                    <a:rPr lang="en-US" sz="2400" b="0" i="0" smtClean="0">
                                      <a:latin typeface="Cambria Math" panose="02040503050406030204" pitchFamily="18" charset="0"/>
                                      <a:ea typeface="Cambria Math" panose="02040503050406030204" pitchFamily="18" charset="0"/>
                                    </a:rPr>
                                  </m:ctrlPr>
                                </m:sSubPr>
                                <m:e>
                                  <m:r>
                                    <m:rPr>
                                      <m:sty m:val="p"/>
                                    </m:rPr>
                                    <a:rPr lang="en-US" sz="2400" b="0" i="0" smtClean="0">
                                      <a:latin typeface="Cambria Math" panose="02040503050406030204" pitchFamily="18" charset="0"/>
                                      <a:ea typeface="Cambria Math" panose="02040503050406030204" pitchFamily="18" charset="0"/>
                                    </a:rPr>
                                    <m:t>Θ</m:t>
                                  </m:r>
                                </m:e>
                                <m:sub>
                                  <m:r>
                                    <a:rPr lang="en-US" sz="2400" b="0" i="1" smtClean="0">
                                      <a:latin typeface="Cambria Math" panose="02040503050406030204" pitchFamily="18" charset="0"/>
                                      <a:ea typeface="Cambria Math" panose="02040503050406030204" pitchFamily="18" charset="0"/>
                                    </a:rPr>
                                    <m:t>𝐵</m:t>
                                  </m:r>
                                </m:sub>
                              </m:sSub>
                            </m:e>
                            <m:e>
                              <m:r>
                                <a:rPr lang="en-US" sz="2400" b="0" i="1" smtClean="0">
                                  <a:latin typeface="Cambria Math" panose="02040503050406030204" pitchFamily="18" charset="0"/>
                                </a:rPr>
                                <m:t>0 </m:t>
                              </m:r>
                              <m:r>
                                <a:rPr lang="en-US" sz="2400" i="1">
                                  <a:latin typeface="Cambria Math" panose="02040503050406030204" pitchFamily="18" charset="0"/>
                                </a:rPr>
                                <m:t>𝑖𝑓</m:t>
                              </m:r>
                              <m:r>
                                <a:rPr lang="en-US" sz="2400" i="1">
                                  <a:latin typeface="Cambria Math" panose="02040503050406030204" pitchFamily="18" charset="0"/>
                                </a:rPr>
                                <m:t> </m:t>
                              </m:r>
                              <m:r>
                                <a:rPr lang="en-US" sz="2400" b="1" i="1">
                                  <a:latin typeface="Cambria Math" panose="02040503050406030204" pitchFamily="18" charset="0"/>
                                </a:rPr>
                                <m:t>𝒙</m:t>
                              </m:r>
                              <m:r>
                                <a:rPr lang="en-US" sz="2400" b="0" i="1" smtClean="0">
                                  <a:latin typeface="Cambria Math" panose="02040503050406030204" pitchFamily="18" charset="0"/>
                                  <a:ea typeface="Cambria Math" panose="02040503050406030204" pitchFamily="18" charset="0"/>
                                </a:rPr>
                                <m:t>∉</m:t>
                              </m:r>
                              <m:sSub>
                                <m:sSubPr>
                                  <m:ctrlPr>
                                    <a:rPr lang="en-US" sz="2400">
                                      <a:latin typeface="Cambria Math" panose="02040503050406030204" pitchFamily="18" charset="0"/>
                                      <a:ea typeface="Cambria Math" panose="02040503050406030204" pitchFamily="18" charset="0"/>
                                    </a:rPr>
                                  </m:ctrlPr>
                                </m:sSubPr>
                                <m:e>
                                  <m:r>
                                    <m:rPr>
                                      <m:sty m:val="p"/>
                                    </m:rPr>
                                    <a:rPr lang="en-US" sz="2400">
                                      <a:latin typeface="Cambria Math" panose="02040503050406030204" pitchFamily="18" charset="0"/>
                                      <a:ea typeface="Cambria Math" panose="02040503050406030204" pitchFamily="18" charset="0"/>
                                    </a:rPr>
                                    <m:t>Θ</m:t>
                                  </m:r>
                                </m:e>
                                <m:sub>
                                  <m:r>
                                    <a:rPr lang="en-US" sz="2400" i="1">
                                      <a:latin typeface="Cambria Math" panose="02040503050406030204" pitchFamily="18" charset="0"/>
                                      <a:ea typeface="Cambria Math" panose="02040503050406030204" pitchFamily="18" charset="0"/>
                                    </a:rPr>
                                    <m:t>𝐵</m:t>
                                  </m:r>
                                </m:sub>
                              </m:sSub>
                            </m:e>
                          </m:eqArr>
                        </m:e>
                      </m:d>
                    </m:oMath>
                  </m:oMathPara>
                </a14:m>
                <a:endParaRPr lang="en-US" sz="2400" b="1" dirty="0"/>
              </a:p>
            </p:txBody>
          </p:sp>
        </mc:Choice>
        <mc:Fallback xmlns="">
          <p:sp>
            <p:nvSpPr>
              <p:cNvPr id="14" name="TextBox 13">
                <a:extLst>
                  <a:ext uri="{FF2B5EF4-FFF2-40B4-BE49-F238E27FC236}">
                    <a16:creationId xmlns:a16="http://schemas.microsoft.com/office/drawing/2014/main" id="{5B1034C4-25F4-393A-743F-2ABB5E7D6168}"/>
                  </a:ext>
                </a:extLst>
              </p:cNvPr>
              <p:cNvSpPr txBox="1">
                <a:spLocks noRot="1" noChangeAspect="1" noMove="1" noResize="1" noEditPoints="1" noAdjustHandles="1" noChangeArrowheads="1" noChangeShapeType="1" noTextEdit="1"/>
              </p:cNvSpPr>
              <p:nvPr/>
            </p:nvSpPr>
            <p:spPr>
              <a:xfrm>
                <a:off x="3048811" y="4460083"/>
                <a:ext cx="7447334" cy="1006879"/>
              </a:xfrm>
              <a:prstGeom prst="rect">
                <a:avLst/>
              </a:prstGeom>
              <a:blipFill>
                <a:blip r:embed="rId6"/>
                <a:stretch>
                  <a:fillRect/>
                </a:stretch>
              </a:blipFill>
            </p:spPr>
            <p:txBody>
              <a:bodyPr/>
              <a:lstStyle/>
              <a:p>
                <a:r>
                  <a:rPr lang="en-US">
                    <a:noFill/>
                  </a:rPr>
                  <a:t> </a:t>
                </a:r>
              </a:p>
            </p:txBody>
          </p:sp>
        </mc:Fallback>
      </mc:AlternateContent>
      <p:sp>
        <p:nvSpPr>
          <p:cNvPr id="18" name="Content Placeholder 2">
            <a:extLst>
              <a:ext uri="{FF2B5EF4-FFF2-40B4-BE49-F238E27FC236}">
                <a16:creationId xmlns:a16="http://schemas.microsoft.com/office/drawing/2014/main" id="{70B08601-98BC-7B32-5131-0808CD0CA5C7}"/>
              </a:ext>
            </a:extLst>
          </p:cNvPr>
          <p:cNvSpPr txBox="1">
            <a:spLocks/>
          </p:cNvSpPr>
          <p:nvPr/>
        </p:nvSpPr>
        <p:spPr>
          <a:xfrm>
            <a:off x="303177" y="5478886"/>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Then we have:</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142A68D4-C91A-EFE0-755A-C6492EDA95F7}"/>
                  </a:ext>
                </a:extLst>
              </p:cNvPr>
              <p:cNvSpPr txBox="1"/>
              <p:nvPr/>
            </p:nvSpPr>
            <p:spPr>
              <a:xfrm>
                <a:off x="3048811" y="5723665"/>
                <a:ext cx="6094378" cy="986552"/>
              </a:xfrm>
              <a:prstGeom prst="rect">
                <a:avLst/>
              </a:prstGeom>
              <a:noFill/>
            </p:spPr>
            <p:txBody>
              <a:bodyPr wrap="square">
                <a:spAutoFit/>
              </a:bodyPr>
              <a:lstStyle/>
              <a:p>
                <a:pPr algn="ctr"/>
                <a14:m>
                  <m:oMathPara xmlns:m="http://schemas.openxmlformats.org/officeDocument/2006/math">
                    <m:oMath>
                      <m:r>
                        <a:rPr lang="en-US" sz="2400" b="1" i="1" smtClean="0">
                          <a:solidFill>
                            <a:schemeClr val="tx1"/>
                          </a:solidFill>
                          <a:latin typeface="Cambria Math" panose="02040503050406030204" pitchFamily="18" charset="0"/>
                          <a:ea typeface="Cambria Math" panose="02040503050406030204" pitchFamily="18" charset="0"/>
                        </a:rPr>
                        <m:t>𝜺</m:t>
                      </m:r>
                      <m:r>
                        <a:rPr lang="en-US" sz="2400" b="1" i="1" smtClean="0">
                          <a:solidFill>
                            <a:schemeClr val="tx1"/>
                          </a:solidFill>
                          <a:latin typeface="Cambria Math" panose="02040503050406030204" pitchFamily="18" charset="0"/>
                          <a:ea typeface="Cambria Math" panose="02040503050406030204" pitchFamily="18" charset="0"/>
                        </a:rPr>
                        <m:t>=</m:t>
                      </m:r>
                      <m:sSubSup>
                        <m:sSubSupPr>
                          <m:ctrlPr>
                            <a:rPr lang="el-GR" sz="2400" b="1" i="1">
                              <a:solidFill>
                                <a:schemeClr val="tx1"/>
                              </a:solidFill>
                              <a:latin typeface="Cambria Math" panose="02040503050406030204" pitchFamily="18" charset="0"/>
                              <a:ea typeface="Cambria Math" panose="02040503050406030204" pitchFamily="18" charset="0"/>
                            </a:rPr>
                          </m:ctrlPr>
                        </m:sSubSupPr>
                        <m:e>
                          <m:r>
                            <a:rPr lang="el-GR" sz="2400" b="1" i="1">
                              <a:solidFill>
                                <a:schemeClr val="tx1"/>
                              </a:solidFill>
                              <a:latin typeface="Cambria Math" panose="02040503050406030204" pitchFamily="18" charset="0"/>
                              <a:ea typeface="Cambria Math" panose="02040503050406030204" pitchFamily="18" charset="0"/>
                            </a:rPr>
                            <m:t>𝜦</m:t>
                          </m:r>
                        </m:e>
                        <m:sub>
                          <m:r>
                            <a:rPr lang="en-US" sz="2400" i="1">
                              <a:solidFill>
                                <a:schemeClr val="tx1"/>
                              </a:solidFill>
                              <a:latin typeface="Cambria Math" panose="02040503050406030204" pitchFamily="18" charset="0"/>
                              <a:ea typeface="Cambria Math" panose="02040503050406030204" pitchFamily="18" charset="0"/>
                            </a:rPr>
                            <m:t>0</m:t>
                          </m:r>
                        </m:sub>
                        <m:sup>
                          <m:r>
                            <a:rPr lang="en-US" sz="2400" b="0" i="1" smtClean="0">
                              <a:solidFill>
                                <a:schemeClr val="tx1"/>
                              </a:solidFill>
                              <a:latin typeface="Cambria Math" panose="02040503050406030204" pitchFamily="18" charset="0"/>
                              <a:ea typeface="Cambria Math" panose="02040503050406030204" pitchFamily="18" charset="0"/>
                            </a:rPr>
                            <m:t>−1</m:t>
                          </m:r>
                        </m:sup>
                      </m:sSubSup>
                      <m:d>
                        <m:dPr>
                          <m:begChr m:val="["/>
                          <m:endChr m:val="]"/>
                          <m:ctrlPr>
                            <a:rPr lang="en-US" sz="2400" b="1" i="1">
                              <a:solidFill>
                                <a:schemeClr val="tx1"/>
                              </a:solidFill>
                              <a:latin typeface="Cambria Math" panose="02040503050406030204" pitchFamily="18" charset="0"/>
                            </a:rPr>
                          </m:ctrlPr>
                        </m:d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e>
                      </m:d>
                      <m:r>
                        <a:rPr lang="en-US" sz="2400" b="1" i="1" smtClean="0">
                          <a:solidFill>
                            <a:schemeClr val="tx1"/>
                          </a:solidFill>
                          <a:latin typeface="Cambria Math" panose="02040503050406030204" pitchFamily="18" charset="0"/>
                          <a:ea typeface="Cambria Math" panose="02040503050406030204" pitchFamily="18" charset="0"/>
                        </a:rPr>
                        <m:t>+</m:t>
                      </m:r>
                      <m:nary>
                        <m:naryPr>
                          <m:chr m:val="∑"/>
                          <m:ctrlPr>
                            <a:rPr lang="en-US" sz="2400" b="0" i="1" smtClean="0">
                              <a:solidFill>
                                <a:srgbClr val="FF0000"/>
                              </a:solidFill>
                              <a:latin typeface="Cambria Math" panose="02040503050406030204" pitchFamily="18" charset="0"/>
                              <a:ea typeface="Cambria Math" panose="02040503050406030204" pitchFamily="18" charset="0"/>
                            </a:rPr>
                          </m:ctrlPr>
                        </m:naryPr>
                        <m:sub>
                          <m:r>
                            <m:rPr>
                              <m:brk m:alnAt="23"/>
                            </m:rPr>
                            <a:rPr lang="en-US" sz="2400" b="0" i="1" smtClean="0">
                              <a:solidFill>
                                <a:srgbClr val="FF0000"/>
                              </a:solidFill>
                              <a:latin typeface="Cambria Math" panose="02040503050406030204" pitchFamily="18" charset="0"/>
                              <a:ea typeface="Cambria Math" panose="02040503050406030204" pitchFamily="18" charset="0"/>
                            </a:rPr>
                            <m:t>𝐵</m:t>
                          </m:r>
                        </m:sub>
                        <m:sup>
                          <m:r>
                            <a:rPr lang="en-US" sz="2400" b="1" i="1" smtClean="0">
                              <a:solidFill>
                                <a:srgbClr val="FF0000"/>
                              </a:solidFill>
                              <a:latin typeface="Cambria Math" panose="02040503050406030204" pitchFamily="18" charset="0"/>
                              <a:ea typeface="Cambria Math" panose="02040503050406030204" pitchFamily="18" charset="0"/>
                            </a:rPr>
                            <m:t> </m:t>
                          </m:r>
                        </m:sup>
                        <m:e>
                          <m:sSubSup>
                            <m:sSubSupPr>
                              <m:ctrlPr>
                                <a:rPr lang="el-GR" sz="2400" b="1" i="1">
                                  <a:solidFill>
                                    <a:schemeClr val="tx1"/>
                                  </a:solidFill>
                                  <a:latin typeface="Cambria Math" panose="02040503050406030204" pitchFamily="18" charset="0"/>
                                  <a:ea typeface="Cambria Math" panose="02040503050406030204" pitchFamily="18" charset="0"/>
                                </a:rPr>
                              </m:ctrlPr>
                            </m:sSubSupPr>
                            <m:e>
                              <m:r>
                                <a:rPr lang="el-GR" sz="2400" b="1" i="1">
                                  <a:solidFill>
                                    <a:schemeClr val="tx1"/>
                                  </a:solidFill>
                                  <a:latin typeface="Cambria Math" panose="02040503050406030204" pitchFamily="18" charset="0"/>
                                  <a:ea typeface="Cambria Math" panose="02040503050406030204" pitchFamily="18" charset="0"/>
                                </a:rPr>
                                <m:t>𝜦</m:t>
                              </m:r>
                            </m:e>
                            <m:sub>
                              <m:r>
                                <a:rPr lang="en-US" sz="2400" i="1">
                                  <a:solidFill>
                                    <a:schemeClr val="tx1"/>
                                  </a:solidFill>
                                  <a:latin typeface="Cambria Math" panose="02040503050406030204" pitchFamily="18" charset="0"/>
                                  <a:ea typeface="Cambria Math" panose="02040503050406030204" pitchFamily="18" charset="0"/>
                                </a:rPr>
                                <m:t>0</m:t>
                              </m:r>
                            </m:sub>
                            <m:sup>
                              <m:r>
                                <a:rPr lang="en-US" sz="2400" i="1">
                                  <a:solidFill>
                                    <a:schemeClr val="tx1"/>
                                  </a:solidFill>
                                  <a:latin typeface="Cambria Math" panose="02040503050406030204" pitchFamily="18" charset="0"/>
                                  <a:ea typeface="Cambria Math" panose="02040503050406030204" pitchFamily="18" charset="0"/>
                                </a:rPr>
                                <m:t>−1</m:t>
                              </m:r>
                            </m:sup>
                          </m:sSubSup>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𝑪</m:t>
                              </m:r>
                              <m:r>
                                <a:rPr lang="en-US" sz="2400" b="1" i="1" smtClean="0">
                                  <a:solidFill>
                                    <a:schemeClr val="tx1"/>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𝝁</m:t>
                                  </m:r>
                                </m:e>
                                <m:sub>
                                  <m:r>
                                    <a:rPr lang="en-US" sz="2400" i="1">
                                      <a:solidFill>
                                        <a:srgbClr val="FF0000"/>
                                      </a:solidFill>
                                      <a:latin typeface="Cambria Math" panose="02040503050406030204" pitchFamily="18" charset="0"/>
                                    </a:rPr>
                                    <m:t>𝐵</m:t>
                                  </m:r>
                                </m:sub>
                              </m:sSub>
                            </m:e>
                          </m:d>
                        </m:e>
                      </m:nary>
                    </m:oMath>
                  </m:oMathPara>
                </a14:m>
                <a:endParaRPr lang="en-US" sz="2400" dirty="0">
                  <a:solidFill>
                    <a:schemeClr val="tx1"/>
                  </a:solidFill>
                </a:endParaRPr>
              </a:p>
            </p:txBody>
          </p:sp>
        </mc:Choice>
        <mc:Fallback xmlns="">
          <p:sp>
            <p:nvSpPr>
              <p:cNvPr id="22" name="TextBox 21">
                <a:extLst>
                  <a:ext uri="{FF2B5EF4-FFF2-40B4-BE49-F238E27FC236}">
                    <a16:creationId xmlns:a16="http://schemas.microsoft.com/office/drawing/2014/main" id="{142A68D4-C91A-EFE0-755A-C6492EDA95F7}"/>
                  </a:ext>
                </a:extLst>
              </p:cNvPr>
              <p:cNvSpPr txBox="1">
                <a:spLocks noRot="1" noChangeAspect="1" noMove="1" noResize="1" noEditPoints="1" noAdjustHandles="1" noChangeArrowheads="1" noChangeShapeType="1" noTextEdit="1"/>
              </p:cNvSpPr>
              <p:nvPr/>
            </p:nvSpPr>
            <p:spPr>
              <a:xfrm>
                <a:off x="3048811" y="5723665"/>
                <a:ext cx="6094378" cy="98655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90787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F45C4-B3CD-E92E-7C80-1EDA4258363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B126657-5A8D-2981-2B45-2E15A61D1CE2}"/>
                  </a:ext>
                </a:extLst>
              </p:cNvPr>
              <p:cNvSpPr>
                <a:spLocks noGrp="1"/>
              </p:cNvSpPr>
              <p:nvPr>
                <p:ph idx="1"/>
              </p:nvPr>
            </p:nvSpPr>
            <p:spPr>
              <a:xfrm>
                <a:off x="303177" y="1325563"/>
                <a:ext cx="11292192" cy="489558"/>
              </a:xfrm>
            </p:spPr>
            <p:txBody>
              <a:bodyPr>
                <a:normAutofit/>
              </a:bodyPr>
              <a:lstStyle/>
              <a:p>
                <a:pPr marL="0" indent="0">
                  <a:buNone/>
                </a:pPr>
                <a:r>
                  <a:rPr lang="en-US" dirty="0"/>
                  <a:t>Define two new tensors (expressed acting on some tensor </a:t>
                </a:r>
                <a14:m>
                  <m:oMath xmlns:m="http://schemas.openxmlformats.org/officeDocument/2006/math">
                    <m:r>
                      <a:rPr lang="en-US" b="1" i="1">
                        <a:latin typeface="Cambria Math" panose="02040503050406030204" pitchFamily="18" charset="0"/>
                      </a:rPr>
                      <m:t>𝒗</m:t>
                    </m:r>
                  </m:oMath>
                </a14:m>
                <a:r>
                  <a:rPr lang="en-US" dirty="0"/>
                  <a:t>): </a:t>
                </a:r>
                <a:endParaRPr lang="en-US" b="1" dirty="0"/>
              </a:p>
            </p:txBody>
          </p:sp>
        </mc:Choice>
        <mc:Fallback xmlns="">
          <p:sp>
            <p:nvSpPr>
              <p:cNvPr id="3" name="Content Placeholder 2">
                <a:extLst>
                  <a:ext uri="{FF2B5EF4-FFF2-40B4-BE49-F238E27FC236}">
                    <a16:creationId xmlns:a16="http://schemas.microsoft.com/office/drawing/2014/main" id="{9B126657-5A8D-2981-2B45-2E15A61D1CE2}"/>
                  </a:ext>
                </a:extLst>
              </p:cNvPr>
              <p:cNvSpPr>
                <a:spLocks noGrp="1" noRot="1" noChangeAspect="1" noMove="1" noResize="1" noEditPoints="1" noAdjustHandles="1" noChangeArrowheads="1" noChangeShapeType="1" noTextEdit="1"/>
              </p:cNvSpPr>
              <p:nvPr>
                <p:ph idx="1"/>
              </p:nvPr>
            </p:nvSpPr>
            <p:spPr>
              <a:xfrm>
                <a:off x="303177" y="1325563"/>
                <a:ext cx="11292192" cy="489558"/>
              </a:xfrm>
              <a:blipFill>
                <a:blip r:embed="rId2"/>
                <a:stretch>
                  <a:fillRect l="-1134" t="-20988" b="-30864"/>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4008A42B-83FC-3E1F-A895-A5CADF94C6FC}"/>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TFA (6)</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7B4A06B-043A-20FF-1FC9-9CE9C6E7592F}"/>
                  </a:ext>
                </a:extLst>
              </p:cNvPr>
              <p:cNvSpPr txBox="1"/>
              <p:nvPr/>
            </p:nvSpPr>
            <p:spPr>
              <a:xfrm>
                <a:off x="3048811" y="1965152"/>
                <a:ext cx="6094378" cy="468205"/>
              </a:xfrm>
              <a:prstGeom prst="rect">
                <a:avLst/>
              </a:prstGeom>
              <a:noFill/>
            </p:spPr>
            <p:txBody>
              <a:bodyPr wrap="square">
                <a:spAutoFit/>
              </a:bodyPr>
              <a:lstStyle/>
              <a:p>
                <a:pPr algn="ctr"/>
                <a14:m>
                  <m:oMathPara xmlns:m="http://schemas.openxmlformats.org/officeDocument/2006/math">
                    <m:oMath>
                      <m:sSup>
                        <m:sSupPr>
                          <m:ctrlPr>
                            <a:rPr lang="en-US" sz="2400" b="1" i="1" smtClean="0">
                              <a:solidFill>
                                <a:schemeClr val="tx1"/>
                              </a:solidFill>
                              <a:latin typeface="Cambria Math" panose="02040503050406030204" pitchFamily="18" charset="0"/>
                              <a:ea typeface="Cambria Math" panose="02040503050406030204" pitchFamily="18" charset="0"/>
                            </a:rPr>
                          </m:ctrlPr>
                        </m:sSupPr>
                        <m:e>
                          <m:r>
                            <a:rPr lang="en-US" sz="2400" b="1" i="1" smtClean="0">
                              <a:solidFill>
                                <a:schemeClr val="tx1"/>
                              </a:solidFill>
                              <a:latin typeface="Cambria Math" panose="02040503050406030204" pitchFamily="18" charset="0"/>
                              <a:ea typeface="Cambria Math" panose="02040503050406030204" pitchFamily="18" charset="0"/>
                            </a:rPr>
                            <m:t>𝑬</m:t>
                          </m:r>
                        </m:e>
                        <m:sup>
                          <m:r>
                            <a:rPr lang="en-US" sz="2400" b="0" i="1" smtClean="0">
                              <a:solidFill>
                                <a:schemeClr val="tx1"/>
                              </a:solidFill>
                              <a:latin typeface="Cambria Math" panose="02040503050406030204" pitchFamily="18" charset="0"/>
                              <a:ea typeface="Cambria Math" panose="02040503050406030204" pitchFamily="18" charset="0"/>
                            </a:rPr>
                            <m:t>𝑇𝐹𝐴</m:t>
                          </m:r>
                        </m:sup>
                      </m:sSup>
                      <m:d>
                        <m:dPr>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𝒙</m:t>
                          </m:r>
                        </m:e>
                      </m:d>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𝒗</m:t>
                      </m:r>
                      <m:r>
                        <a:rPr lang="en-US" sz="2400" b="1" i="1" smtClean="0">
                          <a:solidFill>
                            <a:schemeClr val="tx1"/>
                          </a:solidFill>
                          <a:latin typeface="Cambria Math" panose="02040503050406030204" pitchFamily="18" charset="0"/>
                          <a:ea typeface="Cambria Math" panose="02040503050406030204" pitchFamily="18" charset="0"/>
                        </a:rPr>
                        <m:t>=</m:t>
                      </m:r>
                      <m:d>
                        <m:dPr>
                          <m:ctrlPr>
                            <a:rPr lang="el-GR" sz="2400" b="1" i="1">
                              <a:latin typeface="Cambria Math" panose="02040503050406030204" pitchFamily="18" charset="0"/>
                              <a:ea typeface="Cambria Math" panose="02040503050406030204" pitchFamily="18" charset="0"/>
                            </a:rPr>
                          </m:ctrlPr>
                        </m:dPr>
                        <m:e>
                          <m:sSubSup>
                            <m:sSubSupPr>
                              <m:ctrlPr>
                                <a:rPr lang="el-GR" sz="2400" b="1" i="1">
                                  <a:latin typeface="Cambria Math" panose="02040503050406030204" pitchFamily="18" charset="0"/>
                                  <a:ea typeface="Cambria Math" panose="02040503050406030204" pitchFamily="18" charset="0"/>
                                </a:rPr>
                              </m:ctrlPr>
                            </m:sSubSupPr>
                            <m:e>
                              <m:r>
                                <a:rPr lang="el-GR" sz="2400" b="1" i="1">
                                  <a:latin typeface="Cambria Math" panose="02040503050406030204" pitchFamily="18" charset="0"/>
                                  <a:ea typeface="Cambria Math" panose="02040503050406030204" pitchFamily="18" charset="0"/>
                                </a:rPr>
                                <m:t>𝜦</m:t>
                              </m:r>
                            </m:e>
                            <m:sub>
                              <m: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−1</m:t>
                              </m:r>
                            </m:sup>
                          </m:sSubSup>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𝒗</m:t>
                              </m:r>
                            </m:e>
                          </m:d>
                        </m:e>
                      </m:d>
                      <m:r>
                        <a:rPr lang="en-US" sz="2400" b="1" i="1" smtClean="0">
                          <a:latin typeface="Cambria Math" panose="02040503050406030204" pitchFamily="18" charset="0"/>
                        </a:rPr>
                        <m:t>(</m:t>
                      </m:r>
                      <m:r>
                        <a:rPr lang="en-US" sz="2400" b="1" i="1" smtClean="0">
                          <a:latin typeface="Cambria Math" panose="02040503050406030204" pitchFamily="18" charset="0"/>
                        </a:rPr>
                        <m:t>𝒙</m:t>
                      </m:r>
                      <m:r>
                        <a:rPr lang="en-US" sz="2400" b="1" i="1" smtClean="0">
                          <a:latin typeface="Cambria Math" panose="02040503050406030204" pitchFamily="18" charset="0"/>
                        </a:rPr>
                        <m:t>)</m:t>
                      </m:r>
                    </m:oMath>
                  </m:oMathPara>
                </a14:m>
                <a:endParaRPr lang="en-US" sz="2400" dirty="0">
                  <a:solidFill>
                    <a:schemeClr val="tx1"/>
                  </a:solidFill>
                </a:endParaRPr>
              </a:p>
            </p:txBody>
          </p:sp>
        </mc:Choice>
        <mc:Fallback xmlns="">
          <p:sp>
            <p:nvSpPr>
              <p:cNvPr id="4" name="TextBox 3">
                <a:extLst>
                  <a:ext uri="{FF2B5EF4-FFF2-40B4-BE49-F238E27FC236}">
                    <a16:creationId xmlns:a16="http://schemas.microsoft.com/office/drawing/2014/main" id="{C7B4A06B-043A-20FF-1FC9-9CE9C6E7592F}"/>
                  </a:ext>
                </a:extLst>
              </p:cNvPr>
              <p:cNvSpPr txBox="1">
                <a:spLocks noRot="1" noChangeAspect="1" noMove="1" noResize="1" noEditPoints="1" noAdjustHandles="1" noChangeArrowheads="1" noChangeShapeType="1" noTextEdit="1"/>
              </p:cNvSpPr>
              <p:nvPr/>
            </p:nvSpPr>
            <p:spPr>
              <a:xfrm>
                <a:off x="3048811" y="1965152"/>
                <a:ext cx="6094378" cy="468205"/>
              </a:xfrm>
              <a:prstGeom prst="rect">
                <a:avLst/>
              </a:prstGeom>
              <a:blipFill>
                <a:blip r:embed="rId3"/>
                <a:stretch>
                  <a:fillRect b="-168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DFB374C-D06A-E52E-52BB-511B609A49EB}"/>
                  </a:ext>
                </a:extLst>
              </p:cNvPr>
              <p:cNvSpPr txBox="1"/>
              <p:nvPr/>
            </p:nvSpPr>
            <p:spPr>
              <a:xfrm>
                <a:off x="3048811" y="2650495"/>
                <a:ext cx="6094378" cy="468205"/>
              </a:xfrm>
              <a:prstGeom prst="rect">
                <a:avLst/>
              </a:prstGeom>
              <a:noFill/>
            </p:spPr>
            <p:txBody>
              <a:bodyPr wrap="square">
                <a:spAutoFit/>
              </a:bodyPr>
              <a:lstStyle/>
              <a:p>
                <a:pPr algn="ctr"/>
                <a14:m>
                  <m:oMathPara xmlns:m="http://schemas.openxmlformats.org/officeDocument/2006/math">
                    <m:oMath>
                      <m:sSubSup>
                        <m:sSubSupPr>
                          <m:ctrlPr>
                            <a:rPr lang="en-US" sz="2400" b="1" i="1" smtClean="0">
                              <a:solidFill>
                                <a:schemeClr val="tx1"/>
                              </a:solidFill>
                              <a:latin typeface="Cambria Math" panose="02040503050406030204" pitchFamily="18" charset="0"/>
                              <a:ea typeface="Cambria Math" panose="02040503050406030204" pitchFamily="18" charset="0"/>
                            </a:rPr>
                          </m:ctrlPr>
                        </m:sSubSupPr>
                        <m:e>
                          <m:r>
                            <a:rPr lang="en-US" sz="2400" b="1" i="1" smtClean="0">
                              <a:solidFill>
                                <a:schemeClr val="tx1"/>
                              </a:solidFill>
                              <a:latin typeface="Cambria Math" panose="02040503050406030204" pitchFamily="18" charset="0"/>
                              <a:ea typeface="Cambria Math" panose="02040503050406030204" pitchFamily="18" charset="0"/>
                            </a:rPr>
                            <m:t>𝑷</m:t>
                          </m:r>
                        </m:e>
                        <m:sub>
                          <m: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i="1">
                              <a:latin typeface="Cambria Math" panose="02040503050406030204" pitchFamily="18" charset="0"/>
                              <a:ea typeface="Cambria Math" panose="02040503050406030204" pitchFamily="18" charset="0"/>
                            </a:rPr>
                            <m:t>𝑇𝐹𝐴</m:t>
                          </m:r>
                        </m:sup>
                      </m:sSubSup>
                      <m:d>
                        <m:dPr>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𝒙</m:t>
                          </m:r>
                        </m:e>
                      </m:d>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𝒗</m:t>
                      </m:r>
                      <m:r>
                        <a:rPr lang="en-US" sz="2400" b="1" i="1" smtClean="0">
                          <a:solidFill>
                            <a:schemeClr val="tx1"/>
                          </a:solidFill>
                          <a:latin typeface="Cambria Math" panose="02040503050406030204" pitchFamily="18" charset="0"/>
                          <a:ea typeface="Cambria Math" panose="02040503050406030204" pitchFamily="18" charset="0"/>
                        </a:rPr>
                        <m:t>=</m:t>
                      </m:r>
                      <m:d>
                        <m:dPr>
                          <m:ctrlPr>
                            <a:rPr lang="el-GR" sz="2400" b="1" i="1">
                              <a:latin typeface="Cambria Math" panose="02040503050406030204" pitchFamily="18" charset="0"/>
                              <a:ea typeface="Cambria Math" panose="02040503050406030204" pitchFamily="18" charset="0"/>
                            </a:rPr>
                          </m:ctrlPr>
                        </m:dPr>
                        <m:e>
                          <m:sSubSup>
                            <m:sSubSupPr>
                              <m:ctrlPr>
                                <a:rPr lang="el-GR" sz="2400" b="1" i="1">
                                  <a:latin typeface="Cambria Math" panose="02040503050406030204" pitchFamily="18" charset="0"/>
                                  <a:ea typeface="Cambria Math" panose="02040503050406030204" pitchFamily="18" charset="0"/>
                                </a:rPr>
                              </m:ctrlPr>
                            </m:sSubSupPr>
                            <m:e>
                              <m:r>
                                <a:rPr lang="el-GR" sz="2400" b="1" i="1">
                                  <a:latin typeface="Cambria Math" panose="02040503050406030204" pitchFamily="18" charset="0"/>
                                  <a:ea typeface="Cambria Math" panose="02040503050406030204" pitchFamily="18" charset="0"/>
                                </a:rPr>
                                <m:t>𝜦</m:t>
                              </m:r>
                            </m:e>
                            <m:sub>
                              <m:r>
                                <a:rPr lang="en-US" sz="2400" i="1">
                                  <a:latin typeface="Cambria Math" panose="02040503050406030204" pitchFamily="18" charset="0"/>
                                  <a:ea typeface="Cambria Math" panose="02040503050406030204" pitchFamily="18" charset="0"/>
                                </a:rPr>
                                <m:t>0</m:t>
                              </m:r>
                            </m:sub>
                            <m:sup>
                              <m:r>
                                <a:rPr lang="en-US" sz="2400" i="1">
                                  <a:latin typeface="Cambria Math" panose="02040503050406030204" pitchFamily="18" charset="0"/>
                                  <a:ea typeface="Cambria Math" panose="02040503050406030204" pitchFamily="18" charset="0"/>
                                </a:rPr>
                                <m:t>−1</m:t>
                              </m:r>
                            </m:sup>
                          </m:sSubSup>
                          <m:sSub>
                            <m:sSubPr>
                              <m:ctrlPr>
                                <a:rPr lang="en-US" sz="2400" b="1">
                                  <a:latin typeface="Cambria Math" panose="02040503050406030204" pitchFamily="18" charset="0"/>
                                </a:rPr>
                              </m:ctrlPr>
                            </m:sSubPr>
                            <m:e>
                              <m:r>
                                <a:rPr lang="en-US" sz="2400" b="1">
                                  <a:latin typeface="Cambria Math" panose="02040503050406030204" pitchFamily="18" charset="0"/>
                                </a:rPr>
                                <m:t>𝚪</m:t>
                              </m:r>
                            </m:e>
                            <m:sub>
                              <m:r>
                                <a:rPr lang="en-US" sz="2400" i="1">
                                  <a:latin typeface="Cambria Math" panose="02040503050406030204" pitchFamily="18" charset="0"/>
                                </a:rPr>
                                <m:t>0</m:t>
                              </m:r>
                            </m:sub>
                          </m:sSub>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𝑪</m:t>
                              </m:r>
                              <m:r>
                                <a:rPr lang="en-US" sz="2400" b="1"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𝜒</m:t>
                                  </m:r>
                                </m:e>
                                <m:sub>
                                  <m:r>
                                    <a:rPr lang="en-US" sz="2400" i="1">
                                      <a:latin typeface="Cambria Math" panose="02040503050406030204" pitchFamily="18" charset="0"/>
                                    </a:rPr>
                                    <m:t>𝐵</m:t>
                                  </m:r>
                                </m:sub>
                              </m:sSub>
                              <m:r>
                                <a:rPr lang="en-US" sz="2400" b="1" i="1">
                                  <a:latin typeface="Cambria Math" panose="02040503050406030204" pitchFamily="18" charset="0"/>
                                </a:rPr>
                                <m:t>𝒗</m:t>
                              </m:r>
                            </m:e>
                          </m:d>
                        </m:e>
                      </m:d>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𝒙</m:t>
                      </m:r>
                      <m:r>
                        <a:rPr lang="en-US" sz="2400" b="1"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8" name="TextBox 7">
                <a:extLst>
                  <a:ext uri="{FF2B5EF4-FFF2-40B4-BE49-F238E27FC236}">
                    <a16:creationId xmlns:a16="http://schemas.microsoft.com/office/drawing/2014/main" id="{4DFB374C-D06A-E52E-52BB-511B609A49EB}"/>
                  </a:ext>
                </a:extLst>
              </p:cNvPr>
              <p:cNvSpPr txBox="1">
                <a:spLocks noRot="1" noChangeAspect="1" noMove="1" noResize="1" noEditPoints="1" noAdjustHandles="1" noChangeArrowheads="1" noChangeShapeType="1" noTextEdit="1"/>
              </p:cNvSpPr>
              <p:nvPr/>
            </p:nvSpPr>
            <p:spPr>
              <a:xfrm>
                <a:off x="3048811" y="2650495"/>
                <a:ext cx="6094378" cy="468205"/>
              </a:xfrm>
              <a:prstGeom prst="rect">
                <a:avLst/>
              </a:prstGeom>
              <a:blipFill>
                <a:blip r:embed="rId4"/>
                <a:stretch>
                  <a:fillRect b="-16883"/>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E1658D78-3995-558D-6909-8AFEE286C3C2}"/>
              </a:ext>
            </a:extLst>
          </p:cNvPr>
          <p:cNvSpPr txBox="1">
            <a:spLocks/>
          </p:cNvSpPr>
          <p:nvPr/>
        </p:nvSpPr>
        <p:spPr>
          <a:xfrm>
            <a:off x="303177" y="3238553"/>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Then we have:</a:t>
            </a:r>
            <a:endParaRPr lang="en-US" b="1"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55B00C9-A930-E0A0-BF6D-0AA97074FAF8}"/>
                  </a:ext>
                </a:extLst>
              </p:cNvPr>
              <p:cNvSpPr txBox="1"/>
              <p:nvPr/>
            </p:nvSpPr>
            <p:spPr>
              <a:xfrm>
                <a:off x="3048811" y="3691651"/>
                <a:ext cx="6094378" cy="986552"/>
              </a:xfrm>
              <a:prstGeom prst="rect">
                <a:avLst/>
              </a:prstGeom>
              <a:noFill/>
            </p:spPr>
            <p:txBody>
              <a:bodyPr wrap="square">
                <a:spAutoFit/>
              </a:bodyPr>
              <a:lstStyle/>
              <a:p>
                <a:pPr algn="ctr"/>
                <a14:m>
                  <m:oMathPara xmlns:m="http://schemas.openxmlformats.org/officeDocument/2006/math">
                    <m:oMath>
                      <m:r>
                        <a:rPr lang="en-US" sz="2400" b="1" i="1" smtClean="0">
                          <a:latin typeface="Cambria Math" panose="02040503050406030204" pitchFamily="18" charset="0"/>
                          <a:ea typeface="Cambria Math" panose="02040503050406030204" pitchFamily="18" charset="0"/>
                        </a:rPr>
                        <m:t>𝜺</m:t>
                      </m:r>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𝒙</m:t>
                      </m:r>
                      <m:r>
                        <a:rPr lang="en-US" sz="2400" b="1" i="1" smtClean="0">
                          <a:latin typeface="Cambria Math" panose="02040503050406030204" pitchFamily="18" charset="0"/>
                          <a:ea typeface="Cambria Math" panose="02040503050406030204" pitchFamily="18" charset="0"/>
                        </a:rPr>
                        <m:t>)=</m:t>
                      </m:r>
                      <m:sSup>
                        <m:sSupPr>
                          <m:ctrlPr>
                            <a:rPr lang="en-US" sz="2400" b="1" i="1" smtClean="0">
                              <a:solidFill>
                                <a:srgbClr val="FF0000"/>
                              </a:solidFill>
                              <a:latin typeface="Cambria Math" panose="02040503050406030204" pitchFamily="18" charset="0"/>
                              <a:ea typeface="Cambria Math" panose="02040503050406030204" pitchFamily="18" charset="0"/>
                            </a:rPr>
                          </m:ctrlPr>
                        </m:sSupPr>
                        <m:e>
                          <m:r>
                            <a:rPr lang="en-US" sz="2400" b="1" i="1" smtClean="0">
                              <a:solidFill>
                                <a:srgbClr val="FF0000"/>
                              </a:solidFill>
                              <a:latin typeface="Cambria Math" panose="02040503050406030204" pitchFamily="18" charset="0"/>
                              <a:ea typeface="Cambria Math" panose="02040503050406030204" pitchFamily="18" charset="0"/>
                            </a:rPr>
                            <m:t>𝑬</m:t>
                          </m:r>
                        </m:e>
                        <m:sup>
                          <m:r>
                            <a:rPr lang="en-US" sz="2400" i="1" smtClean="0">
                              <a:solidFill>
                                <a:srgbClr val="FF0000"/>
                              </a:solidFill>
                              <a:latin typeface="Cambria Math" panose="02040503050406030204" pitchFamily="18" charset="0"/>
                              <a:ea typeface="Cambria Math" panose="02040503050406030204" pitchFamily="18" charset="0"/>
                            </a:rPr>
                            <m:t>𝑇𝐹𝐴</m:t>
                          </m:r>
                        </m:sup>
                      </m:sSup>
                      <m:d>
                        <m:dPr>
                          <m:ctrlPr>
                            <a:rPr lang="en-US" sz="2400" b="1" i="1">
                              <a:solidFill>
                                <a:srgbClr val="FF0000"/>
                              </a:solidFill>
                              <a:latin typeface="Cambria Math" panose="02040503050406030204" pitchFamily="18" charset="0"/>
                              <a:ea typeface="Cambria Math" panose="02040503050406030204" pitchFamily="18" charset="0"/>
                            </a:rPr>
                          </m:ctrlPr>
                        </m:dPr>
                        <m:e>
                          <m:r>
                            <a:rPr lang="en-US" sz="2400" b="1" i="1">
                              <a:solidFill>
                                <a:srgbClr val="FF0000"/>
                              </a:solidFill>
                              <a:latin typeface="Cambria Math" panose="02040503050406030204" pitchFamily="18" charset="0"/>
                              <a:ea typeface="Cambria Math" panose="02040503050406030204" pitchFamily="18" charset="0"/>
                            </a:rPr>
                            <m:t>𝒙</m:t>
                          </m:r>
                        </m:e>
                      </m:d>
                      <m:r>
                        <a:rPr lang="en-US" sz="2400" b="1" i="1">
                          <a:latin typeface="Cambria Math" panose="02040503050406030204" pitchFamily="18" charset="0"/>
                          <a:ea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𝜺</m:t>
                          </m:r>
                        </m:e>
                      </m:acc>
                      <m:r>
                        <a:rPr lang="en-US" sz="2400" b="1" i="1">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𝑷</m:t>
                              </m:r>
                            </m:e>
                            <m:sub>
                              <m:r>
                                <a:rPr lang="en-US" sz="2400" i="1">
                                  <a:solidFill>
                                    <a:srgbClr val="FF0000"/>
                                  </a:solidFill>
                                  <a:latin typeface="Cambria Math" panose="02040503050406030204" pitchFamily="18" charset="0"/>
                                  <a:ea typeface="Cambria Math" panose="02040503050406030204" pitchFamily="18" charset="0"/>
                                </a:rPr>
                                <m:t>𝐵</m:t>
                              </m:r>
                            </m:sub>
                            <m:sup>
                              <m:r>
                                <a:rPr lang="en-US" sz="2400" i="1" smtClean="0">
                                  <a:solidFill>
                                    <a:srgbClr val="FF0000"/>
                                  </a:solidFill>
                                  <a:latin typeface="Cambria Math" panose="02040503050406030204" pitchFamily="18" charset="0"/>
                                  <a:ea typeface="Cambria Math" panose="02040503050406030204" pitchFamily="18" charset="0"/>
                                </a:rPr>
                                <m:t>𝑇𝐹𝐴</m:t>
                              </m:r>
                            </m:sup>
                          </m:sSubSup>
                          <m:d>
                            <m:dPr>
                              <m:ctrlPr>
                                <a:rPr lang="en-US" sz="2400" b="1" i="1">
                                  <a:solidFill>
                                    <a:srgbClr val="FF0000"/>
                                  </a:solidFill>
                                  <a:latin typeface="Cambria Math" panose="02040503050406030204" pitchFamily="18" charset="0"/>
                                  <a:ea typeface="Cambria Math" panose="02040503050406030204" pitchFamily="18" charset="0"/>
                                </a:rPr>
                              </m:ctrlPr>
                            </m:dPr>
                            <m:e>
                              <m:r>
                                <a:rPr lang="en-US" sz="2400" b="1" i="1">
                                  <a:solidFill>
                                    <a:srgbClr val="FF0000"/>
                                  </a:solidFill>
                                  <a:latin typeface="Cambria Math" panose="02040503050406030204" pitchFamily="18" charset="0"/>
                                  <a:ea typeface="Cambria Math" panose="02040503050406030204" pitchFamily="18" charset="0"/>
                                </a:rPr>
                                <m:t>𝒙</m:t>
                              </m:r>
                            </m:e>
                          </m:d>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𝝁</m:t>
                              </m:r>
                            </m:e>
                            <m:sub>
                              <m:r>
                                <a:rPr lang="en-US" sz="2400" i="1">
                                  <a:latin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C55B00C9-A930-E0A0-BF6D-0AA97074FAF8}"/>
                  </a:ext>
                </a:extLst>
              </p:cNvPr>
              <p:cNvSpPr txBox="1">
                <a:spLocks noRot="1" noChangeAspect="1" noMove="1" noResize="1" noEditPoints="1" noAdjustHandles="1" noChangeArrowheads="1" noChangeShapeType="1" noTextEdit="1"/>
              </p:cNvSpPr>
              <p:nvPr/>
            </p:nvSpPr>
            <p:spPr>
              <a:xfrm>
                <a:off x="3048811" y="3691651"/>
                <a:ext cx="6094378" cy="9865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CCB951BC-DFC5-7A35-BAE4-D09F13892F06}"/>
                  </a:ext>
                </a:extLst>
              </p:cNvPr>
              <p:cNvSpPr txBox="1">
                <a:spLocks/>
              </p:cNvSpPr>
              <p:nvPr/>
            </p:nvSpPr>
            <p:spPr>
              <a:xfrm>
                <a:off x="303177" y="4886522"/>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Take the average of both sides over partition </a:t>
                </a:r>
                <a14:m>
                  <m:oMath xmlns:m="http://schemas.openxmlformats.org/officeDocument/2006/math">
                    <m:r>
                      <a:rPr lang="en-US" b="0" i="1" smtClean="0">
                        <a:latin typeface="Cambria Math" panose="02040503050406030204" pitchFamily="18" charset="0"/>
                      </a:rPr>
                      <m:t>𝐴</m:t>
                    </m:r>
                  </m:oMath>
                </a14:m>
                <a:r>
                  <a:rPr lang="en-US" b="1" dirty="0"/>
                  <a:t>:</a:t>
                </a:r>
              </a:p>
            </p:txBody>
          </p:sp>
        </mc:Choice>
        <mc:Fallback xmlns="">
          <p:sp>
            <p:nvSpPr>
              <p:cNvPr id="17" name="Content Placeholder 2">
                <a:extLst>
                  <a:ext uri="{FF2B5EF4-FFF2-40B4-BE49-F238E27FC236}">
                    <a16:creationId xmlns:a16="http://schemas.microsoft.com/office/drawing/2014/main" id="{CCB951BC-DFC5-7A35-BAE4-D09F13892F06}"/>
                  </a:ext>
                </a:extLst>
              </p:cNvPr>
              <p:cNvSpPr txBox="1">
                <a:spLocks noRot="1" noChangeAspect="1" noMove="1" noResize="1" noEditPoints="1" noAdjustHandles="1" noChangeArrowheads="1" noChangeShapeType="1" noTextEdit="1"/>
              </p:cNvSpPr>
              <p:nvPr/>
            </p:nvSpPr>
            <p:spPr>
              <a:xfrm>
                <a:off x="303177" y="4886522"/>
                <a:ext cx="11292192" cy="489558"/>
              </a:xfrm>
              <a:prstGeom prst="rect">
                <a:avLst/>
              </a:prstGeom>
              <a:blipFill>
                <a:blip r:embed="rId6"/>
                <a:stretch>
                  <a:fillRect l="-1134"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8586F31-97F8-B9E7-181B-BC8E1AECC5C9}"/>
                  </a:ext>
                </a:extLst>
              </p:cNvPr>
              <p:cNvSpPr txBox="1"/>
              <p:nvPr/>
            </p:nvSpPr>
            <p:spPr>
              <a:xfrm>
                <a:off x="3048811" y="5584399"/>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solidFill>
                                <a:srgbClr val="FF0000"/>
                              </a:solidFill>
                              <a:latin typeface="Cambria Math" panose="02040503050406030204" pitchFamily="18" charset="0"/>
                              <a:ea typeface="Cambria Math" panose="02040503050406030204" pitchFamily="18" charset="0"/>
                            </a:rPr>
                          </m:ctrlPr>
                        </m:sSubPr>
                        <m:e>
                          <m:r>
                            <a:rPr lang="en-US" sz="2400" b="1" i="1" smtClean="0">
                              <a:solidFill>
                                <a:srgbClr val="FF0000"/>
                              </a:solidFill>
                              <a:latin typeface="Cambria Math" panose="02040503050406030204" pitchFamily="18" charset="0"/>
                              <a:ea typeface="Cambria Math" panose="02040503050406030204" pitchFamily="18" charset="0"/>
                            </a:rPr>
                            <m:t>𝜺</m:t>
                          </m:r>
                        </m:e>
                        <m:sub>
                          <m:r>
                            <a:rPr lang="en-US" sz="2400" b="0" i="1" smtClean="0">
                              <a:solidFill>
                                <a:srgbClr val="FF0000"/>
                              </a:solidFill>
                              <a:latin typeface="Cambria Math" panose="02040503050406030204" pitchFamily="18" charset="0"/>
                              <a:ea typeface="Cambria Math" panose="02040503050406030204" pitchFamily="18" charset="0"/>
                            </a:rPr>
                            <m:t>𝐴</m:t>
                          </m:r>
                        </m:sub>
                      </m:sSub>
                      <m:r>
                        <a:rPr lang="en-US" sz="2400" b="1" i="1">
                          <a:latin typeface="Cambria Math" panose="02040503050406030204" pitchFamily="18" charset="0"/>
                          <a:ea typeface="Cambria Math" panose="02040503050406030204" pitchFamily="18" charset="0"/>
                        </a:rPr>
                        <m:t>=</m:t>
                      </m:r>
                      <m:sSubSup>
                        <m:sSubSupPr>
                          <m:ctrlPr>
                            <a:rPr lang="en-US" sz="2400" b="1" i="1" smtClean="0">
                              <a:solidFill>
                                <a:srgbClr val="FF0000"/>
                              </a:solidFill>
                              <a:latin typeface="Cambria Math" panose="02040503050406030204" pitchFamily="18" charset="0"/>
                              <a:ea typeface="Cambria Math" panose="02040503050406030204" pitchFamily="18" charset="0"/>
                            </a:rPr>
                          </m:ctrlPr>
                        </m:sSubSupPr>
                        <m:e>
                          <m:r>
                            <a:rPr lang="en-US" sz="2400" b="1" i="1" smtClean="0">
                              <a:solidFill>
                                <a:srgbClr val="FF0000"/>
                              </a:solidFill>
                              <a:latin typeface="Cambria Math" panose="02040503050406030204" pitchFamily="18" charset="0"/>
                              <a:ea typeface="Cambria Math" panose="02040503050406030204" pitchFamily="18" charset="0"/>
                            </a:rPr>
                            <m:t>𝑬</m:t>
                          </m:r>
                        </m:e>
                        <m:sub>
                          <m:r>
                            <a:rPr lang="en-US" sz="2400" i="1" smtClean="0">
                              <a:solidFill>
                                <a:srgbClr val="FF0000"/>
                              </a:solidFill>
                              <a:latin typeface="Cambria Math" panose="02040503050406030204" pitchFamily="18" charset="0"/>
                              <a:ea typeface="Cambria Math" panose="02040503050406030204" pitchFamily="18" charset="0"/>
                            </a:rPr>
                            <m:t>𝐴</m:t>
                          </m:r>
                        </m:sub>
                        <m:sup>
                          <m:r>
                            <a:rPr lang="en-US" sz="2400" i="1" smtClean="0">
                              <a:solidFill>
                                <a:srgbClr val="FF0000"/>
                              </a:solidFill>
                              <a:latin typeface="Cambria Math" panose="02040503050406030204" pitchFamily="18" charset="0"/>
                              <a:ea typeface="Cambria Math" panose="02040503050406030204" pitchFamily="18" charset="0"/>
                            </a:rPr>
                            <m:t>𝑇𝐹𝐴</m:t>
                          </m:r>
                        </m:sup>
                      </m:sSubSup>
                      <m:r>
                        <a:rPr lang="en-US" sz="2400" b="1" i="1">
                          <a:latin typeface="Cambria Math" panose="02040503050406030204" pitchFamily="18" charset="0"/>
                          <a:ea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𝜺</m:t>
                          </m:r>
                        </m:e>
                      </m:acc>
                      <m:r>
                        <a:rPr lang="en-US" sz="2400" b="1" i="1">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𝑷</m:t>
                              </m:r>
                            </m:e>
                            <m:sub>
                              <m:r>
                                <a:rPr lang="en-US" sz="2400" b="0" i="1" smtClean="0">
                                  <a:solidFill>
                                    <a:srgbClr val="FF0000"/>
                                  </a:solidFill>
                                  <a:latin typeface="Cambria Math" panose="02040503050406030204" pitchFamily="18" charset="0"/>
                                  <a:ea typeface="Cambria Math" panose="02040503050406030204" pitchFamily="18" charset="0"/>
                                </a:rPr>
                                <m:t>𝐴</m:t>
                              </m:r>
                              <m:r>
                                <a:rPr lang="en-US" sz="2400" i="1">
                                  <a:solidFill>
                                    <a:srgbClr val="FF0000"/>
                                  </a:solidFill>
                                  <a:latin typeface="Cambria Math" panose="02040503050406030204" pitchFamily="18" charset="0"/>
                                  <a:ea typeface="Cambria Math" panose="02040503050406030204" pitchFamily="18" charset="0"/>
                                </a:rPr>
                                <m:t>𝐵</m:t>
                              </m:r>
                            </m:sub>
                            <m:sup>
                              <m:r>
                                <a:rPr lang="en-US" sz="2400" i="1" smtClean="0">
                                  <a:solidFill>
                                    <a:srgbClr val="FF0000"/>
                                  </a:solidFill>
                                  <a:latin typeface="Cambria Math" panose="02040503050406030204" pitchFamily="18" charset="0"/>
                                  <a:ea typeface="Cambria Math" panose="02040503050406030204" pitchFamily="18" charset="0"/>
                                </a:rPr>
                                <m:t>𝑇𝐹𝐴</m:t>
                              </m:r>
                            </m:sup>
                          </m:sSubSup>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𝝁</m:t>
                              </m:r>
                            </m:e>
                            <m:sub>
                              <m:r>
                                <a:rPr lang="en-US" sz="2400" i="1">
                                  <a:latin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20" name="TextBox 19">
                <a:extLst>
                  <a:ext uri="{FF2B5EF4-FFF2-40B4-BE49-F238E27FC236}">
                    <a16:creationId xmlns:a16="http://schemas.microsoft.com/office/drawing/2014/main" id="{88586F31-97F8-B9E7-181B-BC8E1AECC5C9}"/>
                  </a:ext>
                </a:extLst>
              </p:cNvPr>
              <p:cNvSpPr txBox="1">
                <a:spLocks noRot="1" noChangeAspect="1" noMove="1" noResize="1" noEditPoints="1" noAdjustHandles="1" noChangeArrowheads="1" noChangeShapeType="1" noTextEdit="1"/>
              </p:cNvSpPr>
              <p:nvPr/>
            </p:nvSpPr>
            <p:spPr>
              <a:xfrm>
                <a:off x="3048811" y="5584399"/>
                <a:ext cx="6094378" cy="986552"/>
              </a:xfrm>
              <a:prstGeom prst="rect">
                <a:avLst/>
              </a:prstGeom>
              <a:blipFill>
                <a:blip r:embed="rId7"/>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3CDBA8CC-537B-204B-49AB-F7B18CBEF73B}"/>
              </a:ext>
            </a:extLst>
          </p:cNvPr>
          <p:cNvSpPr txBox="1"/>
          <p:nvPr/>
        </p:nvSpPr>
        <p:spPr>
          <a:xfrm>
            <a:off x="7970196" y="5477510"/>
            <a:ext cx="4221804" cy="1200329"/>
          </a:xfrm>
          <a:prstGeom prst="rect">
            <a:avLst/>
          </a:prstGeom>
          <a:noFill/>
        </p:spPr>
        <p:txBody>
          <a:bodyPr wrap="square" rtlCol="0">
            <a:spAutoFit/>
          </a:bodyPr>
          <a:lstStyle/>
          <a:p>
            <a:pPr algn="ctr"/>
            <a:r>
              <a:rPr lang="en-US" sz="2400" dirty="0">
                <a:solidFill>
                  <a:srgbClr val="0000FF"/>
                </a:solidFill>
              </a:rPr>
              <a:t>This is the TFA form expressed through Lippmann-Schwinger operators !</a:t>
            </a:r>
          </a:p>
        </p:txBody>
      </p:sp>
    </p:spTree>
    <p:extLst>
      <p:ext uri="{BB962C8B-B14F-4D97-AF65-F5344CB8AC3E}">
        <p14:creationId xmlns:p14="http://schemas.microsoft.com/office/powerpoint/2010/main" val="701034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1B5B1-3693-6A30-70FA-D6C4442D112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7FBE40-0B2B-47E6-3710-A0E109891456}"/>
                  </a:ext>
                </a:extLst>
              </p:cNvPr>
              <p:cNvSpPr>
                <a:spLocks noGrp="1"/>
              </p:cNvSpPr>
              <p:nvPr>
                <p:ph idx="1"/>
              </p:nvPr>
            </p:nvSpPr>
            <p:spPr>
              <a:xfrm>
                <a:off x="303177" y="1325563"/>
                <a:ext cx="11292192" cy="1038258"/>
              </a:xfrm>
            </p:spPr>
            <p:txBody>
              <a:bodyPr>
                <a:normAutofit/>
              </a:bodyPr>
              <a:lstStyle/>
              <a:p>
                <a:pPr marL="0" indent="0">
                  <a:buNone/>
                </a:pPr>
                <a:r>
                  <a:rPr lang="en-US" dirty="0"/>
                  <a:t>We now have a clear expression for the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𝑬</m:t>
                        </m:r>
                      </m:e>
                      <m:sub>
                        <m:r>
                          <a:rPr lang="en-US" b="0" i="1">
                            <a:latin typeface="Cambria Math" panose="02040503050406030204" pitchFamily="18" charset="0"/>
                            <a:ea typeface="Cambria Math" panose="02040503050406030204" pitchFamily="18" charset="0"/>
                          </a:rPr>
                          <m:t>𝐴</m:t>
                        </m:r>
                      </m:sub>
                    </m:sSub>
                  </m:oMath>
                </a14:m>
                <a:r>
                  <a:rPr lang="en-US" dirty="0"/>
                  <a:t> and </a:t>
                </a:r>
                <a14:m>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𝑷</m:t>
                        </m:r>
                      </m:e>
                      <m:sub>
                        <m:r>
                          <a:rPr lang="en-US" b="0"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𝐵</m:t>
                        </m:r>
                      </m:sub>
                    </m:sSub>
                  </m:oMath>
                </a14:m>
                <a:r>
                  <a:rPr lang="en-US" dirty="0"/>
                  <a:t> TFA tensors in terms of the Lippmann-Schwinger operators:</a:t>
                </a:r>
                <a:endParaRPr lang="en-US" b="1" dirty="0"/>
              </a:p>
            </p:txBody>
          </p:sp>
        </mc:Choice>
        <mc:Fallback xmlns="">
          <p:sp>
            <p:nvSpPr>
              <p:cNvPr id="3" name="Content Placeholder 2">
                <a:extLst>
                  <a:ext uri="{FF2B5EF4-FFF2-40B4-BE49-F238E27FC236}">
                    <a16:creationId xmlns:a16="http://schemas.microsoft.com/office/drawing/2014/main" id="{637FBE40-0B2B-47E6-3710-A0E109891456}"/>
                  </a:ext>
                </a:extLst>
              </p:cNvPr>
              <p:cNvSpPr>
                <a:spLocks noGrp="1" noRot="1" noChangeAspect="1" noMove="1" noResize="1" noEditPoints="1" noAdjustHandles="1" noChangeArrowheads="1" noChangeShapeType="1" noTextEdit="1"/>
              </p:cNvSpPr>
              <p:nvPr>
                <p:ph idx="1"/>
              </p:nvPr>
            </p:nvSpPr>
            <p:spPr>
              <a:xfrm>
                <a:off x="303177" y="1325563"/>
                <a:ext cx="11292192" cy="1038258"/>
              </a:xfrm>
              <a:blipFill>
                <a:blip r:embed="rId2"/>
                <a:stretch>
                  <a:fillRect l="-1134" t="-9942"/>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BC18B09B-84CC-5E68-954C-32E6EBB9FED3}"/>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TFA (7, Final)</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350069E-28D1-7D8A-FDFA-BA7F04A96198}"/>
                  </a:ext>
                </a:extLst>
              </p:cNvPr>
              <p:cNvSpPr txBox="1"/>
              <p:nvPr/>
            </p:nvSpPr>
            <p:spPr>
              <a:xfrm>
                <a:off x="3048811" y="2442448"/>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𝜺</m:t>
                          </m:r>
                        </m:e>
                        <m:sub>
                          <m:r>
                            <a:rPr lang="en-US" sz="2400" b="0" i="1" smtClean="0">
                              <a:solidFill>
                                <a:schemeClr val="tx1"/>
                              </a:solidFill>
                              <a:latin typeface="Cambria Math" panose="02040503050406030204" pitchFamily="18" charset="0"/>
                              <a:ea typeface="Cambria Math" panose="02040503050406030204" pitchFamily="18" charset="0"/>
                            </a:rPr>
                            <m:t>𝐴</m:t>
                          </m:r>
                        </m:sub>
                      </m:sSub>
                      <m:r>
                        <a:rPr lang="en-US" sz="2400" b="1" i="1">
                          <a:solidFill>
                            <a:schemeClr val="tx1"/>
                          </a:solidFill>
                          <a:latin typeface="Cambria Math" panose="02040503050406030204" pitchFamily="18" charset="0"/>
                          <a:ea typeface="Cambria Math" panose="02040503050406030204" pitchFamily="18" charset="0"/>
                        </a:rPr>
                        <m:t>=</m:t>
                      </m:r>
                      <m:sSubSup>
                        <m:sSubSupPr>
                          <m:ctrlPr>
                            <a:rPr lang="en-US" sz="2400" b="1" i="1" smtClean="0">
                              <a:solidFill>
                                <a:schemeClr val="tx1"/>
                              </a:solidFill>
                              <a:latin typeface="Cambria Math" panose="02040503050406030204" pitchFamily="18" charset="0"/>
                              <a:ea typeface="Cambria Math" panose="02040503050406030204" pitchFamily="18" charset="0"/>
                            </a:rPr>
                          </m:ctrlPr>
                        </m:sSubSupPr>
                        <m:e>
                          <m:r>
                            <a:rPr lang="en-US" sz="2400" b="1" i="1" smtClean="0">
                              <a:solidFill>
                                <a:schemeClr val="tx1"/>
                              </a:solidFill>
                              <a:latin typeface="Cambria Math" panose="02040503050406030204" pitchFamily="18" charset="0"/>
                              <a:ea typeface="Cambria Math" panose="02040503050406030204" pitchFamily="18" charset="0"/>
                            </a:rPr>
                            <m:t>𝑬</m:t>
                          </m:r>
                        </m:e>
                        <m:sub>
                          <m:r>
                            <a:rPr lang="en-US" sz="2400" b="0" i="1" smtClean="0">
                              <a:solidFill>
                                <a:schemeClr val="tx1"/>
                              </a:solidFill>
                              <a:latin typeface="Cambria Math" panose="02040503050406030204" pitchFamily="18" charset="0"/>
                              <a:ea typeface="Cambria Math" panose="02040503050406030204" pitchFamily="18" charset="0"/>
                            </a:rPr>
                            <m:t>𝐴</m:t>
                          </m:r>
                        </m:sub>
                        <m:sup>
                          <m:r>
                            <a:rPr lang="en-US" sz="2400" b="0" i="1" smtClean="0">
                              <a:solidFill>
                                <a:schemeClr val="tx1"/>
                              </a:solidFill>
                              <a:latin typeface="Cambria Math" panose="02040503050406030204" pitchFamily="18" charset="0"/>
                              <a:ea typeface="Cambria Math" panose="02040503050406030204" pitchFamily="18" charset="0"/>
                            </a:rPr>
                            <m:t>𝑇𝐹𝐴</m:t>
                          </m:r>
                        </m:sup>
                      </m:sSubSup>
                      <m:r>
                        <a:rPr lang="en-US" sz="2400" b="1" i="1">
                          <a:solidFill>
                            <a:schemeClr val="tx1"/>
                          </a:solidFill>
                          <a:latin typeface="Cambria Math" panose="02040503050406030204" pitchFamily="18" charset="0"/>
                          <a:ea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1">
                          <a:solidFill>
                            <a:schemeClr val="tx1"/>
                          </a:solidFill>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chemeClr val="tx1"/>
                                  </a:solidFill>
                                  <a:latin typeface="Cambria Math" panose="02040503050406030204" pitchFamily="18" charset="0"/>
                                  <a:ea typeface="Cambria Math" panose="02040503050406030204" pitchFamily="18" charset="0"/>
                                </a:rPr>
                              </m:ctrlPr>
                            </m:sSubSupPr>
                            <m:e>
                              <m:r>
                                <a:rPr lang="en-US" sz="2400" b="1" i="1">
                                  <a:solidFill>
                                    <a:schemeClr val="tx1"/>
                                  </a:solidFill>
                                  <a:latin typeface="Cambria Math" panose="02040503050406030204" pitchFamily="18" charset="0"/>
                                  <a:ea typeface="Cambria Math" panose="02040503050406030204" pitchFamily="18" charset="0"/>
                                </a:rPr>
                                <m:t>𝑷</m:t>
                              </m:r>
                            </m:e>
                            <m:sub>
                              <m:r>
                                <a:rPr lang="en-US" sz="2400" b="0" i="1" smtClean="0">
                                  <a:solidFill>
                                    <a:schemeClr val="tx1"/>
                                  </a:solidFill>
                                  <a:latin typeface="Cambria Math" panose="02040503050406030204" pitchFamily="18" charset="0"/>
                                  <a:ea typeface="Cambria Math" panose="02040503050406030204" pitchFamily="18" charset="0"/>
                                </a:rPr>
                                <m:t>𝐴</m:t>
                              </m:r>
                              <m:r>
                                <a:rPr lang="en-US" sz="2400" i="1">
                                  <a:solidFill>
                                    <a:schemeClr val="tx1"/>
                                  </a:solidFill>
                                  <a:latin typeface="Cambria Math" panose="02040503050406030204" pitchFamily="18" charset="0"/>
                                  <a:ea typeface="Cambria Math" panose="02040503050406030204" pitchFamily="18" charset="0"/>
                                </a:rPr>
                                <m:t>𝐵</m:t>
                              </m:r>
                            </m:sub>
                            <m:sup>
                              <m:r>
                                <a:rPr lang="en-US" sz="2400" i="1">
                                  <a:latin typeface="Cambria Math" panose="02040503050406030204" pitchFamily="18" charset="0"/>
                                  <a:ea typeface="Cambria Math" panose="02040503050406030204" pitchFamily="18" charset="0"/>
                                </a:rPr>
                                <m:t>𝑇𝐹𝐴</m:t>
                              </m:r>
                            </m:sup>
                          </m:sSubSup>
                          <m:r>
                            <a:rPr lang="en-US" sz="2400" b="1" i="1">
                              <a:solidFill>
                                <a:schemeClr val="tx1"/>
                              </a:solidFill>
                              <a:latin typeface="Cambria Math" panose="02040503050406030204" pitchFamily="18" charset="0"/>
                              <a:ea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𝝁</m:t>
                              </m:r>
                            </m:e>
                            <m:sub>
                              <m:r>
                                <a:rPr lang="en-US" sz="2400" i="1">
                                  <a:solidFill>
                                    <a:schemeClr val="tx1"/>
                                  </a:solidFill>
                                  <a:latin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5" name="TextBox 4">
                <a:extLst>
                  <a:ext uri="{FF2B5EF4-FFF2-40B4-BE49-F238E27FC236}">
                    <a16:creationId xmlns:a16="http://schemas.microsoft.com/office/drawing/2014/main" id="{3350069E-28D1-7D8A-FDFA-BA7F04A96198}"/>
                  </a:ext>
                </a:extLst>
              </p:cNvPr>
              <p:cNvSpPr txBox="1">
                <a:spLocks noRot="1" noChangeAspect="1" noMove="1" noResize="1" noEditPoints="1" noAdjustHandles="1" noChangeArrowheads="1" noChangeShapeType="1" noTextEdit="1"/>
              </p:cNvSpPr>
              <p:nvPr/>
            </p:nvSpPr>
            <p:spPr>
              <a:xfrm>
                <a:off x="3048811" y="2442448"/>
                <a:ext cx="6094378" cy="986552"/>
              </a:xfrm>
              <a:prstGeom prst="rect">
                <a:avLst/>
              </a:prstGeom>
              <a:blipFill>
                <a:blip r:embed="rId3"/>
                <a:stretch>
                  <a:fillRect/>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2F7645D0-AFAF-8F82-D3A0-BF3FE09BE4A8}"/>
              </a:ext>
            </a:extLst>
          </p:cNvPr>
          <p:cNvSpPr txBox="1">
            <a:spLocks/>
          </p:cNvSpPr>
          <p:nvPr/>
        </p:nvSpPr>
        <p:spPr>
          <a:xfrm>
            <a:off x="303177" y="3588866"/>
            <a:ext cx="11292192" cy="535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Where:</a:t>
            </a:r>
            <a:endParaRPr lang="en-US"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B45E7C71-C711-CF04-7706-2DBA89CB8F2D}"/>
                  </a:ext>
                </a:extLst>
              </p:cNvPr>
              <p:cNvSpPr txBox="1"/>
              <p:nvPr/>
            </p:nvSpPr>
            <p:spPr>
              <a:xfrm>
                <a:off x="3048811" y="4377110"/>
                <a:ext cx="6094378" cy="553870"/>
              </a:xfrm>
              <a:prstGeom prst="rect">
                <a:avLst/>
              </a:prstGeom>
              <a:noFill/>
            </p:spPr>
            <p:txBody>
              <a:bodyPr wrap="square">
                <a:spAutoFit/>
              </a:bodyPr>
              <a:lstStyle/>
              <a:p>
                <a:pPr algn="ctr"/>
                <a14:m>
                  <m:oMathPara xmlns:m="http://schemas.openxmlformats.org/officeDocument/2006/math">
                    <m:oMath>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𝑬</m:t>
                          </m:r>
                        </m:e>
                        <m:sub>
                          <m:r>
                            <a:rPr lang="en-US" sz="2400" i="1">
                              <a:solidFill>
                                <a:srgbClr val="FF0000"/>
                              </a:solidFill>
                              <a:latin typeface="Cambria Math" panose="02040503050406030204" pitchFamily="18" charset="0"/>
                              <a:ea typeface="Cambria Math" panose="02040503050406030204" pitchFamily="18" charset="0"/>
                            </a:rPr>
                            <m:t>𝐴</m:t>
                          </m:r>
                        </m:sub>
                        <m:sup>
                          <m:r>
                            <a:rPr lang="en-US" sz="2400" i="1">
                              <a:solidFill>
                                <a:srgbClr val="FF0000"/>
                              </a:solidFill>
                              <a:latin typeface="Cambria Math" panose="02040503050406030204" pitchFamily="18" charset="0"/>
                              <a:ea typeface="Cambria Math" panose="02040503050406030204" pitchFamily="18" charset="0"/>
                            </a:rPr>
                            <m:t>𝑇𝐹𝐴</m:t>
                          </m:r>
                        </m:sup>
                      </m:sSubSup>
                      <m:r>
                        <a:rPr lang="en-US" sz="2400" b="1" i="1">
                          <a:solidFill>
                            <a:srgbClr val="FF0000"/>
                          </a:solidFill>
                          <a:latin typeface="Cambria Math" panose="02040503050406030204" pitchFamily="18" charset="0"/>
                          <a:ea typeface="Cambria Math" panose="02040503050406030204" pitchFamily="18" charset="0"/>
                        </a:rPr>
                        <m:t>:</m:t>
                      </m:r>
                      <m:r>
                        <a:rPr lang="en-US" sz="2400" b="1" i="1">
                          <a:solidFill>
                            <a:srgbClr val="FF0000"/>
                          </a:solidFill>
                          <a:latin typeface="Cambria Math" panose="02040503050406030204" pitchFamily="18" charset="0"/>
                          <a:ea typeface="Cambria Math" panose="02040503050406030204" pitchFamily="18" charset="0"/>
                        </a:rPr>
                        <m:t>𝒗</m:t>
                      </m:r>
                      <m:r>
                        <a:rPr lang="en-US" sz="2400" b="1" i="1" smtClean="0">
                          <a:solidFill>
                            <a:srgbClr val="FF0000"/>
                          </a:solidFill>
                          <a:latin typeface="Cambria Math" panose="02040503050406030204" pitchFamily="18" charset="0"/>
                          <a:ea typeface="Cambria Math" panose="02040503050406030204" pitchFamily="18" charset="0"/>
                        </a:rPr>
                        <m:t>=</m:t>
                      </m:r>
                      <m:sSub>
                        <m:sSubPr>
                          <m:ctrlPr>
                            <a:rPr lang="el-GR" sz="2400" b="1" i="1">
                              <a:solidFill>
                                <a:srgbClr val="FF0000"/>
                              </a:solidFill>
                              <a:latin typeface="Cambria Math" panose="02040503050406030204" pitchFamily="18" charset="0"/>
                              <a:ea typeface="Cambria Math" panose="02040503050406030204" pitchFamily="18" charset="0"/>
                            </a:rPr>
                          </m:ctrlPr>
                        </m:sSubPr>
                        <m:e>
                          <m:d>
                            <m:dPr>
                              <m:begChr m:val="⟨"/>
                              <m:endChr m:val="⟩"/>
                              <m:ctrlPr>
                                <a:rPr lang="el-GR" sz="2400" b="1" i="1">
                                  <a:solidFill>
                                    <a:srgbClr val="FF0000"/>
                                  </a:solidFill>
                                  <a:latin typeface="Cambria Math" panose="02040503050406030204" pitchFamily="18" charset="0"/>
                                  <a:ea typeface="Cambria Math" panose="02040503050406030204" pitchFamily="18" charset="0"/>
                                </a:rPr>
                              </m:ctrlPr>
                            </m:dPr>
                            <m:e>
                              <m:sSubSup>
                                <m:sSubSupPr>
                                  <m:ctrlPr>
                                    <a:rPr lang="el-GR" sz="2400" b="1" i="1">
                                      <a:solidFill>
                                        <a:srgbClr val="FF0000"/>
                                      </a:solidFill>
                                      <a:latin typeface="Cambria Math" panose="02040503050406030204" pitchFamily="18" charset="0"/>
                                      <a:ea typeface="Cambria Math" panose="02040503050406030204" pitchFamily="18" charset="0"/>
                                    </a:rPr>
                                  </m:ctrlPr>
                                </m:sSubSupPr>
                                <m:e>
                                  <m:r>
                                    <a:rPr lang="el-GR" sz="2400" b="1" i="1">
                                      <a:solidFill>
                                        <a:srgbClr val="FF0000"/>
                                      </a:solidFill>
                                      <a:latin typeface="Cambria Math" panose="02040503050406030204" pitchFamily="18" charset="0"/>
                                      <a:ea typeface="Cambria Math" panose="02040503050406030204" pitchFamily="18" charset="0"/>
                                    </a:rPr>
                                    <m:t>𝜦</m:t>
                                  </m:r>
                                </m:e>
                                <m:sub>
                                  <m:r>
                                    <a:rPr lang="en-US" sz="2400" i="1">
                                      <a:solidFill>
                                        <a:srgbClr val="FF0000"/>
                                      </a:solidFill>
                                      <a:latin typeface="Cambria Math" panose="02040503050406030204" pitchFamily="18" charset="0"/>
                                      <a:ea typeface="Cambria Math" panose="02040503050406030204" pitchFamily="18" charset="0"/>
                                    </a:rPr>
                                    <m:t>0</m:t>
                                  </m:r>
                                </m:sub>
                                <m:sup>
                                  <m:r>
                                    <a:rPr lang="en-US" sz="2400" i="1">
                                      <a:solidFill>
                                        <a:srgbClr val="FF0000"/>
                                      </a:solidFill>
                                      <a:latin typeface="Cambria Math" panose="02040503050406030204" pitchFamily="18" charset="0"/>
                                      <a:ea typeface="Cambria Math" panose="02040503050406030204" pitchFamily="18" charset="0"/>
                                    </a:rPr>
                                    <m:t>−1</m:t>
                                  </m:r>
                                </m:sup>
                              </m:sSubSup>
                              <m:d>
                                <m:dPr>
                                  <m:begChr m:val="["/>
                                  <m:endChr m:val="]"/>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𝒗</m:t>
                                  </m:r>
                                </m:e>
                              </m:d>
                            </m:e>
                          </m:d>
                        </m:e>
                        <m:sub>
                          <m:r>
                            <a:rPr lang="en-US" sz="2400" b="0" i="1" smtClean="0">
                              <a:solidFill>
                                <a:srgbClr val="FF0000"/>
                              </a:solidFill>
                              <a:latin typeface="Cambria Math" panose="02040503050406030204" pitchFamily="18" charset="0"/>
                              <a:ea typeface="Cambria Math" panose="02040503050406030204" pitchFamily="18" charset="0"/>
                            </a:rPr>
                            <m:t>𝐴</m:t>
                          </m:r>
                        </m:sub>
                      </m:sSub>
                    </m:oMath>
                  </m:oMathPara>
                </a14:m>
                <a:endParaRPr lang="en-US" sz="2400" dirty="0">
                  <a:solidFill>
                    <a:srgbClr val="FF0000"/>
                  </a:solidFill>
                </a:endParaRPr>
              </a:p>
            </p:txBody>
          </p:sp>
        </mc:Choice>
        <mc:Fallback xmlns="">
          <p:sp>
            <p:nvSpPr>
              <p:cNvPr id="9" name="TextBox 8">
                <a:extLst>
                  <a:ext uri="{FF2B5EF4-FFF2-40B4-BE49-F238E27FC236}">
                    <a16:creationId xmlns:a16="http://schemas.microsoft.com/office/drawing/2014/main" id="{B45E7C71-C711-CF04-7706-2DBA89CB8F2D}"/>
                  </a:ext>
                </a:extLst>
              </p:cNvPr>
              <p:cNvSpPr txBox="1">
                <a:spLocks noRot="1" noChangeAspect="1" noMove="1" noResize="1" noEditPoints="1" noAdjustHandles="1" noChangeArrowheads="1" noChangeShapeType="1" noTextEdit="1"/>
              </p:cNvSpPr>
              <p:nvPr/>
            </p:nvSpPr>
            <p:spPr>
              <a:xfrm>
                <a:off x="3048811" y="4377110"/>
                <a:ext cx="6094378" cy="55387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20F1C46-3E4E-8B01-B9EC-A2DB7748815F}"/>
                  </a:ext>
                </a:extLst>
              </p:cNvPr>
              <p:cNvSpPr txBox="1"/>
              <p:nvPr/>
            </p:nvSpPr>
            <p:spPr>
              <a:xfrm>
                <a:off x="3048811" y="5255502"/>
                <a:ext cx="6094378" cy="553870"/>
              </a:xfrm>
              <a:prstGeom prst="rect">
                <a:avLst/>
              </a:prstGeom>
              <a:noFill/>
            </p:spPr>
            <p:txBody>
              <a:bodyPr wrap="square">
                <a:spAutoFit/>
              </a:bodyPr>
              <a:lstStyle/>
              <a:p>
                <a:pPr algn="ctr"/>
                <a14:m>
                  <m:oMathPara xmlns:m="http://schemas.openxmlformats.org/officeDocument/2006/math">
                    <m:oMath>
                      <m:sSubSup>
                        <m:sSubSupPr>
                          <m:ctrlPr>
                            <a:rPr lang="en-US" sz="2400" b="1" i="1" smtClean="0">
                              <a:solidFill>
                                <a:srgbClr val="FF0000"/>
                              </a:solidFill>
                              <a:latin typeface="Cambria Math" panose="02040503050406030204" pitchFamily="18" charset="0"/>
                              <a:ea typeface="Cambria Math" panose="02040503050406030204" pitchFamily="18" charset="0"/>
                            </a:rPr>
                          </m:ctrlPr>
                        </m:sSubSupPr>
                        <m:e>
                          <m:r>
                            <a:rPr lang="en-US" sz="2400" b="1" i="1" smtClean="0">
                              <a:solidFill>
                                <a:srgbClr val="FF0000"/>
                              </a:solidFill>
                              <a:latin typeface="Cambria Math" panose="02040503050406030204" pitchFamily="18" charset="0"/>
                              <a:ea typeface="Cambria Math" panose="02040503050406030204" pitchFamily="18" charset="0"/>
                            </a:rPr>
                            <m:t>𝑷</m:t>
                          </m:r>
                        </m:e>
                        <m:sub>
                          <m:r>
                            <a:rPr lang="en-US" sz="2400" b="0" i="1" smtClean="0">
                              <a:solidFill>
                                <a:srgbClr val="FF0000"/>
                              </a:solidFill>
                              <a:latin typeface="Cambria Math" panose="02040503050406030204" pitchFamily="18" charset="0"/>
                              <a:ea typeface="Cambria Math" panose="02040503050406030204" pitchFamily="18" charset="0"/>
                            </a:rPr>
                            <m:t>𝐴𝐵</m:t>
                          </m:r>
                        </m:sub>
                        <m:sup>
                          <m:r>
                            <a:rPr lang="en-US" sz="2400" i="1">
                              <a:solidFill>
                                <a:srgbClr val="FF0000"/>
                              </a:solidFill>
                              <a:latin typeface="Cambria Math" panose="02040503050406030204" pitchFamily="18" charset="0"/>
                              <a:ea typeface="Cambria Math" panose="02040503050406030204" pitchFamily="18" charset="0"/>
                            </a:rPr>
                            <m:t>𝑇𝐹𝐴</m:t>
                          </m:r>
                        </m:sup>
                      </m:sSubSup>
                      <m:r>
                        <a:rPr lang="en-US" sz="2400" b="1" i="1">
                          <a:solidFill>
                            <a:srgbClr val="FF0000"/>
                          </a:solidFill>
                          <a:latin typeface="Cambria Math" panose="02040503050406030204" pitchFamily="18" charset="0"/>
                          <a:ea typeface="Cambria Math" panose="02040503050406030204" pitchFamily="18" charset="0"/>
                        </a:rPr>
                        <m:t>:</m:t>
                      </m:r>
                      <m:r>
                        <a:rPr lang="en-US" sz="2400" b="1" i="1">
                          <a:solidFill>
                            <a:srgbClr val="FF0000"/>
                          </a:solidFill>
                          <a:latin typeface="Cambria Math" panose="02040503050406030204" pitchFamily="18" charset="0"/>
                          <a:ea typeface="Cambria Math" panose="02040503050406030204" pitchFamily="18" charset="0"/>
                        </a:rPr>
                        <m:t>𝒗</m:t>
                      </m:r>
                      <m:r>
                        <a:rPr lang="en-US" sz="2400" b="1" i="1" smtClean="0">
                          <a:solidFill>
                            <a:srgbClr val="FF0000"/>
                          </a:solidFill>
                          <a:latin typeface="Cambria Math" panose="02040503050406030204" pitchFamily="18" charset="0"/>
                          <a:ea typeface="Cambria Math" panose="02040503050406030204" pitchFamily="18" charset="0"/>
                        </a:rPr>
                        <m:t>=</m:t>
                      </m:r>
                      <m:sSub>
                        <m:sSubPr>
                          <m:ctrlPr>
                            <a:rPr lang="el-GR" sz="2400" b="1" i="1">
                              <a:solidFill>
                                <a:srgbClr val="FF0000"/>
                              </a:solidFill>
                              <a:latin typeface="Cambria Math" panose="02040503050406030204" pitchFamily="18" charset="0"/>
                              <a:ea typeface="Cambria Math" panose="02040503050406030204" pitchFamily="18" charset="0"/>
                            </a:rPr>
                          </m:ctrlPr>
                        </m:sSubPr>
                        <m:e>
                          <m:d>
                            <m:dPr>
                              <m:begChr m:val="⟨"/>
                              <m:endChr m:val="⟩"/>
                              <m:ctrlPr>
                                <a:rPr lang="el-GR" sz="2400" b="1" i="1">
                                  <a:solidFill>
                                    <a:srgbClr val="FF0000"/>
                                  </a:solidFill>
                                  <a:latin typeface="Cambria Math" panose="02040503050406030204" pitchFamily="18" charset="0"/>
                                  <a:ea typeface="Cambria Math" panose="02040503050406030204" pitchFamily="18" charset="0"/>
                                </a:rPr>
                              </m:ctrlPr>
                            </m:dPr>
                            <m:e>
                              <m:sSubSup>
                                <m:sSubSupPr>
                                  <m:ctrlPr>
                                    <a:rPr lang="el-GR" sz="2400" b="1" i="1">
                                      <a:solidFill>
                                        <a:srgbClr val="FF0000"/>
                                      </a:solidFill>
                                      <a:latin typeface="Cambria Math" panose="02040503050406030204" pitchFamily="18" charset="0"/>
                                      <a:ea typeface="Cambria Math" panose="02040503050406030204" pitchFamily="18" charset="0"/>
                                    </a:rPr>
                                  </m:ctrlPr>
                                </m:sSubSupPr>
                                <m:e>
                                  <m:r>
                                    <a:rPr lang="el-GR" sz="2400" b="1" i="1">
                                      <a:solidFill>
                                        <a:srgbClr val="FF0000"/>
                                      </a:solidFill>
                                      <a:latin typeface="Cambria Math" panose="02040503050406030204" pitchFamily="18" charset="0"/>
                                      <a:ea typeface="Cambria Math" panose="02040503050406030204" pitchFamily="18" charset="0"/>
                                    </a:rPr>
                                    <m:t>𝜦</m:t>
                                  </m:r>
                                </m:e>
                                <m:sub>
                                  <m:r>
                                    <a:rPr lang="en-US" sz="2400" i="1">
                                      <a:solidFill>
                                        <a:srgbClr val="FF0000"/>
                                      </a:solidFill>
                                      <a:latin typeface="Cambria Math" panose="02040503050406030204" pitchFamily="18" charset="0"/>
                                      <a:ea typeface="Cambria Math" panose="02040503050406030204" pitchFamily="18" charset="0"/>
                                    </a:rPr>
                                    <m:t>0</m:t>
                                  </m:r>
                                </m:sub>
                                <m:sup>
                                  <m:r>
                                    <a:rPr lang="en-US" sz="2400" i="1">
                                      <a:solidFill>
                                        <a:srgbClr val="FF0000"/>
                                      </a:solidFill>
                                      <a:latin typeface="Cambria Math" panose="02040503050406030204" pitchFamily="18" charset="0"/>
                                      <a:ea typeface="Cambria Math" panose="02040503050406030204" pitchFamily="18" charset="0"/>
                                    </a:rPr>
                                    <m:t>−1</m:t>
                                  </m:r>
                                </m:sup>
                              </m:sSubSup>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𝑪</m:t>
                                  </m:r>
                                  <m:r>
                                    <a:rPr lang="en-US" sz="2400" b="1"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r>
                                    <a:rPr lang="en-US" sz="2400" b="1" i="1">
                                      <a:solidFill>
                                        <a:srgbClr val="FF0000"/>
                                      </a:solidFill>
                                      <a:latin typeface="Cambria Math" panose="02040503050406030204" pitchFamily="18" charset="0"/>
                                    </a:rPr>
                                    <m:t>𝒗</m:t>
                                  </m:r>
                                </m:e>
                              </m:d>
                            </m:e>
                          </m:d>
                        </m:e>
                        <m:sub>
                          <m:r>
                            <a:rPr lang="en-US" sz="2400" b="0" i="1" smtClean="0">
                              <a:solidFill>
                                <a:srgbClr val="FF0000"/>
                              </a:solidFill>
                              <a:latin typeface="Cambria Math" panose="02040503050406030204" pitchFamily="18" charset="0"/>
                              <a:ea typeface="Cambria Math" panose="02040503050406030204" pitchFamily="18" charset="0"/>
                            </a:rPr>
                            <m:t>𝐴</m:t>
                          </m:r>
                        </m:sub>
                      </m:sSub>
                    </m:oMath>
                  </m:oMathPara>
                </a14:m>
                <a:endParaRPr lang="en-US" sz="2400" dirty="0">
                  <a:solidFill>
                    <a:srgbClr val="FF0000"/>
                  </a:solidFill>
                </a:endParaRPr>
              </a:p>
            </p:txBody>
          </p:sp>
        </mc:Choice>
        <mc:Fallback xmlns="">
          <p:sp>
            <p:nvSpPr>
              <p:cNvPr id="12" name="TextBox 11">
                <a:extLst>
                  <a:ext uri="{FF2B5EF4-FFF2-40B4-BE49-F238E27FC236}">
                    <a16:creationId xmlns:a16="http://schemas.microsoft.com/office/drawing/2014/main" id="{920F1C46-3E4E-8B01-B9EC-A2DB7748815F}"/>
                  </a:ext>
                </a:extLst>
              </p:cNvPr>
              <p:cNvSpPr txBox="1">
                <a:spLocks noRot="1" noChangeAspect="1" noMove="1" noResize="1" noEditPoints="1" noAdjustHandles="1" noChangeArrowheads="1" noChangeShapeType="1" noTextEdit="1"/>
              </p:cNvSpPr>
              <p:nvPr/>
            </p:nvSpPr>
            <p:spPr>
              <a:xfrm>
                <a:off x="3048811" y="5255502"/>
                <a:ext cx="6094378" cy="553870"/>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290640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0043B-D6C6-E204-8E83-D225F0F67F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C942E-66EA-7EF4-98B8-3051717DAAC3}"/>
              </a:ext>
            </a:extLst>
          </p:cNvPr>
          <p:cNvSpPr>
            <a:spLocks noGrp="1"/>
          </p:cNvSpPr>
          <p:nvPr>
            <p:ph type="title"/>
          </p:nvPr>
        </p:nvSpPr>
        <p:spPr>
          <a:xfrm>
            <a:off x="244375" y="262451"/>
            <a:ext cx="12192545" cy="1325563"/>
          </a:xfrm>
        </p:spPr>
        <p:txBody>
          <a:bodyPr>
            <a:normAutofit/>
          </a:bodyPr>
          <a:lstStyle/>
          <a:p>
            <a:r>
              <a:rPr lang="en-US" altLang="zh-TW" sz="4000" b="1" dirty="0"/>
              <a:t>Part 2</a:t>
            </a:r>
            <a:r>
              <a:rPr lang="en-US" altLang="zh-TW" sz="4000" dirty="0"/>
              <a:t>: Lippmann-Schwinger to Constant Polarization </a:t>
            </a:r>
            <a:endParaRPr lang="en-US" sz="40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2A256F-3CC4-1AAE-175A-8D8A220B26F2}"/>
                  </a:ext>
                </a:extLst>
              </p:cNvPr>
              <p:cNvSpPr>
                <a:spLocks noGrp="1"/>
              </p:cNvSpPr>
              <p:nvPr>
                <p:ph idx="1"/>
              </p:nvPr>
            </p:nvSpPr>
            <p:spPr>
              <a:xfrm>
                <a:off x="244375" y="1628654"/>
                <a:ext cx="11592025" cy="2740145"/>
              </a:xfrm>
            </p:spPr>
            <p:txBody>
              <a:bodyPr>
                <a:normAutofit/>
              </a:bodyPr>
              <a:lstStyle/>
              <a:p>
                <a:pPr marL="0" indent="0" algn="just">
                  <a:buNone/>
                </a:pPr>
                <a:r>
                  <a:rPr lang="en-US" b="1" dirty="0"/>
                  <a:t>Goal:</a:t>
                </a:r>
                <a:r>
                  <a:rPr lang="en-US" dirty="0"/>
                  <a:t> Starting from the Lippmann-Schwinger equation, derive a TFA-like scheme which instead assumes constant polarization within each partition. Express the tensors of this new scheme in the following form (where </a:t>
                </a:r>
                <a14:m>
                  <m:oMath xmlns:m="http://schemas.openxmlformats.org/officeDocument/2006/math">
                    <m:r>
                      <a:rPr lang="en-US" b="0" i="1" smtClean="0">
                        <a:latin typeface="Cambria Math" panose="02040503050406030204" pitchFamily="18" charset="0"/>
                      </a:rPr>
                      <m:t>𝐶𝑃</m:t>
                    </m:r>
                  </m:oMath>
                </a14:m>
                <a:r>
                  <a:rPr lang="en-US" dirty="0"/>
                  <a:t> refers to constant polarization, and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𝝀</m:t>
                        </m:r>
                      </m:e>
                      <m:sub>
                        <m:r>
                          <a:rPr lang="en-US" i="1">
                            <a:latin typeface="Cambria Math" panose="02040503050406030204" pitchFamily="18" charset="0"/>
                          </a:rPr>
                          <m:t>∗</m:t>
                        </m:r>
                        <m:r>
                          <a:rPr lang="en-US" i="1">
                            <a:latin typeface="Cambria Math" panose="02040503050406030204" pitchFamily="18" charset="0"/>
                          </a:rPr>
                          <m:t>𝐵</m:t>
                        </m:r>
                      </m:sub>
                    </m:sSub>
                  </m:oMath>
                </a14:m>
                <a:r>
                  <a:rPr lang="en-US" dirty="0"/>
                  <a:t> will be introduced later):</a:t>
                </a:r>
              </a:p>
            </p:txBody>
          </p:sp>
        </mc:Choice>
        <mc:Fallback xmlns="">
          <p:sp>
            <p:nvSpPr>
              <p:cNvPr id="3" name="Content Placeholder 2">
                <a:extLst>
                  <a:ext uri="{FF2B5EF4-FFF2-40B4-BE49-F238E27FC236}">
                    <a16:creationId xmlns:a16="http://schemas.microsoft.com/office/drawing/2014/main" id="{6F2A256F-3CC4-1AAE-175A-8D8A220B26F2}"/>
                  </a:ext>
                </a:extLst>
              </p:cNvPr>
              <p:cNvSpPr>
                <a:spLocks noGrp="1" noRot="1" noChangeAspect="1" noMove="1" noResize="1" noEditPoints="1" noAdjustHandles="1" noChangeArrowheads="1" noChangeShapeType="1" noTextEdit="1"/>
              </p:cNvSpPr>
              <p:nvPr>
                <p:ph idx="1"/>
              </p:nvPr>
            </p:nvSpPr>
            <p:spPr>
              <a:xfrm>
                <a:off x="244375" y="1628654"/>
                <a:ext cx="11592025" cy="2740145"/>
              </a:xfrm>
              <a:blipFill>
                <a:blip r:embed="rId2"/>
                <a:stretch>
                  <a:fillRect l="-1052" t="-3778" r="-10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A95B6C52-C2FC-D31B-FFE3-DBAD77A07284}"/>
                  </a:ext>
                </a:extLst>
              </p:cNvPr>
              <p:cNvSpPr txBox="1">
                <a:spLocks/>
              </p:cNvSpPr>
              <p:nvPr/>
            </p:nvSpPr>
            <p:spPr>
              <a:xfrm>
                <a:off x="244375" y="4914384"/>
                <a:ext cx="11592025" cy="184309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b="1" dirty="0"/>
                  <a:t>Reason: </a:t>
                </a:r>
                <a:r>
                  <a:rPr lang="en-US" dirty="0"/>
                  <a:t>If partitions are uniform, this will allow us to use online FFT acceleration with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𝑀𝑙𝑜𝑔</m:t>
                        </m:r>
                        <m:d>
                          <m:dPr>
                            <m:ctrlPr>
                              <a:rPr lang="en-US" b="0" i="1" smtClean="0">
                                <a:latin typeface="Cambria Math" panose="02040503050406030204" pitchFamily="18" charset="0"/>
                              </a:rPr>
                            </m:ctrlPr>
                          </m:dPr>
                          <m:e>
                            <m:r>
                              <a:rPr lang="en-US" b="0" i="1" smtClean="0">
                                <a:latin typeface="Cambria Math" panose="02040503050406030204" pitchFamily="18" charset="0"/>
                              </a:rPr>
                              <m:t>𝑀</m:t>
                            </m:r>
                          </m:e>
                        </m:d>
                      </m:e>
                    </m:d>
                  </m:oMath>
                </a14:m>
                <a:r>
                  <a:rPr lang="en-US" dirty="0"/>
                  <a:t> complexity, with </a:t>
                </a:r>
                <a14:m>
                  <m:oMath xmlns:m="http://schemas.openxmlformats.org/officeDocument/2006/math">
                    <m:r>
                      <a:rPr lang="en-US" b="0" i="1" smtClean="0">
                        <a:latin typeface="Cambria Math" panose="02040503050406030204" pitchFamily="18" charset="0"/>
                      </a:rPr>
                      <m:t>𝑀</m:t>
                    </m:r>
                  </m:oMath>
                </a14:m>
                <a:r>
                  <a:rPr lang="en-US" dirty="0"/>
                  <a:t> being the number of partitions. Expressing the equation in the form above will allow for direct comparison with the TFA tensor operators.  </a:t>
                </a:r>
              </a:p>
            </p:txBody>
          </p:sp>
        </mc:Choice>
        <mc:Fallback xmlns="">
          <p:sp>
            <p:nvSpPr>
              <p:cNvPr id="7" name="Content Placeholder 2">
                <a:extLst>
                  <a:ext uri="{FF2B5EF4-FFF2-40B4-BE49-F238E27FC236}">
                    <a16:creationId xmlns:a16="http://schemas.microsoft.com/office/drawing/2014/main" id="{A95B6C52-C2FC-D31B-FFE3-DBAD77A07284}"/>
                  </a:ext>
                </a:extLst>
              </p:cNvPr>
              <p:cNvSpPr txBox="1">
                <a:spLocks noRot="1" noChangeAspect="1" noMove="1" noResize="1" noEditPoints="1" noAdjustHandles="1" noChangeArrowheads="1" noChangeShapeType="1" noTextEdit="1"/>
              </p:cNvSpPr>
              <p:nvPr/>
            </p:nvSpPr>
            <p:spPr>
              <a:xfrm>
                <a:off x="244375" y="4914384"/>
                <a:ext cx="11592025" cy="1843097"/>
              </a:xfrm>
              <a:prstGeom prst="rect">
                <a:avLst/>
              </a:prstGeom>
              <a:blipFill>
                <a:blip r:embed="rId3"/>
                <a:stretch>
                  <a:fillRect l="-1052" t="-5611" r="-10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2DCEA72-DFEF-9829-34F1-51C06A4207F3}"/>
                  </a:ext>
                </a:extLst>
              </p:cNvPr>
              <p:cNvSpPr txBox="1"/>
              <p:nvPr/>
            </p:nvSpPr>
            <p:spPr>
              <a:xfrm>
                <a:off x="2937051" y="3605363"/>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𝜺</m:t>
                          </m:r>
                        </m:e>
                        <m:sub>
                          <m:r>
                            <a:rPr lang="en-US" sz="2400" b="0" i="1" smtClean="0">
                              <a:solidFill>
                                <a:schemeClr val="tx1"/>
                              </a:solidFill>
                              <a:latin typeface="Cambria Math" panose="02040503050406030204" pitchFamily="18" charset="0"/>
                              <a:ea typeface="Cambria Math" panose="02040503050406030204" pitchFamily="18" charset="0"/>
                            </a:rPr>
                            <m:t>𝐴</m:t>
                          </m:r>
                        </m:sub>
                      </m:sSub>
                      <m:r>
                        <a:rPr lang="en-US" sz="2400" b="1" i="1">
                          <a:solidFill>
                            <a:schemeClr val="tx1"/>
                          </a:solidFill>
                          <a:latin typeface="Cambria Math" panose="02040503050406030204" pitchFamily="18" charset="0"/>
                          <a:ea typeface="Cambria Math" panose="02040503050406030204" pitchFamily="18" charset="0"/>
                        </a:rPr>
                        <m:t>=</m:t>
                      </m:r>
                      <m:sSubSup>
                        <m:sSubSupPr>
                          <m:ctrlPr>
                            <a:rPr lang="en-US" sz="2400" b="1" i="1" smtClean="0">
                              <a:solidFill>
                                <a:schemeClr val="tx1"/>
                              </a:solidFill>
                              <a:latin typeface="Cambria Math" panose="02040503050406030204" pitchFamily="18" charset="0"/>
                              <a:ea typeface="Cambria Math" panose="02040503050406030204" pitchFamily="18" charset="0"/>
                            </a:rPr>
                          </m:ctrlPr>
                        </m:sSubSupPr>
                        <m:e>
                          <m:r>
                            <a:rPr lang="en-US" sz="2400" b="1" i="1" smtClean="0">
                              <a:solidFill>
                                <a:schemeClr val="tx1"/>
                              </a:solidFill>
                              <a:latin typeface="Cambria Math" panose="02040503050406030204" pitchFamily="18" charset="0"/>
                              <a:ea typeface="Cambria Math" panose="02040503050406030204" pitchFamily="18" charset="0"/>
                            </a:rPr>
                            <m:t>𝑬</m:t>
                          </m:r>
                        </m:e>
                        <m:sub>
                          <m:r>
                            <a:rPr lang="en-US" sz="2400" b="0" i="1" smtClean="0">
                              <a:solidFill>
                                <a:schemeClr val="tx1"/>
                              </a:solidFill>
                              <a:latin typeface="Cambria Math" panose="02040503050406030204" pitchFamily="18" charset="0"/>
                              <a:ea typeface="Cambria Math" panose="02040503050406030204" pitchFamily="18" charset="0"/>
                            </a:rPr>
                            <m:t>𝐴</m:t>
                          </m:r>
                        </m:sub>
                        <m:sup>
                          <m:r>
                            <a:rPr lang="en-US" sz="2400" b="0" i="1" smtClean="0">
                              <a:solidFill>
                                <a:schemeClr val="tx1"/>
                              </a:solidFill>
                              <a:latin typeface="Cambria Math" panose="02040503050406030204" pitchFamily="18" charset="0"/>
                              <a:ea typeface="Cambria Math" panose="02040503050406030204" pitchFamily="18" charset="0"/>
                            </a:rPr>
                            <m:t>𝐶𝑃</m:t>
                          </m:r>
                        </m:sup>
                      </m:sSubSup>
                      <m:r>
                        <a:rPr lang="en-US" sz="2400" b="1" i="1">
                          <a:solidFill>
                            <a:schemeClr val="tx1"/>
                          </a:solidFill>
                          <a:latin typeface="Cambria Math" panose="02040503050406030204" pitchFamily="18" charset="0"/>
                          <a:ea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1">
                          <a:solidFill>
                            <a:schemeClr val="tx1"/>
                          </a:solidFill>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chemeClr val="tx1"/>
                                  </a:solidFill>
                                  <a:latin typeface="Cambria Math" panose="02040503050406030204" pitchFamily="18" charset="0"/>
                                  <a:ea typeface="Cambria Math" panose="02040503050406030204" pitchFamily="18" charset="0"/>
                                </a:rPr>
                              </m:ctrlPr>
                            </m:sSubSupPr>
                            <m:e>
                              <m:r>
                                <a:rPr lang="en-US" sz="2400" b="1" i="1">
                                  <a:solidFill>
                                    <a:schemeClr val="tx1"/>
                                  </a:solidFill>
                                  <a:latin typeface="Cambria Math" panose="02040503050406030204" pitchFamily="18" charset="0"/>
                                  <a:ea typeface="Cambria Math" panose="02040503050406030204" pitchFamily="18" charset="0"/>
                                </a:rPr>
                                <m:t>𝑷</m:t>
                              </m:r>
                            </m:e>
                            <m:sub>
                              <m:r>
                                <a:rPr lang="en-US" sz="2400" b="0" i="1" smtClean="0">
                                  <a:solidFill>
                                    <a:schemeClr val="tx1"/>
                                  </a:solidFill>
                                  <a:latin typeface="Cambria Math" panose="02040503050406030204" pitchFamily="18" charset="0"/>
                                  <a:ea typeface="Cambria Math" panose="02040503050406030204" pitchFamily="18" charset="0"/>
                                </a:rPr>
                                <m:t>𝐴</m:t>
                              </m:r>
                              <m:r>
                                <a:rPr lang="en-US" sz="2400" i="1">
                                  <a:solidFill>
                                    <a:schemeClr val="tx1"/>
                                  </a:solidFill>
                                  <a:latin typeface="Cambria Math" panose="02040503050406030204" pitchFamily="18" charset="0"/>
                                  <a:ea typeface="Cambria Math" panose="02040503050406030204" pitchFamily="18" charset="0"/>
                                </a:rPr>
                                <m:t>𝐵</m:t>
                              </m:r>
                            </m:sub>
                            <m:sup>
                              <m:r>
                                <a:rPr lang="en-US" sz="2400" i="1">
                                  <a:latin typeface="Cambria Math" panose="02040503050406030204" pitchFamily="18" charset="0"/>
                                  <a:ea typeface="Cambria Math" panose="02040503050406030204" pitchFamily="18" charset="0"/>
                                </a:rPr>
                                <m:t>𝐶𝑃</m:t>
                              </m:r>
                            </m:sup>
                          </m:sSubSup>
                          <m:r>
                            <a:rPr lang="en-US" sz="2400" b="1" i="1">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𝝀</m:t>
                              </m:r>
                            </m:e>
                            <m:sub>
                              <m:r>
                                <a:rPr lang="en-US" sz="2400" b="0" i="1" smtClean="0">
                                  <a:solidFill>
                                    <a:schemeClr val="tx1"/>
                                  </a:solidFill>
                                  <a:latin typeface="Cambria Math" panose="02040503050406030204" pitchFamily="18" charset="0"/>
                                </a:rPr>
                                <m:t>∗</m:t>
                              </m:r>
                              <m:r>
                                <a:rPr lang="en-US" sz="2400" i="1">
                                  <a:solidFill>
                                    <a:schemeClr val="tx1"/>
                                  </a:solidFill>
                                  <a:latin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12DCEA72-DFEF-9829-34F1-51C06A4207F3}"/>
                  </a:ext>
                </a:extLst>
              </p:cNvPr>
              <p:cNvSpPr txBox="1">
                <a:spLocks noRot="1" noChangeAspect="1" noMove="1" noResize="1" noEditPoints="1" noAdjustHandles="1" noChangeArrowheads="1" noChangeShapeType="1" noTextEdit="1"/>
              </p:cNvSpPr>
              <p:nvPr/>
            </p:nvSpPr>
            <p:spPr>
              <a:xfrm>
                <a:off x="2937051" y="3605363"/>
                <a:ext cx="6094378" cy="98655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810183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B9615-BA45-4524-F553-727A9465DC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07C38-B712-34D9-AE89-F9CD0F4B90D3}"/>
              </a:ext>
            </a:extLst>
          </p:cNvPr>
          <p:cNvSpPr>
            <a:spLocks noGrp="1"/>
          </p:cNvSpPr>
          <p:nvPr>
            <p:ph type="title"/>
          </p:nvPr>
        </p:nvSpPr>
        <p:spPr>
          <a:xfrm>
            <a:off x="303177" y="0"/>
            <a:ext cx="10515600" cy="1325563"/>
          </a:xfrm>
        </p:spPr>
        <p:txBody>
          <a:bodyPr/>
          <a:lstStyle/>
          <a:p>
            <a:r>
              <a:rPr lang="en-US" dirty="0"/>
              <a:t>Derivation: LS to CP (1)</a:t>
            </a:r>
          </a:p>
        </p:txBody>
      </p:sp>
      <p:sp>
        <p:nvSpPr>
          <p:cNvPr id="3" name="Content Placeholder 2">
            <a:extLst>
              <a:ext uri="{FF2B5EF4-FFF2-40B4-BE49-F238E27FC236}">
                <a16:creationId xmlns:a16="http://schemas.microsoft.com/office/drawing/2014/main" id="{74676EA1-DE5D-45C3-0C32-7DBF621EE059}"/>
              </a:ext>
            </a:extLst>
          </p:cNvPr>
          <p:cNvSpPr>
            <a:spLocks noGrp="1"/>
          </p:cNvSpPr>
          <p:nvPr>
            <p:ph idx="1"/>
          </p:nvPr>
        </p:nvSpPr>
        <p:spPr>
          <a:xfrm>
            <a:off x="303177" y="1445642"/>
            <a:ext cx="10515600" cy="489558"/>
          </a:xfrm>
        </p:spPr>
        <p:txBody>
          <a:bodyPr/>
          <a:lstStyle/>
          <a:p>
            <a:pPr marL="0" indent="0">
              <a:buNone/>
            </a:pPr>
            <a:r>
              <a:rPr lang="en-US" dirty="0"/>
              <a:t>Starting with the Lippmann-Schwinger equation:</a:t>
            </a:r>
          </a:p>
          <a:p>
            <a:pPr marL="0" indent="0">
              <a:buNone/>
            </a:pPr>
            <a:endParaRPr lang="en-US"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BA11444-4896-D329-6625-11C88324F410}"/>
                  </a:ext>
                </a:extLst>
              </p:cNvPr>
              <p:cNvSpPr txBox="1"/>
              <p:nvPr/>
            </p:nvSpPr>
            <p:spPr>
              <a:xfrm>
                <a:off x="3048811" y="2177460"/>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solidFill>
                            <a:schemeClr val="tx1"/>
                          </a:solidFill>
                          <a:latin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𝝉</m:t>
                          </m:r>
                        </m:e>
                      </m:d>
                    </m:oMath>
                  </m:oMathPara>
                </a14:m>
                <a:endParaRPr lang="en-US" sz="2400" dirty="0">
                  <a:solidFill>
                    <a:schemeClr val="tx1"/>
                  </a:solidFill>
                </a:endParaRPr>
              </a:p>
            </p:txBody>
          </p:sp>
        </mc:Choice>
        <mc:Fallback xmlns="">
          <p:sp>
            <p:nvSpPr>
              <p:cNvPr id="6" name="TextBox 5">
                <a:extLst>
                  <a:ext uri="{FF2B5EF4-FFF2-40B4-BE49-F238E27FC236}">
                    <a16:creationId xmlns:a16="http://schemas.microsoft.com/office/drawing/2014/main" id="{FBA11444-4896-D329-6625-11C88324F410}"/>
                  </a:ext>
                </a:extLst>
              </p:cNvPr>
              <p:cNvSpPr txBox="1">
                <a:spLocks noRot="1" noChangeAspect="1" noMove="1" noResize="1" noEditPoints="1" noAdjustHandles="1" noChangeArrowheads="1" noChangeShapeType="1" noTextEdit="1"/>
              </p:cNvSpPr>
              <p:nvPr/>
            </p:nvSpPr>
            <p:spPr>
              <a:xfrm>
                <a:off x="3048811" y="2177460"/>
                <a:ext cx="6094378" cy="461665"/>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1136E00-691A-19E9-EF4F-16FC21ACC882}"/>
                  </a:ext>
                </a:extLst>
              </p:cNvPr>
              <p:cNvSpPr txBox="1"/>
              <p:nvPr/>
            </p:nvSpPr>
            <p:spPr>
              <a:xfrm>
                <a:off x="3048811" y="3443643"/>
                <a:ext cx="6094378" cy="461665"/>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𝝉</m:t>
                      </m:r>
                      <m:r>
                        <a:rPr lang="en-US" sz="2400" b="1" i="1" smtClean="0">
                          <a:solidFill>
                            <a:schemeClr val="tx1"/>
                          </a:solidFill>
                          <a:latin typeface="Cambria Math" panose="02040503050406030204" pitchFamily="18" charset="0"/>
                        </a:rPr>
                        <m:t>=</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𝜺</m:t>
                      </m:r>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𝑪</m:t>
                      </m:r>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𝝁</m:t>
                      </m:r>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D1136E00-691A-19E9-EF4F-16FC21ACC882}"/>
                  </a:ext>
                </a:extLst>
              </p:cNvPr>
              <p:cNvSpPr txBox="1">
                <a:spLocks noRot="1" noChangeAspect="1" noMove="1" noResize="1" noEditPoints="1" noAdjustHandles="1" noChangeArrowheads="1" noChangeShapeType="1" noTextEdit="1"/>
              </p:cNvSpPr>
              <p:nvPr/>
            </p:nvSpPr>
            <p:spPr>
              <a:xfrm>
                <a:off x="3048811" y="3443643"/>
                <a:ext cx="6094378" cy="461665"/>
              </a:xfrm>
              <a:prstGeom prst="rect">
                <a:avLst/>
              </a:prstGeom>
              <a:blipFill>
                <a:blip r:embed="rId3"/>
                <a:stretch>
                  <a:fillRect b="-6579"/>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2E6CD02D-AB63-C523-6BCB-1F43FF6BA716}"/>
              </a:ext>
            </a:extLst>
          </p:cNvPr>
          <p:cNvSpPr txBox="1">
            <a:spLocks/>
          </p:cNvSpPr>
          <p:nvPr/>
        </p:nvSpPr>
        <p:spPr>
          <a:xfrm>
            <a:off x="303177" y="2750885"/>
            <a:ext cx="10515600"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Where:</a:t>
            </a:r>
          </a:p>
        </p:txBody>
      </p:sp>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6235EBDD-8210-D374-B803-7AA6091EE54E}"/>
                  </a:ext>
                </a:extLst>
              </p:cNvPr>
              <p:cNvSpPr txBox="1">
                <a:spLocks/>
              </p:cNvSpPr>
              <p:nvPr/>
            </p:nvSpPr>
            <p:spPr>
              <a:xfrm>
                <a:off x="303177" y="4369716"/>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Apply the assumption of constant polarization stress in partition </a:t>
                </a:r>
                <a14:m>
                  <m:oMath xmlns:m="http://schemas.openxmlformats.org/officeDocument/2006/math">
                    <m:r>
                      <a:rPr lang="en-US" b="0" i="1" smtClean="0">
                        <a:latin typeface="Cambria Math" panose="02040503050406030204" pitchFamily="18" charset="0"/>
                      </a:rPr>
                      <m:t>𝐵</m:t>
                    </m:r>
                  </m:oMath>
                </a14:m>
                <a:r>
                  <a:rPr lang="en-US" dirty="0"/>
                  <a:t>: </a:t>
                </a:r>
              </a:p>
            </p:txBody>
          </p:sp>
        </mc:Choice>
        <mc:Fallback xmlns="">
          <p:sp>
            <p:nvSpPr>
              <p:cNvPr id="17" name="Content Placeholder 2">
                <a:extLst>
                  <a:ext uri="{FF2B5EF4-FFF2-40B4-BE49-F238E27FC236}">
                    <a16:creationId xmlns:a16="http://schemas.microsoft.com/office/drawing/2014/main" id="{6235EBDD-8210-D374-B803-7AA6091EE54E}"/>
                  </a:ext>
                </a:extLst>
              </p:cNvPr>
              <p:cNvSpPr txBox="1">
                <a:spLocks noRot="1" noChangeAspect="1" noMove="1" noResize="1" noEditPoints="1" noAdjustHandles="1" noChangeArrowheads="1" noChangeShapeType="1" noTextEdit="1"/>
              </p:cNvSpPr>
              <p:nvPr/>
            </p:nvSpPr>
            <p:spPr>
              <a:xfrm>
                <a:off x="303177" y="4369716"/>
                <a:ext cx="11292192" cy="489558"/>
              </a:xfrm>
              <a:prstGeom prst="rect">
                <a:avLst/>
              </a:prstGeom>
              <a:blipFill>
                <a:blip r:embed="rId4"/>
                <a:stretch>
                  <a:fillRect l="-1134"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78830E44-9260-5A3B-2035-7F50BFF6DA25}"/>
                  </a:ext>
                </a:extLst>
              </p:cNvPr>
              <p:cNvSpPr txBox="1"/>
              <p:nvPr/>
            </p:nvSpPr>
            <p:spPr>
              <a:xfrm>
                <a:off x="2372333" y="5171519"/>
                <a:ext cx="7447334" cy="1006879"/>
              </a:xfrm>
              <a:prstGeom prst="rect">
                <a:avLst/>
              </a:prstGeom>
              <a:noFill/>
            </p:spPr>
            <p:txBody>
              <a:bodyPr wrap="square">
                <a:spAutoFit/>
              </a:bodyPr>
              <a:lstStyle/>
              <a:p>
                <a:pPr algn="ctr"/>
                <a14:m>
                  <m:oMathPara xmlns:m="http://schemas.openxmlformats.org/officeDocument/2006/math">
                    <m:oMath>
                      <m:r>
                        <a:rPr lang="en-US" sz="2400" b="1" i="1" smtClean="0">
                          <a:latin typeface="Cambria Math" panose="02040503050406030204" pitchFamily="18" charset="0"/>
                        </a:rPr>
                        <m:t>𝝉</m:t>
                      </m:r>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r>
                        <a:rPr lang="en-US" sz="2400" b="1"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𝐵</m:t>
                          </m:r>
                        </m:sub>
                        <m:sup>
                          <m:r>
                            <a:rPr lang="en-US" sz="2400" b="1" i="1" smtClean="0">
                              <a:latin typeface="Cambria Math" panose="02040503050406030204" pitchFamily="18" charset="0"/>
                            </a:rPr>
                            <m:t> </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𝜒</m:t>
                              </m:r>
                            </m:e>
                            <m:sub>
                              <m:r>
                                <a:rPr lang="en-US" sz="2400" b="0" i="1" smtClean="0">
                                  <a:latin typeface="Cambria Math" panose="02040503050406030204" pitchFamily="18" charset="0"/>
                                </a:rPr>
                                <m:t>𝐵</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𝝉</m:t>
                              </m:r>
                            </m:e>
                            <m:sub>
                              <m:r>
                                <a:rPr lang="en-US" sz="2400" b="0" i="1" smtClean="0">
                                  <a:latin typeface="Cambria Math" panose="02040503050406030204" pitchFamily="18" charset="0"/>
                                </a:rPr>
                                <m:t>𝐵</m:t>
                              </m:r>
                            </m:sub>
                          </m:sSub>
                        </m:e>
                      </m:nary>
                      <m:r>
                        <a:rPr lang="en-US" sz="2400" b="1" i="1" smtClean="0">
                          <a:latin typeface="Cambria Math" panose="02040503050406030204" pitchFamily="18" charset="0"/>
                        </a:rPr>
                        <m:t>;      </m:t>
                      </m:r>
                      <m:sSub>
                        <m:sSubPr>
                          <m:ctrlPr>
                            <a:rPr lang="en-US" sz="2400" b="0" i="1">
                              <a:latin typeface="Cambria Math" panose="02040503050406030204" pitchFamily="18" charset="0"/>
                            </a:rPr>
                          </m:ctrlPr>
                        </m:sSubPr>
                        <m:e>
                          <m:r>
                            <a:rPr lang="en-US" sz="2400" b="0" i="1">
                              <a:latin typeface="Cambria Math" panose="02040503050406030204" pitchFamily="18" charset="0"/>
                            </a:rPr>
                            <m:t>𝜒</m:t>
                          </m:r>
                        </m:e>
                        <m:sub>
                          <m:r>
                            <a:rPr lang="en-US" sz="2400" i="1">
                              <a:latin typeface="Cambria Math" panose="02040503050406030204" pitchFamily="18" charset="0"/>
                            </a:rPr>
                            <m:t>𝐵</m:t>
                          </m:r>
                        </m:sub>
                      </m:sSub>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smtClean="0">
                          <a:latin typeface="Cambria Math" panose="02040503050406030204" pitchFamily="18" charset="0"/>
                        </a:rPr>
                        <m:t>=</m:t>
                      </m:r>
                      <m:d>
                        <m:dPr>
                          <m:begChr m:val="{"/>
                          <m:endChr m:val=""/>
                          <m:ctrlPr>
                            <a:rPr lang="en-US" sz="2400" i="1" smtClean="0">
                              <a:latin typeface="Cambria Math" panose="02040503050406030204" pitchFamily="18" charset="0"/>
                            </a:rPr>
                          </m:ctrlPr>
                        </m:dPr>
                        <m:e>
                          <m:eqArr>
                            <m:eqArrPr>
                              <m:ctrlPr>
                                <a:rPr lang="en-US" sz="2400" i="1" smtClean="0">
                                  <a:latin typeface="Cambria Math" panose="02040503050406030204" pitchFamily="18" charset="0"/>
                                </a:rPr>
                              </m:ctrlPr>
                            </m:eqArrPr>
                            <m:e>
                              <m:r>
                                <a:rPr lang="en-US" sz="2400" b="0" i="1" smtClean="0">
                                  <a:latin typeface="Cambria Math" panose="02040503050406030204" pitchFamily="18" charset="0"/>
                                </a:rPr>
                                <m:t>1 </m:t>
                              </m:r>
                              <m:r>
                                <a:rPr lang="en-US" sz="2400" b="0" i="1" smtClean="0">
                                  <a:latin typeface="Cambria Math" panose="02040503050406030204" pitchFamily="18" charset="0"/>
                                </a:rPr>
                                <m:t>𝑖𝑓</m:t>
                              </m:r>
                              <m:r>
                                <a:rPr lang="en-US" sz="2400" b="0" i="1" smtClean="0">
                                  <a:latin typeface="Cambria Math" panose="02040503050406030204" pitchFamily="18" charset="0"/>
                                </a:rPr>
                                <m:t> </m:t>
                              </m:r>
                              <m:r>
                                <a:rPr lang="en-US" sz="2400" b="1" i="1" smtClean="0">
                                  <a:latin typeface="Cambria Math" panose="02040503050406030204" pitchFamily="18" charset="0"/>
                                </a:rPr>
                                <m:t>𝒙</m:t>
                              </m:r>
                              <m:r>
                                <a:rPr lang="en-US" sz="2400" b="0" i="1" smtClean="0">
                                  <a:latin typeface="Cambria Math" panose="02040503050406030204" pitchFamily="18" charset="0"/>
                                  <a:ea typeface="Cambria Math" panose="02040503050406030204" pitchFamily="18" charset="0"/>
                                </a:rPr>
                                <m:t>∈</m:t>
                              </m:r>
                              <m:sSub>
                                <m:sSubPr>
                                  <m:ctrlPr>
                                    <a:rPr lang="en-US" sz="2400" b="0" i="0" smtClean="0">
                                      <a:latin typeface="Cambria Math" panose="02040503050406030204" pitchFamily="18" charset="0"/>
                                      <a:ea typeface="Cambria Math" panose="02040503050406030204" pitchFamily="18" charset="0"/>
                                    </a:rPr>
                                  </m:ctrlPr>
                                </m:sSubPr>
                                <m:e>
                                  <m:r>
                                    <m:rPr>
                                      <m:sty m:val="p"/>
                                    </m:rPr>
                                    <a:rPr lang="en-US" sz="2400" b="0" i="0" smtClean="0">
                                      <a:latin typeface="Cambria Math" panose="02040503050406030204" pitchFamily="18" charset="0"/>
                                      <a:ea typeface="Cambria Math" panose="02040503050406030204" pitchFamily="18" charset="0"/>
                                    </a:rPr>
                                    <m:t>Θ</m:t>
                                  </m:r>
                                </m:e>
                                <m:sub>
                                  <m:r>
                                    <a:rPr lang="en-US" sz="2400" b="0" i="1" smtClean="0">
                                      <a:latin typeface="Cambria Math" panose="02040503050406030204" pitchFamily="18" charset="0"/>
                                      <a:ea typeface="Cambria Math" panose="02040503050406030204" pitchFamily="18" charset="0"/>
                                    </a:rPr>
                                    <m:t>𝐵</m:t>
                                  </m:r>
                                </m:sub>
                              </m:sSub>
                            </m:e>
                            <m:e>
                              <m:r>
                                <a:rPr lang="en-US" sz="2400" b="0" i="1" smtClean="0">
                                  <a:latin typeface="Cambria Math" panose="02040503050406030204" pitchFamily="18" charset="0"/>
                                </a:rPr>
                                <m:t>0 </m:t>
                              </m:r>
                              <m:r>
                                <a:rPr lang="en-US" sz="2400" i="1">
                                  <a:latin typeface="Cambria Math" panose="02040503050406030204" pitchFamily="18" charset="0"/>
                                </a:rPr>
                                <m:t>𝑖𝑓</m:t>
                              </m:r>
                              <m:r>
                                <a:rPr lang="en-US" sz="2400" i="1">
                                  <a:latin typeface="Cambria Math" panose="02040503050406030204" pitchFamily="18" charset="0"/>
                                </a:rPr>
                                <m:t> </m:t>
                              </m:r>
                              <m:r>
                                <a:rPr lang="en-US" sz="2400" b="1" i="1">
                                  <a:latin typeface="Cambria Math" panose="02040503050406030204" pitchFamily="18" charset="0"/>
                                </a:rPr>
                                <m:t>𝒙</m:t>
                              </m:r>
                              <m:r>
                                <a:rPr lang="en-US" sz="2400" b="0" i="1" smtClean="0">
                                  <a:latin typeface="Cambria Math" panose="02040503050406030204" pitchFamily="18" charset="0"/>
                                  <a:ea typeface="Cambria Math" panose="02040503050406030204" pitchFamily="18" charset="0"/>
                                </a:rPr>
                                <m:t>∉</m:t>
                              </m:r>
                              <m:sSub>
                                <m:sSubPr>
                                  <m:ctrlPr>
                                    <a:rPr lang="en-US" sz="2400">
                                      <a:latin typeface="Cambria Math" panose="02040503050406030204" pitchFamily="18" charset="0"/>
                                      <a:ea typeface="Cambria Math" panose="02040503050406030204" pitchFamily="18" charset="0"/>
                                    </a:rPr>
                                  </m:ctrlPr>
                                </m:sSubPr>
                                <m:e>
                                  <m:r>
                                    <m:rPr>
                                      <m:sty m:val="p"/>
                                    </m:rPr>
                                    <a:rPr lang="en-US" sz="2400">
                                      <a:latin typeface="Cambria Math" panose="02040503050406030204" pitchFamily="18" charset="0"/>
                                      <a:ea typeface="Cambria Math" panose="02040503050406030204" pitchFamily="18" charset="0"/>
                                    </a:rPr>
                                    <m:t>Θ</m:t>
                                  </m:r>
                                </m:e>
                                <m:sub>
                                  <m:r>
                                    <a:rPr lang="en-US" sz="2400" i="1">
                                      <a:latin typeface="Cambria Math" panose="02040503050406030204" pitchFamily="18" charset="0"/>
                                      <a:ea typeface="Cambria Math" panose="02040503050406030204" pitchFamily="18" charset="0"/>
                                    </a:rPr>
                                    <m:t>𝐵</m:t>
                                  </m:r>
                                </m:sub>
                              </m:sSub>
                            </m:e>
                          </m:eqArr>
                        </m:e>
                      </m:d>
                    </m:oMath>
                  </m:oMathPara>
                </a14:m>
                <a:endParaRPr lang="en-US" sz="2400" b="1" dirty="0"/>
              </a:p>
            </p:txBody>
          </p:sp>
        </mc:Choice>
        <mc:Fallback xmlns="">
          <p:sp>
            <p:nvSpPr>
              <p:cNvPr id="20" name="TextBox 19">
                <a:extLst>
                  <a:ext uri="{FF2B5EF4-FFF2-40B4-BE49-F238E27FC236}">
                    <a16:creationId xmlns:a16="http://schemas.microsoft.com/office/drawing/2014/main" id="{78830E44-9260-5A3B-2035-7F50BFF6DA25}"/>
                  </a:ext>
                </a:extLst>
              </p:cNvPr>
              <p:cNvSpPr txBox="1">
                <a:spLocks noRot="1" noChangeAspect="1" noMove="1" noResize="1" noEditPoints="1" noAdjustHandles="1" noChangeArrowheads="1" noChangeShapeType="1" noTextEdit="1"/>
              </p:cNvSpPr>
              <p:nvPr/>
            </p:nvSpPr>
            <p:spPr>
              <a:xfrm>
                <a:off x="2372333" y="5171519"/>
                <a:ext cx="7447334" cy="1006879"/>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735111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0BB29-04A2-DA83-B2D2-A25F8FBB9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2B2D0-2041-C499-7A5A-F2F65395D865}"/>
              </a:ext>
            </a:extLst>
          </p:cNvPr>
          <p:cNvSpPr>
            <a:spLocks noGrp="1"/>
          </p:cNvSpPr>
          <p:nvPr>
            <p:ph type="title"/>
          </p:nvPr>
        </p:nvSpPr>
        <p:spPr>
          <a:xfrm>
            <a:off x="227789" y="121920"/>
            <a:ext cx="10515600" cy="1325563"/>
          </a:xfrm>
        </p:spPr>
        <p:txBody>
          <a:bodyPr/>
          <a:lstStyle/>
          <a:p>
            <a:r>
              <a:rPr lang="en-US" dirty="0"/>
              <a:t>Derivation: LS to CP (2)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4E8AE00-E189-FCF6-1CC9-F0C6B766167E}"/>
                  </a:ext>
                </a:extLst>
              </p:cNvPr>
              <p:cNvSpPr>
                <a:spLocks noGrp="1"/>
              </p:cNvSpPr>
              <p:nvPr>
                <p:ph idx="1"/>
              </p:nvPr>
            </p:nvSpPr>
            <p:spPr>
              <a:xfrm>
                <a:off x="227788" y="1425322"/>
                <a:ext cx="11811811" cy="489558"/>
              </a:xfrm>
            </p:spPr>
            <p:txBody>
              <a:bodyPr>
                <a:normAutofit/>
              </a:bodyPr>
              <a:lstStyle/>
              <a:p>
                <a:pPr marL="0" indent="0">
                  <a:buNone/>
                </a:pPr>
                <a:r>
                  <a:rPr lang="en-US" dirty="0"/>
                  <a:t>From its definition,  the polarization stress for some </a:t>
                </a:r>
                <a14:m>
                  <m:oMath xmlns:m="http://schemas.openxmlformats.org/officeDocument/2006/math">
                    <m:r>
                      <a:rPr lang="en-US" b="1" i="1" smtClean="0">
                        <a:latin typeface="Cambria Math" panose="02040503050406030204" pitchFamily="18" charset="0"/>
                      </a:rPr>
                      <m:t>𝒙</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𝛩</m:t>
                        </m:r>
                      </m:e>
                      <m:sub>
                        <m:r>
                          <a:rPr lang="en-US" b="0" i="1" smtClean="0">
                            <a:latin typeface="Cambria Math" panose="02040503050406030204" pitchFamily="18" charset="0"/>
                          </a:rPr>
                          <m:t>𝐴</m:t>
                        </m:r>
                      </m:sub>
                    </m:sSub>
                  </m:oMath>
                </a14:m>
                <a:r>
                  <a:rPr lang="en-US" dirty="0"/>
                  <a:t> is expressed as:</a:t>
                </a:r>
              </a:p>
            </p:txBody>
          </p:sp>
        </mc:Choice>
        <mc:Fallback xmlns="">
          <p:sp>
            <p:nvSpPr>
              <p:cNvPr id="3" name="Content Placeholder 2">
                <a:extLst>
                  <a:ext uri="{FF2B5EF4-FFF2-40B4-BE49-F238E27FC236}">
                    <a16:creationId xmlns:a16="http://schemas.microsoft.com/office/drawing/2014/main" id="{B4E8AE00-E189-FCF6-1CC9-F0C6B766167E}"/>
                  </a:ext>
                </a:extLst>
              </p:cNvPr>
              <p:cNvSpPr>
                <a:spLocks noGrp="1" noRot="1" noChangeAspect="1" noMove="1" noResize="1" noEditPoints="1" noAdjustHandles="1" noChangeArrowheads="1" noChangeShapeType="1" noTextEdit="1"/>
              </p:cNvSpPr>
              <p:nvPr>
                <p:ph idx="1"/>
              </p:nvPr>
            </p:nvSpPr>
            <p:spPr>
              <a:xfrm>
                <a:off x="227788" y="1425322"/>
                <a:ext cx="11811811" cy="489558"/>
              </a:xfrm>
              <a:blipFill>
                <a:blip r:embed="rId2"/>
                <a:stretch>
                  <a:fillRect l="-1032"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E452FD1-50FC-C03C-395A-59460647C87A}"/>
                  </a:ext>
                </a:extLst>
              </p:cNvPr>
              <p:cNvSpPr txBox="1"/>
              <p:nvPr/>
            </p:nvSpPr>
            <p:spPr>
              <a:xfrm>
                <a:off x="2973423" y="2180896"/>
                <a:ext cx="6094378" cy="461665"/>
              </a:xfrm>
              <a:prstGeom prst="rect">
                <a:avLst/>
              </a:prstGeom>
              <a:noFill/>
            </p:spPr>
            <p:txBody>
              <a:bodyPr wrap="square">
                <a:spAutoFit/>
              </a:bodyPr>
              <a:lstStyle/>
              <a:p>
                <a:pPr/>
                <a14:m>
                  <m:oMathPara xmlns:m="http://schemas.openxmlformats.org/officeDocument/2006/math">
                    <m:oMath>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𝝉</m:t>
                          </m:r>
                        </m:e>
                        <m:sub>
                          <m:r>
                            <a:rPr lang="en-US" sz="2400" b="0" i="1" smtClean="0">
                              <a:solidFill>
                                <a:srgbClr val="FF0000"/>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d>
                            <m:dPr>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𝜺</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𝑪</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𝝁</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oMath>
                  </m:oMathPara>
                </a14:m>
                <a:endParaRPr lang="en-US" sz="2400" dirty="0">
                  <a:solidFill>
                    <a:schemeClr val="tx1"/>
                  </a:solidFill>
                </a:endParaRPr>
              </a:p>
            </p:txBody>
          </p:sp>
        </mc:Choice>
        <mc:Fallback xmlns="">
          <p:sp>
            <p:nvSpPr>
              <p:cNvPr id="9" name="TextBox 8">
                <a:extLst>
                  <a:ext uri="{FF2B5EF4-FFF2-40B4-BE49-F238E27FC236}">
                    <a16:creationId xmlns:a16="http://schemas.microsoft.com/office/drawing/2014/main" id="{AE452FD1-50FC-C03C-395A-59460647C87A}"/>
                  </a:ext>
                </a:extLst>
              </p:cNvPr>
              <p:cNvSpPr txBox="1">
                <a:spLocks noRot="1" noChangeAspect="1" noMove="1" noResize="1" noEditPoints="1" noAdjustHandles="1" noChangeArrowheads="1" noChangeShapeType="1" noTextEdit="1"/>
              </p:cNvSpPr>
              <p:nvPr/>
            </p:nvSpPr>
            <p:spPr>
              <a:xfrm>
                <a:off x="2973423" y="2180896"/>
                <a:ext cx="6094378" cy="461665"/>
              </a:xfrm>
              <a:prstGeom prst="rect">
                <a:avLst/>
              </a:prstGeom>
              <a:blipFill>
                <a:blip r:embed="rId3"/>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Content Placeholder 2">
                <a:extLst>
                  <a:ext uri="{FF2B5EF4-FFF2-40B4-BE49-F238E27FC236}">
                    <a16:creationId xmlns:a16="http://schemas.microsoft.com/office/drawing/2014/main" id="{F0110F98-585B-AD6C-09A3-58D42FC40753}"/>
                  </a:ext>
                </a:extLst>
              </p:cNvPr>
              <p:cNvSpPr txBox="1">
                <a:spLocks/>
              </p:cNvSpPr>
              <p:nvPr/>
            </p:nvSpPr>
            <p:spPr>
              <a:xfrm>
                <a:off x="227789" y="2919122"/>
                <a:ext cx="10515600"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Plug the Lippmann-Schwinger equation in for </a:t>
                </a:r>
                <a14:m>
                  <m:oMath xmlns:m="http://schemas.openxmlformats.org/officeDocument/2006/math">
                    <m:r>
                      <a:rPr lang="en-US" b="1" i="1">
                        <a:latin typeface="Cambria Math" panose="02040503050406030204" pitchFamily="18" charset="0"/>
                      </a:rPr>
                      <m:t>𝜺</m:t>
                    </m:r>
                    <m:d>
                      <m:dPr>
                        <m:ctrlPr>
                          <a:rPr lang="en-US" b="1" i="1">
                            <a:latin typeface="Cambria Math" panose="02040503050406030204" pitchFamily="18" charset="0"/>
                          </a:rPr>
                        </m:ctrlPr>
                      </m:dPr>
                      <m:e>
                        <m:r>
                          <a:rPr lang="en-US" b="1" i="1">
                            <a:latin typeface="Cambria Math" panose="02040503050406030204" pitchFamily="18" charset="0"/>
                          </a:rPr>
                          <m:t>𝒙</m:t>
                        </m:r>
                      </m:e>
                    </m:d>
                  </m:oMath>
                </a14:m>
                <a:r>
                  <a:rPr lang="en-US" dirty="0"/>
                  <a:t>: </a:t>
                </a:r>
              </a:p>
            </p:txBody>
          </p:sp>
        </mc:Choice>
        <mc:Fallback xmlns="">
          <p:sp>
            <p:nvSpPr>
              <p:cNvPr id="16" name="Content Placeholder 2">
                <a:extLst>
                  <a:ext uri="{FF2B5EF4-FFF2-40B4-BE49-F238E27FC236}">
                    <a16:creationId xmlns:a16="http://schemas.microsoft.com/office/drawing/2014/main" id="{F0110F98-585B-AD6C-09A3-58D42FC40753}"/>
                  </a:ext>
                </a:extLst>
              </p:cNvPr>
              <p:cNvSpPr txBox="1">
                <a:spLocks noRot="1" noChangeAspect="1" noMove="1" noResize="1" noEditPoints="1" noAdjustHandles="1" noChangeArrowheads="1" noChangeShapeType="1" noTextEdit="1"/>
              </p:cNvSpPr>
              <p:nvPr/>
            </p:nvSpPr>
            <p:spPr>
              <a:xfrm>
                <a:off x="227789" y="2919122"/>
                <a:ext cx="10515600" cy="489558"/>
              </a:xfrm>
              <a:prstGeom prst="rect">
                <a:avLst/>
              </a:prstGeom>
              <a:blipFill>
                <a:blip r:embed="rId4"/>
                <a:stretch>
                  <a:fillRect l="-1159" t="-22500" b="-3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74C648C6-DF5F-F381-0A7D-1DA826713CDD}"/>
                  </a:ext>
                </a:extLst>
              </p:cNvPr>
              <p:cNvSpPr txBox="1"/>
              <p:nvPr/>
            </p:nvSpPr>
            <p:spPr>
              <a:xfrm>
                <a:off x="1692857" y="3646803"/>
                <a:ext cx="8655509" cy="1074590"/>
              </a:xfrm>
              <a:prstGeom prst="rect">
                <a:avLst/>
              </a:prstGeom>
              <a:noFill/>
            </p:spPr>
            <p:txBody>
              <a:bodyPr wrap="square">
                <a:spAutoFit/>
              </a:bodyPr>
              <a:lstStyle/>
              <a:p>
                <a:pPr/>
                <a14:m>
                  <m:oMathPara xmlns:m="http://schemas.openxmlformats.org/officeDocument/2006/math">
                    <m:o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𝝉</m:t>
                          </m:r>
                        </m:e>
                        <m:sub>
                          <m:r>
                            <a:rPr lang="en-US" sz="2400" b="0" i="1" smtClean="0">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d>
                            <m:dPr>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d>
                        <m:dPr>
                          <m:begChr m:val="{"/>
                          <m:endChr m:val="}"/>
                          <m:ctrlPr>
                            <a:rPr lang="en-US" sz="2400" b="1" i="1">
                              <a:solidFill>
                                <a:srgbClr val="FF0000"/>
                              </a:solidFill>
                              <a:latin typeface="Cambria Math" panose="02040503050406030204" pitchFamily="18" charset="0"/>
                            </a:rPr>
                          </m:ctrlPr>
                        </m:dPr>
                        <m:e>
                          <m:acc>
                            <m:accPr>
                              <m:chr m:val="̅"/>
                              <m:ctrlPr>
                                <a:rPr lang="en-US" sz="2400" b="1" i="1">
                                  <a:solidFill>
                                    <a:srgbClr val="FF0000"/>
                                  </a:solidFill>
                                  <a:latin typeface="Cambria Math" panose="02040503050406030204" pitchFamily="18" charset="0"/>
                                </a:rPr>
                              </m:ctrlPr>
                            </m:accPr>
                            <m:e>
                              <m:r>
                                <a:rPr lang="en-US" sz="2400" b="1" i="1">
                                  <a:solidFill>
                                    <a:srgbClr val="FF0000"/>
                                  </a:solidFill>
                                  <a:latin typeface="Cambria Math" panose="02040503050406030204" pitchFamily="18" charset="0"/>
                                </a:rPr>
                                <m:t>𝜺</m:t>
                              </m:r>
                            </m:e>
                          </m:acc>
                          <m:r>
                            <a:rPr lang="en-US" sz="2400" b="1">
                              <a:solidFill>
                                <a:srgbClr val="FF0000"/>
                              </a:solidFill>
                              <a:latin typeface="Cambria Math" panose="02040503050406030204" pitchFamily="18" charset="0"/>
                            </a:rPr>
                            <m:t>−</m:t>
                          </m:r>
                          <m:d>
                            <m:dPr>
                              <m:ctrlPr>
                                <a:rPr lang="en-US" sz="2400" b="1" i="1">
                                  <a:solidFill>
                                    <a:srgbClr val="FF0000"/>
                                  </a:solidFill>
                                  <a:latin typeface="Cambria Math" panose="02040503050406030204" pitchFamily="18" charset="0"/>
                                </a:rPr>
                              </m:ctrlPr>
                            </m:dPr>
                            <m:e>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i="1">
                                      <a:solidFill>
                                        <a:srgbClr val="FF0000"/>
                                      </a:solidFill>
                                      <a:latin typeface="Cambria Math" panose="02040503050406030204" pitchFamily="18" charset="0"/>
                                    </a:rPr>
                                  </m:ctrlPr>
                                </m:dPr>
                                <m:e>
                                  <m:nary>
                                    <m:naryPr>
                                      <m:chr m:val="∑"/>
                                      <m:ctrlPr>
                                        <a:rPr lang="en-US" sz="2400" i="1">
                                          <a:solidFill>
                                            <a:srgbClr val="FF0000"/>
                                          </a:solidFill>
                                          <a:latin typeface="Cambria Math" panose="02040503050406030204" pitchFamily="18" charset="0"/>
                                        </a:rPr>
                                      </m:ctrlPr>
                                    </m:naryPr>
                                    <m:sub>
                                      <m:r>
                                        <m:rPr>
                                          <m:brk m:alnAt="23"/>
                                        </m:rPr>
                                        <a:rPr lang="en-US" sz="2400" i="1">
                                          <a:solidFill>
                                            <a:srgbClr val="FF0000"/>
                                          </a:solidFill>
                                          <a:latin typeface="Cambria Math" panose="02040503050406030204" pitchFamily="18" charset="0"/>
                                        </a:rPr>
                                        <m:t>𝐵</m:t>
                                      </m:r>
                                    </m:sub>
                                    <m:sup>
                                      <m:r>
                                        <a:rPr lang="en-US" sz="2400" b="1" i="1">
                                          <a:solidFill>
                                            <a:srgbClr val="FF0000"/>
                                          </a:solidFill>
                                          <a:latin typeface="Cambria Math" panose="02040503050406030204" pitchFamily="18" charset="0"/>
                                        </a:rPr>
                                        <m:t> </m:t>
                                      </m:r>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𝝉</m:t>
                                          </m:r>
                                        </m:e>
                                        <m:sub>
                                          <m:r>
                                            <a:rPr lang="en-US" sz="2400" i="1">
                                              <a:solidFill>
                                                <a:srgbClr val="FF0000"/>
                                              </a:solidFill>
                                              <a:latin typeface="Cambria Math" panose="02040503050406030204" pitchFamily="18" charset="0"/>
                                            </a:rPr>
                                            <m:t>𝐵</m:t>
                                          </m:r>
                                        </m:sub>
                                      </m:sSub>
                                    </m:e>
                                  </m:nary>
                                </m:e>
                              </m:d>
                            </m:e>
                          </m:d>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e>
                      </m:d>
                      <m:r>
                        <a:rPr lang="en-US" sz="2400" b="1" i="1" smtClean="0">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𝑪</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𝝁</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oMath>
                  </m:oMathPara>
                </a14:m>
                <a:endParaRPr lang="en-US" sz="2400" dirty="0">
                  <a:solidFill>
                    <a:schemeClr val="tx1"/>
                  </a:solidFill>
                </a:endParaRPr>
              </a:p>
            </p:txBody>
          </p:sp>
        </mc:Choice>
        <mc:Fallback xmlns="">
          <p:sp>
            <p:nvSpPr>
              <p:cNvPr id="19" name="TextBox 18">
                <a:extLst>
                  <a:ext uri="{FF2B5EF4-FFF2-40B4-BE49-F238E27FC236}">
                    <a16:creationId xmlns:a16="http://schemas.microsoft.com/office/drawing/2014/main" id="{74C648C6-DF5F-F381-0A7D-1DA826713CDD}"/>
                  </a:ext>
                </a:extLst>
              </p:cNvPr>
              <p:cNvSpPr txBox="1">
                <a:spLocks noRot="1" noChangeAspect="1" noMove="1" noResize="1" noEditPoints="1" noAdjustHandles="1" noChangeArrowheads="1" noChangeShapeType="1" noTextEdit="1"/>
              </p:cNvSpPr>
              <p:nvPr/>
            </p:nvSpPr>
            <p:spPr>
              <a:xfrm>
                <a:off x="1692857" y="3646803"/>
                <a:ext cx="8655509" cy="107459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94AB94F9-ACFB-FD5B-9DE2-0E1AFB559331}"/>
                  </a:ext>
                </a:extLst>
              </p:cNvPr>
              <p:cNvSpPr txBox="1">
                <a:spLocks/>
              </p:cNvSpPr>
              <p:nvPr/>
            </p:nvSpPr>
            <p:spPr>
              <a:xfrm>
                <a:off x="227788" y="5000156"/>
                <a:ext cx="11736423" cy="18662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b="1" dirty="0"/>
                  <a:t>Problem (commonly known): </a:t>
                </a:r>
                <a:r>
                  <a:rPr lang="en-US" dirty="0"/>
                  <a:t>The LHS of the above equation must be constant for </a:t>
                </a:r>
                <a14:m>
                  <m:oMath xmlns:m="http://schemas.openxmlformats.org/officeDocument/2006/math">
                    <m:r>
                      <a:rPr lang="en-US" b="1" i="1">
                        <a:latin typeface="Cambria Math" panose="02040503050406030204" pitchFamily="18" charset="0"/>
                      </a:rPr>
                      <m:t>𝒙</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𝛩</m:t>
                        </m:r>
                      </m:e>
                      <m:sub>
                        <m:r>
                          <a:rPr lang="en-US" i="1">
                            <a:latin typeface="Cambria Math" panose="02040503050406030204" pitchFamily="18" charset="0"/>
                          </a:rPr>
                          <m:t>𝐴</m:t>
                        </m:r>
                      </m:sub>
                    </m:sSub>
                  </m:oMath>
                </a14:m>
                <a:r>
                  <a:rPr lang="en-US" dirty="0"/>
                  <a:t>, but the RHS might not be. Therefore, simultaneously requiring both constant polarization stress and pointwise satisfaction of the Lippmann-Schwinger equation is not always possible. </a:t>
                </a:r>
              </a:p>
            </p:txBody>
          </p:sp>
        </mc:Choice>
        <mc:Fallback xmlns="">
          <p:sp>
            <p:nvSpPr>
              <p:cNvPr id="22" name="Content Placeholder 2">
                <a:extLst>
                  <a:ext uri="{FF2B5EF4-FFF2-40B4-BE49-F238E27FC236}">
                    <a16:creationId xmlns:a16="http://schemas.microsoft.com/office/drawing/2014/main" id="{94AB94F9-ACFB-FD5B-9DE2-0E1AFB559331}"/>
                  </a:ext>
                </a:extLst>
              </p:cNvPr>
              <p:cNvSpPr txBox="1">
                <a:spLocks noRot="1" noChangeAspect="1" noMove="1" noResize="1" noEditPoints="1" noAdjustHandles="1" noChangeArrowheads="1" noChangeShapeType="1" noTextEdit="1"/>
              </p:cNvSpPr>
              <p:nvPr/>
            </p:nvSpPr>
            <p:spPr>
              <a:xfrm>
                <a:off x="227788" y="5000156"/>
                <a:ext cx="11736423" cy="1866238"/>
              </a:xfrm>
              <a:prstGeom prst="rect">
                <a:avLst/>
              </a:prstGeom>
              <a:blipFill>
                <a:blip r:embed="rId6"/>
                <a:stretch>
                  <a:fillRect l="-1038" t="-5556" r="-1038"/>
                </a:stretch>
              </a:blipFill>
            </p:spPr>
            <p:txBody>
              <a:bodyPr/>
              <a:lstStyle/>
              <a:p>
                <a:r>
                  <a:rPr lang="en-US">
                    <a:noFill/>
                  </a:rPr>
                  <a:t> </a:t>
                </a:r>
              </a:p>
            </p:txBody>
          </p:sp>
        </mc:Fallback>
      </mc:AlternateContent>
    </p:spTree>
    <p:extLst>
      <p:ext uri="{BB962C8B-B14F-4D97-AF65-F5344CB8AC3E}">
        <p14:creationId xmlns:p14="http://schemas.microsoft.com/office/powerpoint/2010/main" val="41960149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0FF46-9754-35E8-8DE7-822FA3F68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B17204-6A00-52BC-5C21-5FC2F8B208CE}"/>
              </a:ext>
            </a:extLst>
          </p:cNvPr>
          <p:cNvSpPr>
            <a:spLocks noGrp="1"/>
          </p:cNvSpPr>
          <p:nvPr>
            <p:ph type="title"/>
          </p:nvPr>
        </p:nvSpPr>
        <p:spPr>
          <a:xfrm>
            <a:off x="227789" y="121920"/>
            <a:ext cx="10515600" cy="1325563"/>
          </a:xfrm>
        </p:spPr>
        <p:txBody>
          <a:bodyPr/>
          <a:lstStyle/>
          <a:p>
            <a:r>
              <a:rPr lang="en-US" dirty="0"/>
              <a:t>Derivation: LS to CP (3)</a:t>
            </a:r>
          </a:p>
        </p:txBody>
      </p:sp>
      <p:sp>
        <p:nvSpPr>
          <p:cNvPr id="3" name="Content Placeholder 2">
            <a:extLst>
              <a:ext uri="{FF2B5EF4-FFF2-40B4-BE49-F238E27FC236}">
                <a16:creationId xmlns:a16="http://schemas.microsoft.com/office/drawing/2014/main" id="{ED251B48-AE17-87C8-CD4B-3C826506920E}"/>
              </a:ext>
            </a:extLst>
          </p:cNvPr>
          <p:cNvSpPr>
            <a:spLocks noGrp="1"/>
          </p:cNvSpPr>
          <p:nvPr>
            <p:ph idx="1"/>
          </p:nvPr>
        </p:nvSpPr>
        <p:spPr>
          <a:xfrm>
            <a:off x="227788" y="1364362"/>
            <a:ext cx="11649251" cy="1429638"/>
          </a:xfrm>
        </p:spPr>
        <p:txBody>
          <a:bodyPr>
            <a:normAutofit/>
          </a:bodyPr>
          <a:lstStyle/>
          <a:p>
            <a:pPr marL="0" indent="0" algn="just">
              <a:buNone/>
            </a:pPr>
            <a:r>
              <a:rPr lang="en-US" b="1" dirty="0"/>
              <a:t>Solution (also commonly known): </a:t>
            </a:r>
            <a:r>
              <a:rPr lang="en-US" dirty="0"/>
              <a:t>Instead, we can assert that the Lippmann-Schwinger equation be satisfied only through partition averages, a relaxation of the pointwise requirement. So, rather than requiring that:</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01081E2-AC6B-4281-0999-6BCCF7BA172C}"/>
                  </a:ext>
                </a:extLst>
              </p:cNvPr>
              <p:cNvSpPr txBox="1"/>
              <p:nvPr/>
            </p:nvSpPr>
            <p:spPr>
              <a:xfrm>
                <a:off x="3048811" y="2883599"/>
                <a:ext cx="6094378" cy="1073948"/>
              </a:xfrm>
              <a:prstGeom prst="rect">
                <a:avLst/>
              </a:prstGeom>
              <a:noFill/>
            </p:spPr>
            <p:txBody>
              <a:bodyPr wrap="square">
                <a:spAutoFit/>
              </a:bodyPr>
              <a:lstStyle/>
              <a:p>
                <a:pPr/>
                <a14:m>
                  <m:oMathPara xmlns:m="http://schemas.openxmlformats.org/officeDocument/2006/math">
                    <m:oMath>
                      <m:r>
                        <a:rPr lang="en-US" sz="2400" b="1" i="1" smtClean="0">
                          <a:solidFill>
                            <a:schemeClr val="tx1"/>
                          </a:solidFill>
                          <a:latin typeface="Cambria Math" panose="02040503050406030204" pitchFamily="18" charset="0"/>
                        </a:rPr>
                        <m:t>𝜺</m:t>
                      </m:r>
                      <m:d>
                        <m:dPr>
                          <m:ctrlPr>
                            <a:rPr lang="en-US" sz="2400" b="1" i="1" smtClean="0">
                              <a:solidFill>
                                <a:schemeClr val="tx1"/>
                              </a:solidFill>
                              <a:latin typeface="Cambria Math" panose="02040503050406030204" pitchFamily="18" charset="0"/>
                            </a:rPr>
                          </m:ctrlPr>
                        </m:dPr>
                        <m:e>
                          <m:r>
                            <a:rPr lang="en-US" sz="2400" b="1" i="1" smtClean="0">
                              <a:solidFill>
                                <a:schemeClr val="tx1"/>
                              </a:solidFill>
                              <a:latin typeface="Cambria Math" panose="02040503050406030204" pitchFamily="18" charset="0"/>
                            </a:rPr>
                            <m:t>𝒙</m:t>
                          </m:r>
                        </m:e>
                      </m:d>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solidFill>
                            <a:schemeClr val="tx1"/>
                          </a:solidFill>
                          <a:latin typeface="Cambria Math" panose="02040503050406030204" pitchFamily="18" charset="0"/>
                        </a:rPr>
                        <m:t>−</m:t>
                      </m:r>
                      <m:d>
                        <m:dPr>
                          <m:ctrlPr>
                            <a:rPr lang="en-US" sz="2400" b="1" i="1">
                              <a:solidFill>
                                <a:schemeClr val="tx1"/>
                              </a:solidFill>
                              <a:latin typeface="Cambria Math" panose="02040503050406030204" pitchFamily="18" charset="0"/>
                            </a:rPr>
                          </m:ctrlPr>
                        </m:dPr>
                        <m:e>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i="1">
                                  <a:solidFill>
                                    <a:schemeClr val="tx1"/>
                                  </a:solidFill>
                                  <a:latin typeface="Cambria Math" panose="02040503050406030204" pitchFamily="18" charset="0"/>
                                </a:rPr>
                              </m:ctrlPr>
                            </m:dPr>
                            <m:e>
                              <m:nary>
                                <m:naryPr>
                                  <m:chr m:val="∑"/>
                                  <m:ctrlPr>
                                    <a:rPr lang="en-US" sz="2400" i="1">
                                      <a:solidFill>
                                        <a:schemeClr val="tx1"/>
                                      </a:solidFill>
                                      <a:latin typeface="Cambria Math" panose="02040503050406030204" pitchFamily="18" charset="0"/>
                                    </a:rPr>
                                  </m:ctrlPr>
                                </m:naryPr>
                                <m:sub>
                                  <m:r>
                                    <m:rPr>
                                      <m:brk m:alnAt="23"/>
                                    </m:rPr>
                                    <a:rPr lang="en-US" sz="2400" i="1">
                                      <a:solidFill>
                                        <a:schemeClr val="tx1"/>
                                      </a:solidFill>
                                      <a:latin typeface="Cambria Math" panose="02040503050406030204" pitchFamily="18" charset="0"/>
                                    </a:rPr>
                                    <m:t>𝐵</m:t>
                                  </m:r>
                                </m:sub>
                                <m:sup>
                                  <m:r>
                                    <a:rPr lang="en-US" sz="2400" b="1" i="1">
                                      <a:solidFill>
                                        <a:schemeClr val="tx1"/>
                                      </a:solidFill>
                                      <a:latin typeface="Cambria Math" panose="02040503050406030204" pitchFamily="18" charset="0"/>
                                    </a:rPr>
                                    <m:t> </m:t>
                                  </m:r>
                                </m:sup>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𝜒</m:t>
                                      </m:r>
                                    </m:e>
                                    <m:sub>
                                      <m:r>
                                        <a:rPr lang="en-US" sz="2400" i="1">
                                          <a:solidFill>
                                            <a:schemeClr val="tx1"/>
                                          </a:solidFill>
                                          <a:latin typeface="Cambria Math" panose="02040503050406030204" pitchFamily="18" charset="0"/>
                                        </a:rPr>
                                        <m:t>𝐵</m:t>
                                      </m:r>
                                    </m:sub>
                                  </m:sSub>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𝝉</m:t>
                                      </m:r>
                                    </m:e>
                                    <m:sub>
                                      <m:r>
                                        <a:rPr lang="en-US" sz="2400" i="1">
                                          <a:solidFill>
                                            <a:schemeClr val="tx1"/>
                                          </a:solidFill>
                                          <a:latin typeface="Cambria Math" panose="02040503050406030204" pitchFamily="18" charset="0"/>
                                        </a:rPr>
                                        <m:t>𝐵</m:t>
                                      </m:r>
                                    </m:sub>
                                  </m:sSub>
                                </m:e>
                              </m:nary>
                            </m:e>
                          </m:d>
                        </m:e>
                      </m:d>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oMath>
                  </m:oMathPara>
                </a14:m>
                <a:endParaRPr lang="en-US" sz="2400" dirty="0">
                  <a:solidFill>
                    <a:schemeClr val="tx1"/>
                  </a:solidFill>
                </a:endParaRPr>
              </a:p>
            </p:txBody>
          </p:sp>
        </mc:Choice>
        <mc:Fallback xmlns="">
          <p:sp>
            <p:nvSpPr>
              <p:cNvPr id="5" name="TextBox 4">
                <a:extLst>
                  <a:ext uri="{FF2B5EF4-FFF2-40B4-BE49-F238E27FC236}">
                    <a16:creationId xmlns:a16="http://schemas.microsoft.com/office/drawing/2014/main" id="{801081E2-AC6B-4281-0999-6BCCF7BA172C}"/>
                  </a:ext>
                </a:extLst>
              </p:cNvPr>
              <p:cNvSpPr txBox="1">
                <a:spLocks noRot="1" noChangeAspect="1" noMove="1" noResize="1" noEditPoints="1" noAdjustHandles="1" noChangeArrowheads="1" noChangeShapeType="1" noTextEdit="1"/>
              </p:cNvSpPr>
              <p:nvPr/>
            </p:nvSpPr>
            <p:spPr>
              <a:xfrm>
                <a:off x="3048811" y="2883599"/>
                <a:ext cx="6094378" cy="107394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F9266726-ABB0-FB47-90A4-5C7241664282}"/>
                  </a:ext>
                </a:extLst>
              </p:cNvPr>
              <p:cNvSpPr txBox="1">
                <a:spLocks/>
              </p:cNvSpPr>
              <p:nvPr/>
            </p:nvSpPr>
            <p:spPr>
              <a:xfrm>
                <a:off x="271374" y="4188842"/>
                <a:ext cx="11649251" cy="5050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For all </a:t>
                </a:r>
                <a14:m>
                  <m:oMath xmlns:m="http://schemas.openxmlformats.org/officeDocument/2006/math">
                    <m:r>
                      <a:rPr lang="en-US" b="1" i="1" smtClean="0">
                        <a:latin typeface="Cambria Math" panose="02040503050406030204" pitchFamily="18" charset="0"/>
                      </a:rPr>
                      <m:t>𝒙</m:t>
                    </m:r>
                  </m:oMath>
                </a14:m>
                <a:r>
                  <a:rPr lang="en-US" dirty="0"/>
                  <a:t>, we instead require that:</a:t>
                </a:r>
              </a:p>
            </p:txBody>
          </p:sp>
        </mc:Choice>
        <mc:Fallback xmlns="">
          <p:sp>
            <p:nvSpPr>
              <p:cNvPr id="6" name="Content Placeholder 2">
                <a:extLst>
                  <a:ext uri="{FF2B5EF4-FFF2-40B4-BE49-F238E27FC236}">
                    <a16:creationId xmlns:a16="http://schemas.microsoft.com/office/drawing/2014/main" id="{F9266726-ABB0-FB47-90A4-5C7241664282}"/>
                  </a:ext>
                </a:extLst>
              </p:cNvPr>
              <p:cNvSpPr txBox="1">
                <a:spLocks noRot="1" noChangeAspect="1" noMove="1" noResize="1" noEditPoints="1" noAdjustHandles="1" noChangeArrowheads="1" noChangeShapeType="1" noTextEdit="1"/>
              </p:cNvSpPr>
              <p:nvPr/>
            </p:nvSpPr>
            <p:spPr>
              <a:xfrm>
                <a:off x="271374" y="4188842"/>
                <a:ext cx="11649251" cy="505078"/>
              </a:xfrm>
              <a:prstGeom prst="rect">
                <a:avLst/>
              </a:prstGeom>
              <a:blipFill>
                <a:blip r:embed="rId3"/>
                <a:stretch>
                  <a:fillRect l="-1099" t="-20482" b="-277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193676D-0D2D-9BEE-78D7-A34326218C00}"/>
                  </a:ext>
                </a:extLst>
              </p:cNvPr>
              <p:cNvSpPr txBox="1"/>
              <p:nvPr/>
            </p:nvSpPr>
            <p:spPr>
              <a:xfrm>
                <a:off x="3048811" y="4775827"/>
                <a:ext cx="6094378" cy="1122038"/>
              </a:xfrm>
              <a:prstGeom prst="rect">
                <a:avLst/>
              </a:prstGeom>
              <a:noFill/>
            </p:spPr>
            <p:txBody>
              <a:bodyPr wrap="square">
                <a:spAutoFit/>
              </a:bodyPr>
              <a:lstStyle/>
              <a:p>
                <a:pPr/>
                <a14:m>
                  <m:oMathPara xmlns:m="http://schemas.openxmlformats.org/officeDocument/2006/math">
                    <m:oMath>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𝜺</m:t>
                          </m:r>
                        </m:e>
                        <m:sub>
                          <m:r>
                            <a:rPr lang="en-US" sz="2400" b="0" i="1" smtClean="0">
                              <a:solidFill>
                                <a:srgbClr val="FF0000"/>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d>
                            <m:dPr>
                              <m:begChr m:val="⟨"/>
                              <m:endChr m:val="⟩"/>
                              <m:ctrlPr>
                                <a:rPr lang="en-US" sz="2400" b="1" i="1">
                                  <a:solidFill>
                                    <a:schemeClr val="tx1"/>
                                  </a:solidFill>
                                  <a:latin typeface="Cambria Math" panose="02040503050406030204" pitchFamily="18" charset="0"/>
                                </a:rPr>
                              </m:ctrlPr>
                            </m:dPr>
                            <m:e>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i="1">
                                      <a:solidFill>
                                        <a:schemeClr val="tx1"/>
                                      </a:solidFill>
                                      <a:latin typeface="Cambria Math" panose="02040503050406030204" pitchFamily="18" charset="0"/>
                                    </a:rPr>
                                  </m:ctrlPr>
                                </m:dPr>
                                <m:e>
                                  <m:nary>
                                    <m:naryPr>
                                      <m:chr m:val="∑"/>
                                      <m:ctrlPr>
                                        <a:rPr lang="en-US" sz="2400" i="1">
                                          <a:solidFill>
                                            <a:schemeClr val="tx1"/>
                                          </a:solidFill>
                                          <a:latin typeface="Cambria Math" panose="02040503050406030204" pitchFamily="18" charset="0"/>
                                        </a:rPr>
                                      </m:ctrlPr>
                                    </m:naryPr>
                                    <m:sub>
                                      <m:r>
                                        <m:rPr>
                                          <m:brk m:alnAt="23"/>
                                        </m:rPr>
                                        <a:rPr lang="en-US" sz="2400" i="1">
                                          <a:solidFill>
                                            <a:schemeClr val="tx1"/>
                                          </a:solidFill>
                                          <a:latin typeface="Cambria Math" panose="02040503050406030204" pitchFamily="18" charset="0"/>
                                        </a:rPr>
                                        <m:t>𝐵</m:t>
                                      </m:r>
                                    </m:sub>
                                    <m:sup>
                                      <m:r>
                                        <a:rPr lang="en-US" sz="2400" b="1" i="1">
                                          <a:solidFill>
                                            <a:schemeClr val="tx1"/>
                                          </a:solidFill>
                                          <a:latin typeface="Cambria Math" panose="02040503050406030204" pitchFamily="18" charset="0"/>
                                        </a:rPr>
                                        <m:t> </m:t>
                                      </m:r>
                                    </m:sup>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𝜒</m:t>
                                          </m:r>
                                        </m:e>
                                        <m:sub>
                                          <m:r>
                                            <a:rPr lang="en-US" sz="2400" i="1">
                                              <a:solidFill>
                                                <a:schemeClr val="tx1"/>
                                              </a:solidFill>
                                              <a:latin typeface="Cambria Math" panose="02040503050406030204" pitchFamily="18" charset="0"/>
                                            </a:rPr>
                                            <m:t>𝐵</m:t>
                                          </m:r>
                                        </m:sub>
                                      </m:sSub>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𝝉</m:t>
                                          </m:r>
                                        </m:e>
                                        <m:sub>
                                          <m:r>
                                            <a:rPr lang="en-US" sz="2400" i="1">
                                              <a:solidFill>
                                                <a:schemeClr val="tx1"/>
                                              </a:solidFill>
                                              <a:latin typeface="Cambria Math" panose="02040503050406030204" pitchFamily="18" charset="0"/>
                                            </a:rPr>
                                            <m:t>𝐵</m:t>
                                          </m:r>
                                        </m:sub>
                                      </m:sSub>
                                    </m:e>
                                  </m:nary>
                                </m:e>
                              </m:d>
                            </m:e>
                          </m:d>
                        </m:e>
                        <m:sub>
                          <m:r>
                            <a:rPr lang="en-US" sz="2400" b="0" i="1" smtClean="0">
                              <a:solidFill>
                                <a:srgbClr val="FF0000"/>
                              </a:solidFill>
                              <a:latin typeface="Cambria Math" panose="02040503050406030204" pitchFamily="18" charset="0"/>
                            </a:rPr>
                            <m:t>𝐴</m:t>
                          </m:r>
                        </m:sub>
                      </m:sSub>
                    </m:oMath>
                  </m:oMathPara>
                </a14:m>
                <a:endParaRPr lang="en-US" sz="2400" dirty="0">
                  <a:solidFill>
                    <a:schemeClr val="tx1"/>
                  </a:solidFill>
                </a:endParaRPr>
              </a:p>
            </p:txBody>
          </p:sp>
        </mc:Choice>
        <mc:Fallback xmlns="">
          <p:sp>
            <p:nvSpPr>
              <p:cNvPr id="8" name="TextBox 7">
                <a:extLst>
                  <a:ext uri="{FF2B5EF4-FFF2-40B4-BE49-F238E27FC236}">
                    <a16:creationId xmlns:a16="http://schemas.microsoft.com/office/drawing/2014/main" id="{9193676D-0D2D-9BEE-78D7-A34326218C00}"/>
                  </a:ext>
                </a:extLst>
              </p:cNvPr>
              <p:cNvSpPr txBox="1">
                <a:spLocks noRot="1" noChangeAspect="1" noMove="1" noResize="1" noEditPoints="1" noAdjustHandles="1" noChangeArrowheads="1" noChangeShapeType="1" noTextEdit="1"/>
              </p:cNvSpPr>
              <p:nvPr/>
            </p:nvSpPr>
            <p:spPr>
              <a:xfrm>
                <a:off x="3048811" y="4775827"/>
                <a:ext cx="6094378" cy="11220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8DF499EB-28E3-34E4-B61B-2B456AC7DDC4}"/>
                  </a:ext>
                </a:extLst>
              </p:cNvPr>
              <p:cNvSpPr txBox="1">
                <a:spLocks/>
              </p:cNvSpPr>
              <p:nvPr/>
            </p:nvSpPr>
            <p:spPr>
              <a:xfrm>
                <a:off x="271374" y="6088762"/>
                <a:ext cx="11649251" cy="5050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Within each partition </a:t>
                </a:r>
                <a14:m>
                  <m:oMath xmlns:m="http://schemas.openxmlformats.org/officeDocument/2006/math">
                    <m:r>
                      <a:rPr lang="en-US" b="0" i="1" smtClean="0">
                        <a:latin typeface="Cambria Math" panose="02040503050406030204" pitchFamily="18" charset="0"/>
                      </a:rPr>
                      <m:t>𝐴</m:t>
                    </m:r>
                  </m:oMath>
                </a14:m>
                <a:r>
                  <a:rPr lang="en-US" dirty="0"/>
                  <a:t>. </a:t>
                </a:r>
              </a:p>
            </p:txBody>
          </p:sp>
        </mc:Choice>
        <mc:Fallback xmlns="">
          <p:sp>
            <p:nvSpPr>
              <p:cNvPr id="13" name="Content Placeholder 2">
                <a:extLst>
                  <a:ext uri="{FF2B5EF4-FFF2-40B4-BE49-F238E27FC236}">
                    <a16:creationId xmlns:a16="http://schemas.microsoft.com/office/drawing/2014/main" id="{8DF499EB-28E3-34E4-B61B-2B456AC7DDC4}"/>
                  </a:ext>
                </a:extLst>
              </p:cNvPr>
              <p:cNvSpPr txBox="1">
                <a:spLocks noRot="1" noChangeAspect="1" noMove="1" noResize="1" noEditPoints="1" noAdjustHandles="1" noChangeArrowheads="1" noChangeShapeType="1" noTextEdit="1"/>
              </p:cNvSpPr>
              <p:nvPr/>
            </p:nvSpPr>
            <p:spPr>
              <a:xfrm>
                <a:off x="271374" y="6088762"/>
                <a:ext cx="11649251" cy="505078"/>
              </a:xfrm>
              <a:prstGeom prst="rect">
                <a:avLst/>
              </a:prstGeom>
              <a:blipFill>
                <a:blip r:embed="rId5"/>
                <a:stretch>
                  <a:fillRect l="-1099" t="-21687" b="-27711"/>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A3B6EAD7-43A6-C603-A311-BD042ADAC5BC}"/>
              </a:ext>
            </a:extLst>
          </p:cNvPr>
          <p:cNvSpPr txBox="1"/>
          <p:nvPr/>
        </p:nvSpPr>
        <p:spPr>
          <a:xfrm>
            <a:off x="8239759" y="4521238"/>
            <a:ext cx="3759202" cy="1631216"/>
          </a:xfrm>
          <a:prstGeom prst="rect">
            <a:avLst/>
          </a:prstGeom>
          <a:noFill/>
        </p:spPr>
        <p:txBody>
          <a:bodyPr wrap="square" rtlCol="0">
            <a:spAutoFit/>
          </a:bodyPr>
          <a:lstStyle/>
          <a:p>
            <a:pPr algn="just"/>
            <a:r>
              <a:rPr lang="en-US" sz="2000" dirty="0">
                <a:solidFill>
                  <a:srgbClr val="0000FF"/>
                </a:solidFill>
              </a:rPr>
              <a:t>This is different from the partition averaging of TFA, which is performed after the pointwise Lippmann-Schwinger equation is already satisfied. </a:t>
            </a:r>
          </a:p>
        </p:txBody>
      </p:sp>
    </p:spTree>
    <p:extLst>
      <p:ext uri="{BB962C8B-B14F-4D97-AF65-F5344CB8AC3E}">
        <p14:creationId xmlns:p14="http://schemas.microsoft.com/office/powerpoint/2010/main" val="435338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B1B04-B851-A1BD-8D8F-4DA78B5062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8ADB60-BA66-1DBC-09AF-15B4654C59F6}"/>
              </a:ext>
            </a:extLst>
          </p:cNvPr>
          <p:cNvSpPr>
            <a:spLocks noGrp="1"/>
          </p:cNvSpPr>
          <p:nvPr>
            <p:ph type="title"/>
          </p:nvPr>
        </p:nvSpPr>
        <p:spPr>
          <a:xfrm>
            <a:off x="227789" y="121920"/>
            <a:ext cx="10515600" cy="1325563"/>
          </a:xfrm>
        </p:spPr>
        <p:txBody>
          <a:bodyPr/>
          <a:lstStyle/>
          <a:p>
            <a:r>
              <a:rPr lang="en-US" dirty="0"/>
              <a:t>Derivation: LS to CP (4)</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44FA78-BBAA-9627-8733-903EBFE3AB17}"/>
                  </a:ext>
                </a:extLst>
              </p:cNvPr>
              <p:cNvSpPr>
                <a:spLocks noGrp="1"/>
              </p:cNvSpPr>
              <p:nvPr>
                <p:ph idx="1"/>
              </p:nvPr>
            </p:nvSpPr>
            <p:spPr>
              <a:xfrm>
                <a:off x="227786" y="1188720"/>
                <a:ext cx="11649251" cy="1591341"/>
              </a:xfrm>
            </p:spPr>
            <p:txBody>
              <a:bodyPr>
                <a:normAutofit/>
              </a:bodyPr>
              <a:lstStyle/>
              <a:p>
                <a:pPr marL="0" indent="0" algn="just">
                  <a:buNone/>
                </a:pPr>
                <a:r>
                  <a:rPr lang="en-US" dirty="0"/>
                  <a:t>Now, we want to define the polarization stress in terms of the partition averaged strains </a:t>
                </a:r>
                <a14:m>
                  <m:oMath xmlns:m="http://schemas.openxmlformats.org/officeDocument/2006/math">
                    <m:sSub>
                      <m:sSubPr>
                        <m:ctrlPr>
                          <a:rPr lang="en-US" b="1" i="1">
                            <a:solidFill>
                              <a:schemeClr val="tx1"/>
                            </a:solidFill>
                            <a:latin typeface="Cambria Math" panose="02040503050406030204" pitchFamily="18" charset="0"/>
                          </a:rPr>
                        </m:ctrlPr>
                      </m:sSubPr>
                      <m:e>
                        <m:r>
                          <a:rPr lang="en-US" b="1" i="1">
                            <a:solidFill>
                              <a:schemeClr val="tx1"/>
                            </a:solidFill>
                            <a:latin typeface="Cambria Math" panose="02040503050406030204" pitchFamily="18" charset="0"/>
                          </a:rPr>
                          <m:t>𝜺</m:t>
                        </m:r>
                      </m:e>
                      <m:sub>
                        <m:r>
                          <a:rPr lang="en-US" i="1">
                            <a:solidFill>
                              <a:schemeClr val="tx1"/>
                            </a:solidFill>
                            <a:latin typeface="Cambria Math" panose="02040503050406030204" pitchFamily="18" charset="0"/>
                          </a:rPr>
                          <m:t>𝐴</m:t>
                        </m:r>
                      </m:sub>
                    </m:sSub>
                  </m:oMath>
                </a14:m>
                <a:r>
                  <a:rPr lang="en-US" dirty="0"/>
                  <a:t>. To do this, we must first solve the polarization stress for </a:t>
                </a:r>
                <a14:m>
                  <m:oMath xmlns:m="http://schemas.openxmlformats.org/officeDocument/2006/math">
                    <m:r>
                      <a:rPr lang="en-US" b="1" i="1">
                        <a:latin typeface="Cambria Math" panose="02040503050406030204" pitchFamily="18" charset="0"/>
                      </a:rPr>
                      <m:t>𝜺</m:t>
                    </m:r>
                    <m:d>
                      <m:dPr>
                        <m:ctrlPr>
                          <a:rPr lang="en-US" b="1" i="1">
                            <a:latin typeface="Cambria Math" panose="02040503050406030204" pitchFamily="18" charset="0"/>
                          </a:rPr>
                        </m:ctrlPr>
                      </m:dPr>
                      <m:e>
                        <m:r>
                          <a:rPr lang="en-US" b="1" i="1">
                            <a:latin typeface="Cambria Math" panose="02040503050406030204" pitchFamily="18" charset="0"/>
                          </a:rPr>
                          <m:t>𝒙</m:t>
                        </m:r>
                      </m:e>
                    </m:d>
                  </m:oMath>
                </a14:m>
                <a:r>
                  <a:rPr lang="en-US" dirty="0"/>
                  <a:t>. Restating the polarization stress definition for some </a:t>
                </a:r>
                <a14:m>
                  <m:oMath xmlns:m="http://schemas.openxmlformats.org/officeDocument/2006/math">
                    <m:r>
                      <a:rPr lang="en-US" b="1" i="1">
                        <a:latin typeface="Cambria Math" panose="02040503050406030204" pitchFamily="18" charset="0"/>
                      </a:rPr>
                      <m:t>𝒙</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𝛩</m:t>
                        </m:r>
                      </m:e>
                      <m:sub>
                        <m:r>
                          <a:rPr lang="en-US" i="1">
                            <a:latin typeface="Cambria Math" panose="02040503050406030204" pitchFamily="18" charset="0"/>
                          </a:rPr>
                          <m:t>𝐴</m:t>
                        </m:r>
                      </m:sub>
                    </m:sSub>
                  </m:oMath>
                </a14:m>
                <a:r>
                  <a:rPr lang="en-US" dirty="0"/>
                  <a:t>:</a:t>
                </a:r>
              </a:p>
            </p:txBody>
          </p:sp>
        </mc:Choice>
        <mc:Fallback xmlns="">
          <p:sp>
            <p:nvSpPr>
              <p:cNvPr id="3" name="Content Placeholder 2">
                <a:extLst>
                  <a:ext uri="{FF2B5EF4-FFF2-40B4-BE49-F238E27FC236}">
                    <a16:creationId xmlns:a16="http://schemas.microsoft.com/office/drawing/2014/main" id="{F144FA78-BBAA-9627-8733-903EBFE3AB17}"/>
                  </a:ext>
                </a:extLst>
              </p:cNvPr>
              <p:cNvSpPr>
                <a:spLocks noGrp="1" noRot="1" noChangeAspect="1" noMove="1" noResize="1" noEditPoints="1" noAdjustHandles="1" noChangeArrowheads="1" noChangeShapeType="1" noTextEdit="1"/>
              </p:cNvSpPr>
              <p:nvPr>
                <p:ph idx="1"/>
              </p:nvPr>
            </p:nvSpPr>
            <p:spPr>
              <a:xfrm>
                <a:off x="227786" y="1188720"/>
                <a:ext cx="11649251" cy="1591341"/>
              </a:xfrm>
              <a:blipFill>
                <a:blip r:embed="rId2"/>
                <a:stretch>
                  <a:fillRect l="-1047" t="-6513" r="-109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18F90DE-9791-DD62-5D84-113372AAEE29}"/>
                  </a:ext>
                </a:extLst>
              </p:cNvPr>
              <p:cNvSpPr txBox="1"/>
              <p:nvPr/>
            </p:nvSpPr>
            <p:spPr>
              <a:xfrm>
                <a:off x="3048811" y="2794611"/>
                <a:ext cx="6094378" cy="461665"/>
              </a:xfrm>
              <a:prstGeom prst="rect">
                <a:avLst/>
              </a:prstGeom>
              <a:noFill/>
            </p:spPr>
            <p:txBody>
              <a:bodyPr wrap="square">
                <a:spAutoFit/>
              </a:bodyPr>
              <a:lstStyle/>
              <a:p>
                <a:pPr/>
                <a14:m>
                  <m:oMathPara xmlns:m="http://schemas.openxmlformats.org/officeDocument/2006/math">
                    <m:o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𝝉</m:t>
                          </m:r>
                        </m:e>
                        <m:sub>
                          <m:r>
                            <a:rPr lang="en-US" sz="2400" b="0" i="1" smtClean="0">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d>
                        <m:dPr>
                          <m:ctrlPr>
                            <a:rPr lang="en-US" sz="2400" b="1" i="1">
                              <a:latin typeface="Cambria Math" panose="02040503050406030204" pitchFamily="18" charset="0"/>
                            </a:rPr>
                          </m:ctrlPr>
                        </m:dPr>
                        <m:e>
                          <m:r>
                            <a:rPr lang="en-US" sz="2400" b="1" i="1">
                              <a:latin typeface="Cambria Math" panose="02040503050406030204" pitchFamily="18" charset="0"/>
                            </a:rPr>
                            <m:t>𝑪</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𝑪</m:t>
                              </m:r>
                            </m:e>
                            <m:sub>
                              <m:r>
                                <a:rPr lang="en-US" sz="2400" i="1">
                                  <a:latin typeface="Cambria Math" panose="02040503050406030204" pitchFamily="18" charset="0"/>
                                </a:rPr>
                                <m:t>0</m:t>
                              </m:r>
                            </m:sub>
                          </m:sSub>
                        </m:e>
                      </m:d>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𝜺</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𝑪</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𝝁</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oMath>
                  </m:oMathPara>
                </a14:m>
                <a:endParaRPr lang="en-US" sz="2400" dirty="0">
                  <a:solidFill>
                    <a:schemeClr val="tx1"/>
                  </a:solidFill>
                </a:endParaRPr>
              </a:p>
            </p:txBody>
          </p:sp>
        </mc:Choice>
        <mc:Fallback xmlns="">
          <p:sp>
            <p:nvSpPr>
              <p:cNvPr id="7" name="TextBox 6">
                <a:extLst>
                  <a:ext uri="{FF2B5EF4-FFF2-40B4-BE49-F238E27FC236}">
                    <a16:creationId xmlns:a16="http://schemas.microsoft.com/office/drawing/2014/main" id="{A18F90DE-9791-DD62-5D84-113372AAEE29}"/>
                  </a:ext>
                </a:extLst>
              </p:cNvPr>
              <p:cNvSpPr txBox="1">
                <a:spLocks noRot="1" noChangeAspect="1" noMove="1" noResize="1" noEditPoints="1" noAdjustHandles="1" noChangeArrowheads="1" noChangeShapeType="1" noTextEdit="1"/>
              </p:cNvSpPr>
              <p:nvPr/>
            </p:nvSpPr>
            <p:spPr>
              <a:xfrm>
                <a:off x="3048811" y="2794611"/>
                <a:ext cx="6094378" cy="461665"/>
              </a:xfrm>
              <a:prstGeom prst="rect">
                <a:avLst/>
              </a:prstGeom>
              <a:blipFill>
                <a:blip r:embed="rId3"/>
                <a:stretch>
                  <a:fillRect b="-78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1FF998F5-024F-5442-01C7-6ED75EBDFC1F}"/>
                  </a:ext>
                </a:extLst>
              </p:cNvPr>
              <p:cNvSpPr txBox="1">
                <a:spLocks/>
              </p:cNvSpPr>
              <p:nvPr/>
            </p:nvSpPr>
            <p:spPr>
              <a:xfrm>
                <a:off x="227785" y="3543013"/>
                <a:ext cx="11649251" cy="9311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Solve for </a:t>
                </a:r>
                <a14:m>
                  <m:oMath xmlns:m="http://schemas.openxmlformats.org/officeDocument/2006/math">
                    <m:r>
                      <a:rPr lang="en-US" b="1" i="1">
                        <a:latin typeface="Cambria Math" panose="02040503050406030204" pitchFamily="18" charset="0"/>
                      </a:rPr>
                      <m:t>𝜺</m:t>
                    </m:r>
                    <m:d>
                      <m:dPr>
                        <m:ctrlPr>
                          <a:rPr lang="en-US" b="1" i="1">
                            <a:latin typeface="Cambria Math" panose="02040503050406030204" pitchFamily="18" charset="0"/>
                          </a:rPr>
                        </m:ctrlPr>
                      </m:dPr>
                      <m:e>
                        <m:r>
                          <a:rPr lang="en-US" b="1" i="1">
                            <a:latin typeface="Cambria Math" panose="02040503050406030204" pitchFamily="18" charset="0"/>
                          </a:rPr>
                          <m:t>𝒙</m:t>
                        </m:r>
                      </m:e>
                    </m:d>
                  </m:oMath>
                </a14:m>
                <a:r>
                  <a:rPr lang="en-US" dirty="0"/>
                  <a:t> (assuming we choose the homogeneous reference stiffness such that </a:t>
                </a:r>
                <a14:m>
                  <m:oMath xmlns:m="http://schemas.openxmlformats.org/officeDocument/2006/math">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𝑪</m:t>
                            </m:r>
                            <m:d>
                              <m:dPr>
                                <m:ctrlPr>
                                  <a:rPr lang="en-US" b="1" i="1">
                                    <a:latin typeface="Cambria Math" panose="02040503050406030204" pitchFamily="18" charset="0"/>
                                  </a:rPr>
                                </m:ctrlPr>
                              </m:dPr>
                              <m:e>
                                <m:r>
                                  <a:rPr lang="en-US" b="1" i="1">
                                    <a:latin typeface="Cambria Math" panose="02040503050406030204" pitchFamily="18" charset="0"/>
                                  </a:rPr>
                                  <m:t>𝒙</m:t>
                                </m:r>
                              </m:e>
                            </m:d>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i="1">
                                    <a:latin typeface="Cambria Math" panose="02040503050406030204" pitchFamily="18" charset="0"/>
                                  </a:rPr>
                                  <m:t>0</m:t>
                                </m:r>
                              </m:sub>
                            </m:sSub>
                          </m:e>
                        </m:d>
                      </m:e>
                      <m:sup>
                        <m:r>
                          <a:rPr lang="en-US" b="0" i="1" smtClean="0">
                            <a:latin typeface="Cambria Math" panose="02040503050406030204" pitchFamily="18" charset="0"/>
                          </a:rPr>
                          <m:t>−1</m:t>
                        </m:r>
                      </m:sup>
                    </m:sSup>
                  </m:oMath>
                </a14:m>
                <a:r>
                  <a:rPr lang="en-US" dirty="0"/>
                  <a:t> exists): </a:t>
                </a:r>
              </a:p>
            </p:txBody>
          </p:sp>
        </mc:Choice>
        <mc:Fallback xmlns="">
          <p:sp>
            <p:nvSpPr>
              <p:cNvPr id="9" name="Content Placeholder 2">
                <a:extLst>
                  <a:ext uri="{FF2B5EF4-FFF2-40B4-BE49-F238E27FC236}">
                    <a16:creationId xmlns:a16="http://schemas.microsoft.com/office/drawing/2014/main" id="{1FF998F5-024F-5442-01C7-6ED75EBDFC1F}"/>
                  </a:ext>
                </a:extLst>
              </p:cNvPr>
              <p:cNvSpPr txBox="1">
                <a:spLocks noRot="1" noChangeAspect="1" noMove="1" noResize="1" noEditPoints="1" noAdjustHandles="1" noChangeArrowheads="1" noChangeShapeType="1" noTextEdit="1"/>
              </p:cNvSpPr>
              <p:nvPr/>
            </p:nvSpPr>
            <p:spPr>
              <a:xfrm>
                <a:off x="227785" y="3543013"/>
                <a:ext cx="11649251" cy="931101"/>
              </a:xfrm>
              <a:prstGeom prst="rect">
                <a:avLst/>
              </a:prstGeom>
              <a:blipFill>
                <a:blip r:embed="rId4"/>
                <a:stretch>
                  <a:fillRect l="-1047" t="-11111" r="-1099" b="-104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2E497CF-FD14-1DE5-6F9D-0E8BDFF4CE37}"/>
                  </a:ext>
                </a:extLst>
              </p:cNvPr>
              <p:cNvSpPr txBox="1"/>
              <p:nvPr/>
            </p:nvSpPr>
            <p:spPr>
              <a:xfrm>
                <a:off x="3048811" y="4621002"/>
                <a:ext cx="6094378" cy="509178"/>
              </a:xfrm>
              <a:prstGeom prst="rect">
                <a:avLst/>
              </a:prstGeom>
              <a:noFill/>
            </p:spPr>
            <p:txBody>
              <a:bodyPr wrap="square">
                <a:spAutoFit/>
              </a:bodyPr>
              <a:lstStyle/>
              <a:p>
                <a:pPr/>
                <a14:m>
                  <m:oMathPara xmlns:m="http://schemas.openxmlformats.org/officeDocument/2006/math">
                    <m:oMath>
                      <m:r>
                        <a:rPr lang="en-US" sz="2400" b="1" i="1" smtClean="0">
                          <a:solidFill>
                            <a:srgbClr val="FF0000"/>
                          </a:solidFill>
                          <a:latin typeface="Cambria Math" panose="02040503050406030204" pitchFamily="18" charset="0"/>
                        </a:rPr>
                        <m:t>𝜺</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r>
                        <a:rPr lang="en-US" sz="2400" b="1" i="1" smtClean="0">
                          <a:latin typeface="Cambria Math" panose="02040503050406030204" pitchFamily="18" charset="0"/>
                        </a:rPr>
                        <m:t>=</m:t>
                      </m:r>
                      <m:sSup>
                        <m:sSupPr>
                          <m:ctrlPr>
                            <a:rPr lang="en-US" sz="2400" b="1" i="1">
                              <a:solidFill>
                                <a:srgbClr val="FF0000"/>
                              </a:solidFill>
                              <a:latin typeface="Cambria Math" panose="02040503050406030204" pitchFamily="18" charset="0"/>
                            </a:rPr>
                          </m:ctrlPr>
                        </m:sSupPr>
                        <m:e>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𝑪</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e>
                        <m:sup>
                          <m:r>
                            <a:rPr lang="en-US" sz="2400" i="1">
                              <a:solidFill>
                                <a:srgbClr val="FF0000"/>
                              </a:solidFill>
                              <a:latin typeface="Cambria Math" panose="02040503050406030204" pitchFamily="18" charset="0"/>
                            </a:rPr>
                            <m:t>−</m:t>
                          </m:r>
                          <m:r>
                            <a:rPr lang="en-US" sz="2400" b="0" i="1" smtClean="0">
                              <a:solidFill>
                                <a:srgbClr val="FF0000"/>
                              </a:solidFill>
                              <a:latin typeface="Cambria Math" panose="02040503050406030204" pitchFamily="18" charset="0"/>
                            </a:rPr>
                            <m:t>1</m:t>
                          </m:r>
                        </m:sup>
                      </m:sSup>
                      <m:r>
                        <a:rPr lang="en-US" sz="2400" b="1" i="1">
                          <a:latin typeface="Cambria Math" panose="02040503050406030204" pitchFamily="18" charset="0"/>
                        </a:rPr>
                        <m:t>:</m:t>
                      </m:r>
                      <m:d>
                        <m:dPr>
                          <m:ctrlPr>
                            <a:rPr lang="en-US" sz="2400" b="1" i="1">
                              <a:latin typeface="Cambria Math" panose="02040503050406030204" pitchFamily="18" charset="0"/>
                            </a:rPr>
                          </m:ctrlPr>
                        </m:dPr>
                        <m:e>
                          <m:sSub>
                            <m:sSubPr>
                              <m:ctrlPr>
                                <a:rPr lang="en-US" sz="2400" b="1" i="1">
                                  <a:latin typeface="Cambria Math" panose="02040503050406030204" pitchFamily="18" charset="0"/>
                                </a:rPr>
                              </m:ctrlPr>
                            </m:sSubPr>
                            <m:e>
                              <m:r>
                                <a:rPr lang="en-US" sz="2400" b="1" i="1">
                                  <a:latin typeface="Cambria Math" panose="02040503050406030204" pitchFamily="18" charset="0"/>
                                </a:rPr>
                                <m:t>𝝉</m:t>
                              </m:r>
                            </m:e>
                            <m:sub>
                              <m:r>
                                <a:rPr lang="en-US" sz="2400" i="1">
                                  <a:latin typeface="Cambria Math" panose="02040503050406030204" pitchFamily="18" charset="0"/>
                                </a:rPr>
                                <m:t>𝐴</m:t>
                              </m:r>
                            </m:sub>
                          </m:sSub>
                          <m:r>
                            <a:rPr lang="en-US" sz="2400" b="1" i="1" smtClean="0">
                              <a:solidFill>
                                <a:srgbClr val="FF0000"/>
                              </a:solidFill>
                              <a:latin typeface="Cambria Math" panose="02040503050406030204" pitchFamily="18" charset="0"/>
                            </a:rPr>
                            <m:t>+</m:t>
                          </m:r>
                          <m:r>
                            <a:rPr lang="en-US" sz="2400" b="1" i="1" smtClean="0">
                              <a:solidFill>
                                <a:srgbClr val="FF0000"/>
                              </a:solidFill>
                              <a:latin typeface="Cambria Math" panose="02040503050406030204" pitchFamily="18" charset="0"/>
                            </a:rPr>
                            <m:t>𝑪</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𝝁</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e>
                      </m:d>
                    </m:oMath>
                  </m:oMathPara>
                </a14:m>
                <a:endParaRPr lang="en-US" sz="2400" dirty="0">
                  <a:solidFill>
                    <a:schemeClr val="tx1"/>
                  </a:solidFill>
                </a:endParaRPr>
              </a:p>
            </p:txBody>
          </p:sp>
        </mc:Choice>
        <mc:Fallback xmlns="">
          <p:sp>
            <p:nvSpPr>
              <p:cNvPr id="11" name="TextBox 10">
                <a:extLst>
                  <a:ext uri="{FF2B5EF4-FFF2-40B4-BE49-F238E27FC236}">
                    <a16:creationId xmlns:a16="http://schemas.microsoft.com/office/drawing/2014/main" id="{72E497CF-FD14-1DE5-6F9D-0E8BDFF4CE37}"/>
                  </a:ext>
                </a:extLst>
              </p:cNvPr>
              <p:cNvSpPr txBox="1">
                <a:spLocks noRot="1" noChangeAspect="1" noMove="1" noResize="1" noEditPoints="1" noAdjustHandles="1" noChangeArrowheads="1" noChangeShapeType="1" noTextEdit="1"/>
              </p:cNvSpPr>
              <p:nvPr/>
            </p:nvSpPr>
            <p:spPr>
              <a:xfrm>
                <a:off x="3048811" y="4621002"/>
                <a:ext cx="6094378" cy="509178"/>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6343B98A-F776-7970-D2DE-62A9C6DE0DF9}"/>
                  </a:ext>
                </a:extLst>
              </p:cNvPr>
              <p:cNvSpPr txBox="1">
                <a:spLocks/>
              </p:cNvSpPr>
              <p:nvPr/>
            </p:nvSpPr>
            <p:spPr>
              <a:xfrm>
                <a:off x="227784" y="5351806"/>
                <a:ext cx="11649251" cy="5091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Average over partition </a:t>
                </a:r>
                <a14:m>
                  <m:oMath xmlns:m="http://schemas.openxmlformats.org/officeDocument/2006/math">
                    <m:r>
                      <a:rPr lang="en-US" b="0" i="1" smtClean="0">
                        <a:latin typeface="Cambria Math" panose="02040503050406030204" pitchFamily="18" charset="0"/>
                      </a:rPr>
                      <m:t>𝐴</m:t>
                    </m:r>
                  </m:oMath>
                </a14:m>
                <a:r>
                  <a:rPr lang="en-US" dirty="0"/>
                  <a:t>:</a:t>
                </a:r>
              </a:p>
            </p:txBody>
          </p:sp>
        </mc:Choice>
        <mc:Fallback xmlns="">
          <p:sp>
            <p:nvSpPr>
              <p:cNvPr id="13" name="Content Placeholder 2">
                <a:extLst>
                  <a:ext uri="{FF2B5EF4-FFF2-40B4-BE49-F238E27FC236}">
                    <a16:creationId xmlns:a16="http://schemas.microsoft.com/office/drawing/2014/main" id="{6343B98A-F776-7970-D2DE-62A9C6DE0DF9}"/>
                  </a:ext>
                </a:extLst>
              </p:cNvPr>
              <p:cNvSpPr txBox="1">
                <a:spLocks noRot="1" noChangeAspect="1" noMove="1" noResize="1" noEditPoints="1" noAdjustHandles="1" noChangeArrowheads="1" noChangeShapeType="1" noTextEdit="1"/>
              </p:cNvSpPr>
              <p:nvPr/>
            </p:nvSpPr>
            <p:spPr>
              <a:xfrm>
                <a:off x="227784" y="5351806"/>
                <a:ext cx="11649251" cy="509178"/>
              </a:xfrm>
              <a:prstGeom prst="rect">
                <a:avLst/>
              </a:prstGeom>
              <a:blipFill>
                <a:blip r:embed="rId6"/>
                <a:stretch>
                  <a:fillRect l="-1047" t="-21687" b="-277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0662169-EC5D-95EB-8F7E-3300622626AD}"/>
                  </a:ext>
                </a:extLst>
              </p:cNvPr>
              <p:cNvSpPr txBox="1"/>
              <p:nvPr/>
            </p:nvSpPr>
            <p:spPr>
              <a:xfrm>
                <a:off x="1600200" y="6024443"/>
                <a:ext cx="9143189" cy="461665"/>
              </a:xfrm>
              <a:prstGeom prst="rect">
                <a:avLst/>
              </a:prstGeom>
              <a:noFill/>
            </p:spPr>
            <p:txBody>
              <a:bodyPr wrap="square">
                <a:spAutoFit/>
              </a:bodyPr>
              <a:lstStyle/>
              <a:p>
                <a:pPr/>
                <a14:m>
                  <m:oMathPara xmlns:m="http://schemas.openxmlformats.org/officeDocument/2006/math">
                    <m:oMath>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𝜺</m:t>
                          </m:r>
                        </m:e>
                        <m:sub>
                          <m:r>
                            <a:rPr lang="en-US" sz="2400" b="0" i="1" smtClean="0">
                              <a:solidFill>
                                <a:srgbClr val="FF0000"/>
                              </a:solidFill>
                              <a:latin typeface="Cambria Math" panose="02040503050406030204" pitchFamily="18" charset="0"/>
                            </a:rPr>
                            <m:t>𝐴</m:t>
                          </m:r>
                        </m:sub>
                      </m:sSub>
                      <m:r>
                        <a:rPr lang="en-US" sz="2400" b="1" i="1" smtClean="0">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d>
                            <m:dPr>
                              <m:begChr m:val="⟨"/>
                              <m:endChr m:val="⟩"/>
                              <m:ctrlPr>
                                <a:rPr lang="en-US" sz="2400" b="1" i="1">
                                  <a:solidFill>
                                    <a:schemeClr val="tx1"/>
                                  </a:solidFill>
                                  <a:latin typeface="Cambria Math" panose="02040503050406030204" pitchFamily="18" charset="0"/>
                                </a:rPr>
                              </m:ctrlPr>
                            </m:dPr>
                            <m:e>
                              <m:sSup>
                                <m:sSupPr>
                                  <m:ctrlPr>
                                    <a:rPr lang="en-US" sz="2400" b="1" i="1">
                                      <a:solidFill>
                                        <a:schemeClr val="tx1"/>
                                      </a:solidFill>
                                      <a:latin typeface="Cambria Math" panose="02040503050406030204" pitchFamily="18" charset="0"/>
                                    </a:rPr>
                                  </m:ctrlPr>
                                </m:sSupPr>
                                <m:e>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e>
                                <m:sup>
                                  <m:r>
                                    <a:rPr lang="en-US" sz="2400" i="1">
                                      <a:solidFill>
                                        <a:schemeClr val="tx1"/>
                                      </a:solidFill>
                                      <a:latin typeface="Cambria Math" panose="02040503050406030204" pitchFamily="18" charset="0"/>
                                    </a:rPr>
                                    <m:t>−1</m:t>
                                  </m:r>
                                </m:sup>
                              </m:sSup>
                            </m:e>
                          </m:d>
                        </m:e>
                        <m:sub>
                          <m:r>
                            <a:rPr lang="en-US" sz="2400" b="0" i="1" smtClean="0">
                              <a:solidFill>
                                <a:srgbClr val="FF0000"/>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𝝉</m:t>
                          </m:r>
                        </m:e>
                        <m:sub>
                          <m:r>
                            <a:rPr lang="en-US" sz="2400" i="1">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d>
                            <m:dPr>
                              <m:begChr m:val="⟨"/>
                              <m:endChr m:val="⟩"/>
                              <m:ctrlPr>
                                <a:rPr lang="en-US" sz="2400" b="1" i="1">
                                  <a:solidFill>
                                    <a:schemeClr val="tx1"/>
                                  </a:solidFill>
                                  <a:latin typeface="Cambria Math" panose="02040503050406030204" pitchFamily="18" charset="0"/>
                                </a:rPr>
                              </m:ctrlPr>
                            </m:dPr>
                            <m:e>
                              <m:sSup>
                                <m:sSupPr>
                                  <m:ctrlPr>
                                    <a:rPr lang="en-US" sz="2400" b="1" i="1">
                                      <a:solidFill>
                                        <a:schemeClr val="tx1"/>
                                      </a:solidFill>
                                      <a:latin typeface="Cambria Math" panose="02040503050406030204" pitchFamily="18" charset="0"/>
                                    </a:rPr>
                                  </m:ctrlPr>
                                </m:sSupPr>
                                <m:e>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e>
                                <m:sup>
                                  <m:r>
                                    <a:rPr lang="en-US" sz="2400" i="1">
                                      <a:solidFill>
                                        <a:schemeClr val="tx1"/>
                                      </a:solidFill>
                                      <a:latin typeface="Cambria Math" panose="02040503050406030204" pitchFamily="18" charset="0"/>
                                    </a:rPr>
                                    <m:t>−1</m:t>
                                  </m:r>
                                </m:sup>
                              </m:sSup>
                              <m:r>
                                <a:rPr lang="en-US" sz="2400" b="1" i="1" smtClean="0">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𝑪</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r>
                                <a:rPr lang="en-US" sz="2400" b="1" i="1">
                                  <a:solidFill>
                                    <a:schemeClr val="tx1"/>
                                  </a:solidFill>
                                  <a:latin typeface="Cambria Math" panose="02040503050406030204" pitchFamily="18" charset="0"/>
                                </a:rPr>
                                <m:t>𝝁</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e>
                          </m:d>
                        </m:e>
                        <m:sub>
                          <m:r>
                            <a:rPr lang="en-US" sz="2400" b="0" i="1" smtClean="0">
                              <a:solidFill>
                                <a:srgbClr val="FF0000"/>
                              </a:solidFill>
                              <a:latin typeface="Cambria Math" panose="02040503050406030204" pitchFamily="18" charset="0"/>
                            </a:rPr>
                            <m:t>𝐴</m:t>
                          </m:r>
                        </m:sub>
                      </m:sSub>
                    </m:oMath>
                  </m:oMathPara>
                </a14:m>
                <a:endParaRPr lang="en-US" sz="2400" dirty="0">
                  <a:solidFill>
                    <a:schemeClr val="tx1"/>
                  </a:solidFill>
                </a:endParaRPr>
              </a:p>
            </p:txBody>
          </p:sp>
        </mc:Choice>
        <mc:Fallback xmlns="">
          <p:sp>
            <p:nvSpPr>
              <p:cNvPr id="15" name="TextBox 14">
                <a:extLst>
                  <a:ext uri="{FF2B5EF4-FFF2-40B4-BE49-F238E27FC236}">
                    <a16:creationId xmlns:a16="http://schemas.microsoft.com/office/drawing/2014/main" id="{00662169-EC5D-95EB-8F7E-3300622626AD}"/>
                  </a:ext>
                </a:extLst>
              </p:cNvPr>
              <p:cNvSpPr txBox="1">
                <a:spLocks noRot="1" noChangeAspect="1" noMove="1" noResize="1" noEditPoints="1" noAdjustHandles="1" noChangeArrowheads="1" noChangeShapeType="1" noTextEdit="1"/>
              </p:cNvSpPr>
              <p:nvPr/>
            </p:nvSpPr>
            <p:spPr>
              <a:xfrm>
                <a:off x="1600200" y="6024443"/>
                <a:ext cx="9143189" cy="461665"/>
              </a:xfrm>
              <a:prstGeom prst="rect">
                <a:avLst/>
              </a:prstGeom>
              <a:blipFill>
                <a:blip r:embed="rId7"/>
                <a:stretch>
                  <a:fillRect b="-9211"/>
                </a:stretch>
              </a:blipFill>
            </p:spPr>
            <p:txBody>
              <a:bodyPr/>
              <a:lstStyle/>
              <a:p>
                <a:r>
                  <a:rPr lang="en-US">
                    <a:noFill/>
                  </a:rPr>
                  <a:t> </a:t>
                </a:r>
              </a:p>
            </p:txBody>
          </p:sp>
        </mc:Fallback>
      </mc:AlternateContent>
    </p:spTree>
    <p:extLst>
      <p:ext uri="{BB962C8B-B14F-4D97-AF65-F5344CB8AC3E}">
        <p14:creationId xmlns:p14="http://schemas.microsoft.com/office/powerpoint/2010/main" val="29690326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012D4-9A53-968A-FF3D-3ABF1CB57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C99C8B-C2F6-19DB-5BC3-CDFE50E56966}"/>
              </a:ext>
            </a:extLst>
          </p:cNvPr>
          <p:cNvSpPr>
            <a:spLocks noGrp="1"/>
          </p:cNvSpPr>
          <p:nvPr>
            <p:ph type="title"/>
          </p:nvPr>
        </p:nvSpPr>
        <p:spPr>
          <a:xfrm>
            <a:off x="65229" y="50800"/>
            <a:ext cx="10515600" cy="1325563"/>
          </a:xfrm>
        </p:spPr>
        <p:txBody>
          <a:bodyPr/>
          <a:lstStyle/>
          <a:p>
            <a:r>
              <a:rPr lang="en-US" dirty="0"/>
              <a:t>Derivation: LS to CP (5)</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4C7C67-001F-D0CD-1575-F43B1052C22E}"/>
                  </a:ext>
                </a:extLst>
              </p:cNvPr>
              <p:cNvSpPr>
                <a:spLocks noGrp="1"/>
              </p:cNvSpPr>
              <p:nvPr>
                <p:ph idx="1"/>
              </p:nvPr>
            </p:nvSpPr>
            <p:spPr>
              <a:xfrm>
                <a:off x="65229" y="1376363"/>
                <a:ext cx="12411251" cy="604837"/>
              </a:xfrm>
            </p:spPr>
            <p:txBody>
              <a:bodyPr>
                <a:normAutofit/>
              </a:bodyPr>
              <a:lstStyle/>
              <a:p>
                <a:pPr marL="0" indent="0" algn="just">
                  <a:buNone/>
                </a:pPr>
                <a:r>
                  <a:rPr lang="en-US" dirty="0"/>
                  <a:t>Then, solve for the polarization stress (assuming </a:t>
                </a:r>
                <a14:m>
                  <m:oMath xmlns:m="http://schemas.openxmlformats.org/officeDocument/2006/math">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d>
                                  <m:dPr>
                                    <m:begChr m:val="⟨"/>
                                    <m:endChr m:val="⟩"/>
                                    <m:ctrlPr>
                                      <a:rPr lang="en-US" b="1" i="1">
                                        <a:latin typeface="Cambria Math" panose="02040503050406030204" pitchFamily="18" charset="0"/>
                                      </a:rPr>
                                    </m:ctrlPr>
                                  </m:dPr>
                                  <m:e>
                                    <m:sSup>
                                      <m:sSupPr>
                                        <m:ctrlPr>
                                          <a:rPr lang="en-US" b="1" i="1">
                                            <a:latin typeface="Cambria Math" panose="02040503050406030204" pitchFamily="18" charset="0"/>
                                          </a:rPr>
                                        </m:ctrlPr>
                                      </m:sSupPr>
                                      <m:e>
                                        <m:d>
                                          <m:dPr>
                                            <m:ctrlPr>
                                              <a:rPr lang="en-US" b="1" i="1">
                                                <a:latin typeface="Cambria Math" panose="02040503050406030204" pitchFamily="18" charset="0"/>
                                              </a:rPr>
                                            </m:ctrlPr>
                                          </m:dPr>
                                          <m:e>
                                            <m:r>
                                              <a:rPr lang="en-US" b="1" i="1">
                                                <a:latin typeface="Cambria Math" panose="02040503050406030204" pitchFamily="18" charset="0"/>
                                              </a:rPr>
                                              <m:t>𝑪</m:t>
                                            </m:r>
                                            <m:d>
                                              <m:dPr>
                                                <m:ctrlPr>
                                                  <a:rPr lang="en-US" b="1" i="1">
                                                    <a:latin typeface="Cambria Math" panose="02040503050406030204" pitchFamily="18" charset="0"/>
                                                  </a:rPr>
                                                </m:ctrlPr>
                                              </m:dPr>
                                              <m:e>
                                                <m:r>
                                                  <a:rPr lang="en-US" b="1" i="1">
                                                    <a:latin typeface="Cambria Math" panose="02040503050406030204" pitchFamily="18" charset="0"/>
                                                  </a:rPr>
                                                  <m:t>𝒙</m:t>
                                                </m:r>
                                              </m:e>
                                            </m:d>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𝑪</m:t>
                                                </m:r>
                                              </m:e>
                                              <m:sub>
                                                <m:r>
                                                  <a:rPr lang="en-US" i="1">
                                                    <a:latin typeface="Cambria Math" panose="02040503050406030204" pitchFamily="18" charset="0"/>
                                                  </a:rPr>
                                                  <m:t>0</m:t>
                                                </m:r>
                                              </m:sub>
                                            </m:sSub>
                                          </m:e>
                                        </m:d>
                                      </m:e>
                                      <m:sup>
                                        <m:r>
                                          <a:rPr lang="en-US" i="1">
                                            <a:latin typeface="Cambria Math" panose="02040503050406030204" pitchFamily="18" charset="0"/>
                                          </a:rPr>
                                          <m:t>−1</m:t>
                                        </m:r>
                                      </m:sup>
                                    </m:sSup>
                                  </m:e>
                                </m:d>
                              </m:e>
                              <m:sub>
                                <m:r>
                                  <a:rPr lang="en-US" i="1">
                                    <a:latin typeface="Cambria Math" panose="02040503050406030204" pitchFamily="18" charset="0"/>
                                  </a:rPr>
                                  <m:t>𝐴</m:t>
                                </m:r>
                              </m:sub>
                            </m:sSub>
                          </m:e>
                        </m:d>
                      </m:e>
                      <m:sup>
                        <m:r>
                          <a:rPr lang="en-US" i="1">
                            <a:latin typeface="Cambria Math" panose="02040503050406030204" pitchFamily="18" charset="0"/>
                          </a:rPr>
                          <m:t>−1</m:t>
                        </m:r>
                      </m:sup>
                    </m:sSup>
                  </m:oMath>
                </a14:m>
                <a:r>
                  <a:rPr lang="en-US" dirty="0"/>
                  <a:t> exists):  </a:t>
                </a:r>
              </a:p>
            </p:txBody>
          </p:sp>
        </mc:Choice>
        <mc:Fallback xmlns="">
          <p:sp>
            <p:nvSpPr>
              <p:cNvPr id="3" name="Content Placeholder 2">
                <a:extLst>
                  <a:ext uri="{FF2B5EF4-FFF2-40B4-BE49-F238E27FC236}">
                    <a16:creationId xmlns:a16="http://schemas.microsoft.com/office/drawing/2014/main" id="{8A4C7C67-001F-D0CD-1575-F43B1052C22E}"/>
                  </a:ext>
                </a:extLst>
              </p:cNvPr>
              <p:cNvSpPr>
                <a:spLocks noGrp="1" noRot="1" noChangeAspect="1" noMove="1" noResize="1" noEditPoints="1" noAdjustHandles="1" noChangeArrowheads="1" noChangeShapeType="1" noTextEdit="1"/>
              </p:cNvSpPr>
              <p:nvPr>
                <p:ph idx="1"/>
              </p:nvPr>
            </p:nvSpPr>
            <p:spPr>
              <a:xfrm>
                <a:off x="65229" y="1376363"/>
                <a:ext cx="12411251" cy="604837"/>
              </a:xfrm>
              <a:blipFill>
                <a:blip r:embed="rId2"/>
                <a:stretch>
                  <a:fillRect l="-1031" t="-18182" b="-7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380715EF-7DD6-0563-326D-E81D5A3523A2}"/>
                  </a:ext>
                </a:extLst>
              </p:cNvPr>
              <p:cNvSpPr txBox="1"/>
              <p:nvPr/>
            </p:nvSpPr>
            <p:spPr>
              <a:xfrm>
                <a:off x="1524403" y="2250809"/>
                <a:ext cx="9143189" cy="470000"/>
              </a:xfrm>
              <a:prstGeom prst="rect">
                <a:avLst/>
              </a:prstGeom>
              <a:noFill/>
            </p:spPr>
            <p:txBody>
              <a:bodyPr wrap="square">
                <a:spAutoFit/>
              </a:bodyPr>
              <a:lstStyle/>
              <a:p>
                <a:pPr/>
                <a14:m>
                  <m:oMathPara xmlns:m="http://schemas.openxmlformats.org/officeDocument/2006/math">
                    <m:oMath>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𝝉</m:t>
                          </m:r>
                        </m:e>
                        <m:sub>
                          <m:r>
                            <a:rPr lang="en-US" sz="2400" i="1">
                              <a:solidFill>
                                <a:srgbClr val="FF0000"/>
                              </a:solidFill>
                              <a:latin typeface="Cambria Math" panose="02040503050406030204" pitchFamily="18" charset="0"/>
                            </a:rPr>
                            <m:t>𝐴</m:t>
                          </m:r>
                        </m:sub>
                      </m:sSub>
                      <m:r>
                        <a:rPr lang="en-US" sz="2400" b="1" i="1" smtClean="0">
                          <a:latin typeface="Cambria Math" panose="02040503050406030204" pitchFamily="18" charset="0"/>
                        </a:rPr>
                        <m:t>=</m:t>
                      </m:r>
                      <m:sSup>
                        <m:sSupPr>
                          <m:ctrlPr>
                            <a:rPr lang="en-US" sz="2400" b="1" i="1">
                              <a:solidFill>
                                <a:srgbClr val="FF0000"/>
                              </a:solidFill>
                              <a:latin typeface="Cambria Math" panose="02040503050406030204" pitchFamily="18" charset="0"/>
                            </a:rPr>
                          </m:ctrlPr>
                        </m:sSupPr>
                        <m:e>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rPr>
                                      </m:ctrlPr>
                                    </m:dPr>
                                    <m:e>
                                      <m:sSup>
                                        <m:sSupPr>
                                          <m:ctrlPr>
                                            <a:rPr lang="en-US" sz="2400" b="1" i="1">
                                              <a:solidFill>
                                                <a:srgbClr val="FF0000"/>
                                              </a:solidFill>
                                              <a:latin typeface="Cambria Math" panose="02040503050406030204" pitchFamily="18" charset="0"/>
                                            </a:rPr>
                                          </m:ctrlPr>
                                        </m:sSupPr>
                                        <m:e>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𝑪</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e>
                                        <m:sup>
                                          <m:r>
                                            <a:rPr lang="en-US" sz="2400" i="1">
                                              <a:solidFill>
                                                <a:srgbClr val="FF0000"/>
                                              </a:solidFill>
                                              <a:latin typeface="Cambria Math" panose="02040503050406030204" pitchFamily="18" charset="0"/>
                                            </a:rPr>
                                            <m:t>−1</m:t>
                                          </m:r>
                                        </m:sup>
                                      </m:sSup>
                                    </m:e>
                                  </m:d>
                                </m:e>
                                <m:sub>
                                  <m:r>
                                    <a:rPr lang="en-US" sz="2400" i="1">
                                      <a:solidFill>
                                        <a:srgbClr val="FF0000"/>
                                      </a:solidFill>
                                      <a:latin typeface="Cambria Math" panose="02040503050406030204" pitchFamily="18" charset="0"/>
                                    </a:rPr>
                                    <m:t>𝐴</m:t>
                                  </m:r>
                                </m:sub>
                              </m:sSub>
                            </m:e>
                          </m:d>
                        </m:e>
                        <m:sup>
                          <m:r>
                            <a:rPr lang="en-US" sz="2400" b="0" i="1" smtClean="0">
                              <a:solidFill>
                                <a:srgbClr val="FF0000"/>
                              </a:solidFill>
                              <a:latin typeface="Cambria Math" panose="02040503050406030204" pitchFamily="18" charset="0"/>
                            </a:rPr>
                            <m:t>−1</m:t>
                          </m:r>
                        </m:sup>
                      </m:sSup>
                      <m:r>
                        <a:rPr lang="en-US" sz="2400" b="1" i="1" smtClean="0">
                          <a:solidFill>
                            <a:schemeClr val="tx1"/>
                          </a:solidFill>
                          <a:latin typeface="Cambria Math" panose="02040503050406030204" pitchFamily="18" charset="0"/>
                        </a:rPr>
                        <m:t>:</m:t>
                      </m:r>
                      <m:d>
                        <m:dPr>
                          <m:begChr m:val="{"/>
                          <m:endChr m:val="}"/>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𝜺</m:t>
                              </m:r>
                            </m:e>
                            <m:sub>
                              <m:r>
                                <a:rPr lang="en-US" sz="2400" i="1">
                                  <a:solidFill>
                                    <a:schemeClr val="tx1"/>
                                  </a:solidFill>
                                  <a:latin typeface="Cambria Math" panose="02040503050406030204" pitchFamily="18" charset="0"/>
                                </a:rPr>
                                <m:t>𝐴</m:t>
                              </m:r>
                            </m:sub>
                          </m:sSub>
                          <m:r>
                            <a:rPr lang="en-US" sz="2400" b="1" i="1" smtClean="0">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rPr>
                                  </m:ctrlPr>
                                </m:dPr>
                                <m:e>
                                  <m:sSup>
                                    <m:sSupPr>
                                      <m:ctrlPr>
                                        <a:rPr lang="en-US" sz="2400" b="1" i="1">
                                          <a:solidFill>
                                            <a:srgbClr val="FF0000"/>
                                          </a:solidFill>
                                          <a:latin typeface="Cambria Math" panose="02040503050406030204" pitchFamily="18" charset="0"/>
                                        </a:rPr>
                                      </m:ctrlPr>
                                    </m:sSupPr>
                                    <m:e>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𝑪</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e>
                                    <m:sup>
                                      <m:r>
                                        <a:rPr lang="en-US" sz="2400" i="1">
                                          <a:solidFill>
                                            <a:srgbClr val="FF0000"/>
                                          </a:solidFill>
                                          <a:latin typeface="Cambria Math" panose="02040503050406030204" pitchFamily="18" charset="0"/>
                                        </a:rPr>
                                        <m:t>−1</m:t>
                                      </m:r>
                                    </m:sup>
                                  </m:sSup>
                                  <m:r>
                                    <a:rPr lang="en-US" sz="2400" b="1" i="1" smtClean="0">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𝑪</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r>
                                    <a:rPr lang="en-US" sz="2400" b="1" i="1">
                                      <a:solidFill>
                                        <a:srgbClr val="FF0000"/>
                                      </a:solidFill>
                                      <a:latin typeface="Cambria Math" panose="02040503050406030204" pitchFamily="18" charset="0"/>
                                    </a:rPr>
                                    <m:t>:</m:t>
                                  </m:r>
                                  <m:r>
                                    <a:rPr lang="en-US" sz="2400" b="1" i="1">
                                      <a:solidFill>
                                        <a:srgbClr val="FF0000"/>
                                      </a:solidFill>
                                      <a:latin typeface="Cambria Math" panose="02040503050406030204" pitchFamily="18" charset="0"/>
                                    </a:rPr>
                                    <m:t>𝝁</m:t>
                                  </m:r>
                                  <m:d>
                                    <m:dPr>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𝒙</m:t>
                                      </m:r>
                                    </m:e>
                                  </m:d>
                                </m:e>
                              </m:d>
                            </m:e>
                            <m:sub>
                              <m:r>
                                <a:rPr lang="en-US" sz="2400" i="1">
                                  <a:solidFill>
                                    <a:srgbClr val="FF0000"/>
                                  </a:solidFill>
                                  <a:latin typeface="Cambria Math" panose="02040503050406030204" pitchFamily="18" charset="0"/>
                                </a:rPr>
                                <m:t>𝐴</m:t>
                              </m:r>
                            </m:sub>
                          </m:sSub>
                        </m:e>
                      </m:d>
                    </m:oMath>
                  </m:oMathPara>
                </a14:m>
                <a:endParaRPr lang="en-US" sz="2400" dirty="0">
                  <a:solidFill>
                    <a:schemeClr val="tx1"/>
                  </a:solidFill>
                </a:endParaRPr>
              </a:p>
            </p:txBody>
          </p:sp>
        </mc:Choice>
        <mc:Fallback xmlns="">
          <p:sp>
            <p:nvSpPr>
              <p:cNvPr id="5" name="TextBox 4">
                <a:extLst>
                  <a:ext uri="{FF2B5EF4-FFF2-40B4-BE49-F238E27FC236}">
                    <a16:creationId xmlns:a16="http://schemas.microsoft.com/office/drawing/2014/main" id="{380715EF-7DD6-0563-326D-E81D5A3523A2}"/>
                  </a:ext>
                </a:extLst>
              </p:cNvPr>
              <p:cNvSpPr txBox="1">
                <a:spLocks noRot="1" noChangeAspect="1" noMove="1" noResize="1" noEditPoints="1" noAdjustHandles="1" noChangeArrowheads="1" noChangeShapeType="1" noTextEdit="1"/>
              </p:cNvSpPr>
              <p:nvPr/>
            </p:nvSpPr>
            <p:spPr>
              <a:xfrm>
                <a:off x="1524403" y="2250809"/>
                <a:ext cx="9143189" cy="470000"/>
              </a:xfrm>
              <a:prstGeom prst="rect">
                <a:avLst/>
              </a:prstGeom>
              <a:blipFill>
                <a:blip r:embed="rId3"/>
                <a:stretch>
                  <a:fillRect b="-7792"/>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D0745FC4-1C85-E8F2-13C3-6625ED4800B5}"/>
              </a:ext>
            </a:extLst>
          </p:cNvPr>
          <p:cNvSpPr txBox="1">
            <a:spLocks/>
          </p:cNvSpPr>
          <p:nvPr/>
        </p:nvSpPr>
        <p:spPr>
          <a:xfrm>
            <a:off x="65228" y="3095784"/>
            <a:ext cx="11649251" cy="604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This expression is very messy; we can define some quantities to organize it: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2C410B4-E064-7A42-4A03-FB01D302B3F4}"/>
                  </a:ext>
                </a:extLst>
              </p:cNvPr>
              <p:cNvSpPr txBox="1"/>
              <p:nvPr/>
            </p:nvSpPr>
            <p:spPr>
              <a:xfrm>
                <a:off x="1524403" y="3831756"/>
                <a:ext cx="9143189" cy="470000"/>
              </a:xfrm>
              <a:prstGeom prst="rect">
                <a:avLst/>
              </a:prstGeom>
              <a:noFill/>
            </p:spPr>
            <p:txBody>
              <a:bodyPr wrap="square">
                <a:spAutoFit/>
              </a:bodyPr>
              <a:lstStyle/>
              <a:p>
                <a:pPr/>
                <a14:m>
                  <m:oMathPara xmlns:m="http://schemas.openxmlformats.org/officeDocument/2006/math">
                    <m:oMath>
                      <m:sSup>
                        <m:sSupPr>
                          <m:ctrlPr>
                            <a:rPr lang="en-US" sz="2400" b="1" i="1" smtClean="0">
                              <a:solidFill>
                                <a:schemeClr val="tx1"/>
                              </a:solidFill>
                              <a:latin typeface="Cambria Math" panose="02040503050406030204" pitchFamily="18" charset="0"/>
                            </a:rPr>
                          </m:ctrlPr>
                        </m:sSupPr>
                        <m:e>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𝑪</m:t>
                              </m:r>
                            </m:e>
                            <m:sub>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𝑪</m:t>
                              </m:r>
                            </m:e>
                            <m:sub>
                              <m:r>
                                <a:rPr lang="en-US" sz="2400" b="0" i="1" smtClean="0">
                                  <a:solidFill>
                                    <a:schemeClr val="tx1"/>
                                  </a:solidFill>
                                  <a:latin typeface="Cambria Math" panose="02040503050406030204" pitchFamily="18" charset="0"/>
                                </a:rPr>
                                <m:t>0</m:t>
                              </m:r>
                            </m:sub>
                          </m:sSub>
                          <m:r>
                            <a:rPr lang="en-US" sz="2400" b="1" i="1" smtClean="0">
                              <a:solidFill>
                                <a:schemeClr val="tx1"/>
                              </a:solidFill>
                              <a:latin typeface="Cambria Math" panose="02040503050406030204" pitchFamily="18" charset="0"/>
                            </a:rPr>
                            <m:t>+</m:t>
                          </m:r>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d>
                                    <m:dPr>
                                      <m:begChr m:val="⟨"/>
                                      <m:endChr m:val="⟩"/>
                                      <m:ctrlPr>
                                        <a:rPr lang="en-US" sz="2400" b="1" i="1">
                                          <a:solidFill>
                                            <a:schemeClr val="tx1"/>
                                          </a:solidFill>
                                          <a:latin typeface="Cambria Math" panose="02040503050406030204" pitchFamily="18" charset="0"/>
                                        </a:rPr>
                                      </m:ctrlPr>
                                    </m:dPr>
                                    <m:e>
                                      <m:sSup>
                                        <m:sSupPr>
                                          <m:ctrlPr>
                                            <a:rPr lang="en-US" sz="2400" b="1" i="1">
                                              <a:solidFill>
                                                <a:schemeClr val="tx1"/>
                                              </a:solidFill>
                                              <a:latin typeface="Cambria Math" panose="02040503050406030204" pitchFamily="18" charset="0"/>
                                            </a:rPr>
                                          </m:ctrlPr>
                                        </m:sSupPr>
                                        <m:e>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𝑪</m:t>
                                              </m:r>
                                              <m:d>
                                                <m:dPr>
                                                  <m:ctrlPr>
                                                    <a:rPr lang="en-US" sz="2400" b="1" i="1">
                                                      <a:solidFill>
                                                        <a:schemeClr val="tx1"/>
                                                      </a:solidFill>
                                                      <a:latin typeface="Cambria Math" panose="02040503050406030204" pitchFamily="18" charset="0"/>
                                                    </a:rPr>
                                                  </m:ctrlPr>
                                                </m:dPr>
                                                <m:e>
                                                  <m:r>
                                                    <a:rPr lang="en-US" sz="2400" b="1" i="1">
                                                      <a:solidFill>
                                                        <a:schemeClr val="tx1"/>
                                                      </a:solidFill>
                                                      <a:latin typeface="Cambria Math" panose="02040503050406030204" pitchFamily="18" charset="0"/>
                                                    </a:rPr>
                                                    <m:t>𝒙</m:t>
                                                  </m:r>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e>
                                        <m:sup>
                                          <m:r>
                                            <a:rPr lang="en-US" sz="2400" i="1">
                                              <a:solidFill>
                                                <a:schemeClr val="tx1"/>
                                              </a:solidFill>
                                              <a:latin typeface="Cambria Math" panose="02040503050406030204" pitchFamily="18" charset="0"/>
                                            </a:rPr>
                                            <m:t>−1</m:t>
                                          </m:r>
                                        </m:sup>
                                      </m:sSup>
                                    </m:e>
                                  </m:d>
                                </m:e>
                                <m:sub>
                                  <m:r>
                                    <a:rPr lang="en-US" sz="2400" i="1">
                                      <a:solidFill>
                                        <a:schemeClr val="tx1"/>
                                      </a:solidFill>
                                      <a:latin typeface="Cambria Math" panose="02040503050406030204" pitchFamily="18" charset="0"/>
                                    </a:rPr>
                                    <m:t>𝐴</m:t>
                                  </m:r>
                                </m:sub>
                              </m:sSub>
                            </m:e>
                          </m:d>
                        </m:e>
                        <m:sup>
                          <m:r>
                            <a:rPr lang="en-US" sz="2400" b="0" i="1" smtClean="0">
                              <a:solidFill>
                                <a:schemeClr val="tx1"/>
                              </a:solidFill>
                              <a:latin typeface="Cambria Math" panose="02040503050406030204" pitchFamily="18" charset="0"/>
                            </a:rPr>
                            <m:t>−1</m:t>
                          </m:r>
                        </m:sup>
                      </m:sSup>
                    </m:oMath>
                  </m:oMathPara>
                </a14:m>
                <a:endParaRPr lang="en-US" sz="2400" dirty="0">
                  <a:solidFill>
                    <a:schemeClr val="tx1"/>
                  </a:solidFill>
                </a:endParaRPr>
              </a:p>
            </p:txBody>
          </p:sp>
        </mc:Choice>
        <mc:Fallback xmlns="">
          <p:sp>
            <p:nvSpPr>
              <p:cNvPr id="12" name="TextBox 11">
                <a:extLst>
                  <a:ext uri="{FF2B5EF4-FFF2-40B4-BE49-F238E27FC236}">
                    <a16:creationId xmlns:a16="http://schemas.microsoft.com/office/drawing/2014/main" id="{A2C410B4-E064-7A42-4A03-FB01D302B3F4}"/>
                  </a:ext>
                </a:extLst>
              </p:cNvPr>
              <p:cNvSpPr txBox="1">
                <a:spLocks noRot="1" noChangeAspect="1" noMove="1" noResize="1" noEditPoints="1" noAdjustHandles="1" noChangeArrowheads="1" noChangeShapeType="1" noTextEdit="1"/>
              </p:cNvSpPr>
              <p:nvPr/>
            </p:nvSpPr>
            <p:spPr>
              <a:xfrm>
                <a:off x="1524403" y="3831756"/>
                <a:ext cx="9143189" cy="47000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CE756A6-F7F6-DC0D-2D3E-C085FBDEADB1}"/>
                  </a:ext>
                </a:extLst>
              </p:cNvPr>
              <p:cNvSpPr txBox="1"/>
              <p:nvPr/>
            </p:nvSpPr>
            <p:spPr>
              <a:xfrm>
                <a:off x="1524403" y="4510852"/>
                <a:ext cx="9143189" cy="470000"/>
              </a:xfrm>
              <a:prstGeom prst="rect">
                <a:avLst/>
              </a:prstGeom>
              <a:noFill/>
            </p:spPr>
            <p:txBody>
              <a:bodyPr wrap="square">
                <a:spAutoFit/>
              </a:bodyPr>
              <a:lstStyle/>
              <a:p>
                <a:pPr/>
                <a14:m>
                  <m:oMathPara xmlns:m="http://schemas.openxmlformats.org/officeDocument/2006/math">
                    <m:o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𝝀</m:t>
                          </m:r>
                        </m:e>
                        <m:sub>
                          <m:r>
                            <a:rPr lang="en-US" sz="2400" b="0" i="1" smtClean="0">
                              <a:solidFill>
                                <a:schemeClr val="tx1"/>
                              </a:solidFill>
                              <a:latin typeface="Cambria Math" panose="02040503050406030204" pitchFamily="18" charset="0"/>
                              <a:ea typeface="Cambria Math" panose="02040503050406030204" pitchFamily="18" charset="0"/>
                            </a:rPr>
                            <m:t>∗</m:t>
                          </m:r>
                          <m:r>
                            <a:rPr lang="en-US" sz="2400" b="0" i="1" smtClean="0">
                              <a:solidFill>
                                <a:schemeClr val="tx1"/>
                              </a:solidFill>
                              <a:latin typeface="Cambria Math" panose="02040503050406030204" pitchFamily="18" charset="0"/>
                              <a:ea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a:latin typeface="Cambria Math" panose="02040503050406030204" pitchFamily="18" charset="0"/>
                            </a:rPr>
                          </m:ctrlPr>
                        </m:sSubPr>
                        <m:e>
                          <m:d>
                            <m:dPr>
                              <m:begChr m:val="⟨"/>
                              <m:endChr m:val="⟩"/>
                              <m:ctrlPr>
                                <a:rPr lang="en-US" sz="2400" b="1" i="1">
                                  <a:latin typeface="Cambria Math" panose="02040503050406030204" pitchFamily="18" charset="0"/>
                                </a:rPr>
                              </m:ctrlPr>
                            </m:dPr>
                            <m:e>
                              <m:sSup>
                                <m:sSupPr>
                                  <m:ctrlPr>
                                    <a:rPr lang="en-US" sz="2400" b="1" i="1">
                                      <a:latin typeface="Cambria Math" panose="02040503050406030204" pitchFamily="18" charset="0"/>
                                    </a:rPr>
                                  </m:ctrlPr>
                                </m:sSupPr>
                                <m:e>
                                  <m:d>
                                    <m:dPr>
                                      <m:ctrlPr>
                                        <a:rPr lang="en-US" sz="2400" b="1" i="1">
                                          <a:latin typeface="Cambria Math" panose="02040503050406030204" pitchFamily="18" charset="0"/>
                                        </a:rPr>
                                      </m:ctrlPr>
                                    </m:dPr>
                                    <m:e>
                                      <m:r>
                                        <a:rPr lang="en-US" sz="2400" b="1" i="1">
                                          <a:latin typeface="Cambria Math" panose="02040503050406030204" pitchFamily="18" charset="0"/>
                                        </a:rPr>
                                        <m:t>𝑪</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a:latin typeface="Cambria Math" panose="02040503050406030204" pitchFamily="18" charset="0"/>
                                        </a:rPr>
                                        <m:t>−</m:t>
                                      </m:r>
                                      <m:sSub>
                                        <m:sSubPr>
                                          <m:ctrlPr>
                                            <a:rPr lang="en-US" sz="2400" b="1" i="1">
                                              <a:latin typeface="Cambria Math" panose="02040503050406030204" pitchFamily="18" charset="0"/>
                                            </a:rPr>
                                          </m:ctrlPr>
                                        </m:sSubPr>
                                        <m:e>
                                          <m:r>
                                            <a:rPr lang="en-US" sz="2400" b="1" i="1">
                                              <a:latin typeface="Cambria Math" panose="02040503050406030204" pitchFamily="18" charset="0"/>
                                            </a:rPr>
                                            <m:t>𝑪</m:t>
                                          </m:r>
                                        </m:e>
                                        <m:sub>
                                          <m:r>
                                            <a:rPr lang="en-US" sz="2400" i="1">
                                              <a:latin typeface="Cambria Math" panose="02040503050406030204" pitchFamily="18" charset="0"/>
                                            </a:rPr>
                                            <m:t>0</m:t>
                                          </m:r>
                                        </m:sub>
                                      </m:sSub>
                                    </m:e>
                                  </m:d>
                                </m:e>
                                <m:sup>
                                  <m:r>
                                    <a:rPr lang="en-US" sz="2400" i="1">
                                      <a:latin typeface="Cambria Math" panose="02040503050406030204" pitchFamily="18" charset="0"/>
                                    </a:rPr>
                                    <m:t>−1</m:t>
                                  </m:r>
                                </m:sup>
                              </m:sSup>
                              <m:r>
                                <a:rPr lang="en-US" altLang="zh-TW" sz="2400" b="1" i="1">
                                  <a:latin typeface="Cambria Math" panose="02040503050406030204" pitchFamily="18" charset="0"/>
                                </a:rPr>
                                <m:t>:</m:t>
                              </m:r>
                              <m:r>
                                <a:rPr lang="en-US" sz="2400" b="1" i="1">
                                  <a:latin typeface="Cambria Math" panose="02040503050406030204" pitchFamily="18" charset="0"/>
                                </a:rPr>
                                <m:t>𝑪</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r>
                                <a:rPr lang="en-US" sz="2400" b="1" i="1">
                                  <a:latin typeface="Cambria Math" panose="02040503050406030204" pitchFamily="18" charset="0"/>
                                </a:rPr>
                                <m:t>:</m:t>
                              </m:r>
                              <m:r>
                                <a:rPr lang="en-US" sz="2400" b="1" i="1">
                                  <a:latin typeface="Cambria Math" panose="02040503050406030204" pitchFamily="18" charset="0"/>
                                </a:rPr>
                                <m:t>𝝁</m:t>
                              </m:r>
                              <m:d>
                                <m:dPr>
                                  <m:ctrlPr>
                                    <a:rPr lang="en-US" sz="2400" b="1" i="1">
                                      <a:latin typeface="Cambria Math" panose="02040503050406030204" pitchFamily="18" charset="0"/>
                                    </a:rPr>
                                  </m:ctrlPr>
                                </m:dPr>
                                <m:e>
                                  <m:r>
                                    <a:rPr lang="en-US" sz="2400" b="1" i="1">
                                      <a:latin typeface="Cambria Math" panose="02040503050406030204" pitchFamily="18" charset="0"/>
                                    </a:rPr>
                                    <m:t>𝒙</m:t>
                                  </m:r>
                                </m:e>
                              </m:d>
                            </m:e>
                          </m:d>
                        </m:e>
                        <m:sub>
                          <m:r>
                            <a:rPr lang="en-US" sz="2400" i="1">
                              <a:latin typeface="Cambria Math" panose="02040503050406030204" pitchFamily="18" charset="0"/>
                            </a:rPr>
                            <m:t>𝐴</m:t>
                          </m:r>
                        </m:sub>
                      </m:sSub>
                    </m:oMath>
                  </m:oMathPara>
                </a14:m>
                <a:endParaRPr lang="en-US" sz="2400" dirty="0">
                  <a:solidFill>
                    <a:schemeClr val="tx1"/>
                  </a:solidFill>
                </a:endParaRPr>
              </a:p>
            </p:txBody>
          </p:sp>
        </mc:Choice>
        <mc:Fallback xmlns="">
          <p:sp>
            <p:nvSpPr>
              <p:cNvPr id="16" name="TextBox 15">
                <a:extLst>
                  <a:ext uri="{FF2B5EF4-FFF2-40B4-BE49-F238E27FC236}">
                    <a16:creationId xmlns:a16="http://schemas.microsoft.com/office/drawing/2014/main" id="{3CE756A6-F7F6-DC0D-2D3E-C085FBDEADB1}"/>
                  </a:ext>
                </a:extLst>
              </p:cNvPr>
              <p:cNvSpPr txBox="1">
                <a:spLocks noRot="1" noChangeAspect="1" noMove="1" noResize="1" noEditPoints="1" noAdjustHandles="1" noChangeArrowheads="1" noChangeShapeType="1" noTextEdit="1"/>
              </p:cNvSpPr>
              <p:nvPr/>
            </p:nvSpPr>
            <p:spPr>
              <a:xfrm>
                <a:off x="1524403" y="4510852"/>
                <a:ext cx="9143189" cy="470000"/>
              </a:xfrm>
              <a:prstGeom prst="rect">
                <a:avLst/>
              </a:prstGeom>
              <a:blipFill>
                <a:blip r:embed="rId5"/>
                <a:stretch>
                  <a:fillRect b="-64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Content Placeholder 2">
                <a:extLst>
                  <a:ext uri="{FF2B5EF4-FFF2-40B4-BE49-F238E27FC236}">
                    <a16:creationId xmlns:a16="http://schemas.microsoft.com/office/drawing/2014/main" id="{DD6EE02D-CD09-305F-08C3-9587BB1AE8AF}"/>
                  </a:ext>
                </a:extLst>
              </p:cNvPr>
              <p:cNvSpPr txBox="1">
                <a:spLocks/>
              </p:cNvSpPr>
              <p:nvPr/>
            </p:nvSpPr>
            <p:spPr>
              <a:xfrm>
                <a:off x="65228" y="5189948"/>
                <a:ext cx="11926815" cy="10711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Where the </a:t>
                </a:r>
                <a14:m>
                  <m:oMath xmlns:m="http://schemas.openxmlformats.org/officeDocument/2006/math">
                    <m:sSub>
                      <m:sSubPr>
                        <m:ctrlPr>
                          <a:rPr lang="en-US" b="0" i="1" smtClean="0">
                            <a:latin typeface="Cambria Math" panose="02040503050406030204" pitchFamily="18" charset="0"/>
                          </a:rPr>
                        </m:ctrlPr>
                      </m:sSubPr>
                      <m:e>
                        <m:d>
                          <m:dPr>
                            <m:ctrlPr>
                              <a:rPr lang="en-US" b="0" i="1" smtClean="0">
                                <a:latin typeface="Cambria Math" panose="02040503050406030204" pitchFamily="18" charset="0"/>
                              </a:rPr>
                            </m:ctrlPr>
                          </m:dPr>
                          <m:e>
                            <m:r>
                              <a:rPr lang="en-US" b="0" i="1" smtClean="0">
                                <a:latin typeface="Cambria Math" panose="02040503050406030204" pitchFamily="18" charset="0"/>
                              </a:rPr>
                              <m:t> ⋅ </m:t>
                            </m:r>
                          </m:e>
                        </m:d>
                      </m:e>
                      <m:sub>
                        <m:r>
                          <a:rPr lang="en-US" b="0" i="1" smtClean="0">
                            <a:latin typeface="Cambria Math" panose="02040503050406030204" pitchFamily="18" charset="0"/>
                          </a:rPr>
                          <m:t>∗</m:t>
                        </m:r>
                      </m:sub>
                    </m:sSub>
                  </m:oMath>
                </a14:m>
                <a:r>
                  <a:rPr lang="en-US" dirty="0"/>
                  <a:t> subscript denotes a partition-wise constant field representation.  Then, we have:</a:t>
                </a:r>
              </a:p>
            </p:txBody>
          </p:sp>
        </mc:Choice>
        <mc:Fallback xmlns="">
          <p:sp>
            <p:nvSpPr>
              <p:cNvPr id="18" name="Content Placeholder 2">
                <a:extLst>
                  <a:ext uri="{FF2B5EF4-FFF2-40B4-BE49-F238E27FC236}">
                    <a16:creationId xmlns:a16="http://schemas.microsoft.com/office/drawing/2014/main" id="{DD6EE02D-CD09-305F-08C3-9587BB1AE8AF}"/>
                  </a:ext>
                </a:extLst>
              </p:cNvPr>
              <p:cNvSpPr txBox="1">
                <a:spLocks noRot="1" noChangeAspect="1" noMove="1" noResize="1" noEditPoints="1" noAdjustHandles="1" noChangeArrowheads="1" noChangeShapeType="1" noTextEdit="1"/>
              </p:cNvSpPr>
              <p:nvPr/>
            </p:nvSpPr>
            <p:spPr>
              <a:xfrm>
                <a:off x="65228" y="5189948"/>
                <a:ext cx="11926815" cy="1071135"/>
              </a:xfrm>
              <a:prstGeom prst="rect">
                <a:avLst/>
              </a:prstGeom>
              <a:blipFill>
                <a:blip r:embed="rId6"/>
                <a:stretch>
                  <a:fillRect l="-1074" t="-9659" r="-102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4771228-4B43-B884-B6F1-3920DE7B36E8}"/>
                  </a:ext>
                </a:extLst>
              </p:cNvPr>
              <p:cNvSpPr txBox="1"/>
              <p:nvPr/>
            </p:nvSpPr>
            <p:spPr>
              <a:xfrm>
                <a:off x="1524403" y="6152312"/>
                <a:ext cx="9143189" cy="470000"/>
              </a:xfrm>
              <a:prstGeom prst="rect">
                <a:avLst/>
              </a:prstGeom>
              <a:noFill/>
            </p:spPr>
            <p:txBody>
              <a:bodyPr wrap="square">
                <a:spAutoFit/>
              </a:bodyPr>
              <a:lstStyle/>
              <a:p>
                <a:pPr/>
                <a14:m>
                  <m:oMathPara xmlns:m="http://schemas.openxmlformats.org/officeDocument/2006/math">
                    <m:oMath>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𝝉</m:t>
                          </m:r>
                        </m:e>
                        <m:sub>
                          <m:r>
                            <a:rPr lang="en-US" sz="2400" i="1">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d>
                        <m:dPr>
                          <m:ctrlPr>
                            <a:rPr lang="en-US" sz="2400" b="1" i="1" smtClean="0">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b="0" i="1" smtClean="0">
                                  <a:solidFill>
                                    <a:schemeClr val="tx1"/>
                                  </a:solidFill>
                                  <a:latin typeface="Cambria Math" panose="02040503050406030204" pitchFamily="18" charset="0"/>
                                </a:rPr>
                                <m:t>0</m:t>
                              </m:r>
                            </m:sub>
                          </m:sSub>
                        </m:e>
                      </m:d>
                      <m:r>
                        <a:rPr lang="en-US" sz="2400" b="1" i="1" smtClean="0">
                          <a:solidFill>
                            <a:schemeClr val="tx1"/>
                          </a:solidFill>
                          <a:latin typeface="Cambria Math" panose="02040503050406030204" pitchFamily="18" charset="0"/>
                        </a:rPr>
                        <m:t>:</m:t>
                      </m:r>
                      <m:d>
                        <m:dPr>
                          <m:ctrlPr>
                            <a:rPr lang="en-US" sz="2400" b="1" i="1">
                              <a:latin typeface="Cambria Math" panose="02040503050406030204" pitchFamily="18" charset="0"/>
                            </a:rPr>
                          </m:ctrlPr>
                        </m:dPr>
                        <m:e>
                          <m:sSub>
                            <m:sSubPr>
                              <m:ctrlPr>
                                <a:rPr lang="en-US" sz="2400" b="1" i="1">
                                  <a:latin typeface="Cambria Math" panose="02040503050406030204" pitchFamily="18" charset="0"/>
                                </a:rPr>
                              </m:ctrlPr>
                            </m:sSubPr>
                            <m:e>
                              <m:r>
                                <a:rPr lang="en-US" sz="2400" b="1" i="1">
                                  <a:latin typeface="Cambria Math" panose="02040503050406030204" pitchFamily="18" charset="0"/>
                                </a:rPr>
                                <m:t>𝜺</m:t>
                              </m:r>
                            </m:e>
                            <m:sub>
                              <m:r>
                                <a:rPr lang="en-US" sz="2400" i="1">
                                  <a:latin typeface="Cambria Math" panose="02040503050406030204" pitchFamily="18" charset="0"/>
                                </a:rPr>
                                <m:t>𝐴</m:t>
                              </m:r>
                            </m:sub>
                          </m:sSub>
                          <m:r>
                            <a:rPr lang="en-US" sz="2400" b="1" i="1">
                              <a:latin typeface="Cambria Math" panose="02040503050406030204" pitchFamily="18" charset="0"/>
                            </a:rPr>
                            <m:t>−</m:t>
                          </m:r>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𝝀</m:t>
                              </m:r>
                            </m:e>
                            <m:sub>
                              <m:r>
                                <a:rPr lang="en-US" sz="2400" b="0" i="1" smtClean="0">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𝐴</m:t>
                              </m:r>
                            </m:sub>
                          </m:sSub>
                        </m:e>
                      </m:d>
                    </m:oMath>
                  </m:oMathPara>
                </a14:m>
                <a:endParaRPr lang="en-US" sz="2400" dirty="0">
                  <a:solidFill>
                    <a:schemeClr val="tx1"/>
                  </a:solidFill>
                </a:endParaRPr>
              </a:p>
            </p:txBody>
          </p:sp>
        </mc:Choice>
        <mc:Fallback>
          <p:sp>
            <p:nvSpPr>
              <p:cNvPr id="20" name="TextBox 19">
                <a:extLst>
                  <a:ext uri="{FF2B5EF4-FFF2-40B4-BE49-F238E27FC236}">
                    <a16:creationId xmlns:a16="http://schemas.microsoft.com/office/drawing/2014/main" id="{64771228-4B43-B884-B6F1-3920DE7B36E8}"/>
                  </a:ext>
                </a:extLst>
              </p:cNvPr>
              <p:cNvSpPr txBox="1">
                <a:spLocks noRot="1" noChangeAspect="1" noMove="1" noResize="1" noEditPoints="1" noAdjustHandles="1" noChangeArrowheads="1" noChangeShapeType="1" noTextEdit="1"/>
              </p:cNvSpPr>
              <p:nvPr/>
            </p:nvSpPr>
            <p:spPr>
              <a:xfrm>
                <a:off x="1524403" y="6152312"/>
                <a:ext cx="9143189" cy="470000"/>
              </a:xfrm>
              <a:prstGeom prst="rect">
                <a:avLst/>
              </a:prstGeom>
              <a:blipFill>
                <a:blip r:embed="rId7"/>
                <a:stretch>
                  <a:fillRect/>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A0710775-1D93-8B1C-CC66-5F41059352CD}"/>
              </a:ext>
            </a:extLst>
          </p:cNvPr>
          <p:cNvSpPr txBox="1"/>
          <p:nvPr/>
        </p:nvSpPr>
        <p:spPr>
          <a:xfrm>
            <a:off x="8679881" y="3831756"/>
            <a:ext cx="3312161" cy="1015663"/>
          </a:xfrm>
          <a:prstGeom prst="rect">
            <a:avLst/>
          </a:prstGeom>
          <a:noFill/>
        </p:spPr>
        <p:txBody>
          <a:bodyPr wrap="square" rtlCol="0">
            <a:spAutoFit/>
          </a:bodyPr>
          <a:lstStyle/>
          <a:p>
            <a:pPr algn="just"/>
            <a:r>
              <a:rPr lang="en-US" sz="2000" dirty="0">
                <a:solidFill>
                  <a:srgbClr val="0000FF"/>
                </a:solidFill>
              </a:rPr>
              <a:t>There’s probably a good way to explain what these two terms mean physically. </a:t>
            </a:r>
          </a:p>
        </p:txBody>
      </p:sp>
    </p:spTree>
    <p:extLst>
      <p:ext uri="{BB962C8B-B14F-4D97-AF65-F5344CB8AC3E}">
        <p14:creationId xmlns:p14="http://schemas.microsoft.com/office/powerpoint/2010/main" val="41085819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310F-DC40-FC6A-E641-4E3DD8B16A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C2F91-7398-47D4-FC22-EBF382D1288B}"/>
              </a:ext>
            </a:extLst>
          </p:cNvPr>
          <p:cNvSpPr>
            <a:spLocks noGrp="1"/>
          </p:cNvSpPr>
          <p:nvPr>
            <p:ph type="title"/>
          </p:nvPr>
        </p:nvSpPr>
        <p:spPr>
          <a:xfrm>
            <a:off x="227787" y="0"/>
            <a:ext cx="10515600" cy="1325563"/>
          </a:xfrm>
        </p:spPr>
        <p:txBody>
          <a:bodyPr/>
          <a:lstStyle/>
          <a:p>
            <a:r>
              <a:rPr lang="en-US" dirty="0"/>
              <a:t>Derivation: LS to CP (6)</a:t>
            </a:r>
          </a:p>
        </p:txBody>
      </p:sp>
      <p:sp>
        <p:nvSpPr>
          <p:cNvPr id="3" name="Content Placeholder 2">
            <a:extLst>
              <a:ext uri="{FF2B5EF4-FFF2-40B4-BE49-F238E27FC236}">
                <a16:creationId xmlns:a16="http://schemas.microsoft.com/office/drawing/2014/main" id="{06EAAF1A-F4FA-8718-04C7-CDAE00BEE1BA}"/>
              </a:ext>
            </a:extLst>
          </p:cNvPr>
          <p:cNvSpPr>
            <a:spLocks noGrp="1"/>
          </p:cNvSpPr>
          <p:nvPr>
            <p:ph idx="1"/>
          </p:nvPr>
        </p:nvSpPr>
        <p:spPr>
          <a:xfrm>
            <a:off x="227789" y="1203643"/>
            <a:ext cx="11649251" cy="960437"/>
          </a:xfrm>
        </p:spPr>
        <p:txBody>
          <a:bodyPr>
            <a:normAutofit/>
          </a:bodyPr>
          <a:lstStyle/>
          <a:p>
            <a:pPr marL="0" indent="0" algn="just">
              <a:buNone/>
            </a:pPr>
            <a:r>
              <a:rPr lang="en-US" dirty="0"/>
              <a:t>Plug this expression back into the partition averaged Lippmann-Schwinger equation: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867D9C9-D7BF-A951-F1E2-57FA9D131613}"/>
                  </a:ext>
                </a:extLst>
              </p:cNvPr>
              <p:cNvSpPr txBox="1"/>
              <p:nvPr/>
            </p:nvSpPr>
            <p:spPr>
              <a:xfrm>
                <a:off x="2880765" y="1901521"/>
                <a:ext cx="6430469" cy="1122038"/>
              </a:xfrm>
              <a:prstGeom prst="rect">
                <a:avLst/>
              </a:prstGeom>
              <a:noFill/>
            </p:spPr>
            <p:txBody>
              <a:bodyPr wrap="square">
                <a:spAutoFit/>
              </a:bodyPr>
              <a:lstStyle/>
              <a:p>
                <a:pPr/>
                <a14:m>
                  <m:oMathPara xmlns:m="http://schemas.openxmlformats.org/officeDocument/2006/math">
                    <m:o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𝜺</m:t>
                          </m:r>
                        </m:e>
                        <m:sub>
                          <m:r>
                            <a:rPr lang="en-US" sz="2400" b="0" i="1" smtClean="0">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d>
                            <m:dPr>
                              <m:begChr m:val="⟨"/>
                              <m:endChr m:val="⟩"/>
                              <m:ctrlPr>
                                <a:rPr lang="en-US" sz="2400" b="1" i="1">
                                  <a:solidFill>
                                    <a:schemeClr val="tx1"/>
                                  </a:solidFill>
                                  <a:latin typeface="Cambria Math" panose="02040503050406030204" pitchFamily="18" charset="0"/>
                                </a:rPr>
                              </m:ctrlPr>
                            </m:dPr>
                            <m:e>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0</m:t>
                                  </m:r>
                                </m:sub>
                              </m:sSub>
                              <m:d>
                                <m:dPr>
                                  <m:begChr m:val="["/>
                                  <m:endChr m:val="]"/>
                                  <m:ctrlPr>
                                    <a:rPr lang="en-US" sz="2400" i="1">
                                      <a:solidFill>
                                        <a:schemeClr val="tx1"/>
                                      </a:solidFill>
                                      <a:latin typeface="Cambria Math" panose="02040503050406030204" pitchFamily="18" charset="0"/>
                                    </a:rPr>
                                  </m:ctrlPr>
                                </m:dPr>
                                <m:e>
                                  <m:nary>
                                    <m:naryPr>
                                      <m:chr m:val="∑"/>
                                      <m:ctrlPr>
                                        <a:rPr lang="en-US" sz="2400" i="1">
                                          <a:solidFill>
                                            <a:schemeClr val="tx1"/>
                                          </a:solidFill>
                                          <a:latin typeface="Cambria Math" panose="02040503050406030204" pitchFamily="18" charset="0"/>
                                        </a:rPr>
                                      </m:ctrlPr>
                                    </m:naryPr>
                                    <m:sub>
                                      <m:r>
                                        <m:rPr>
                                          <m:brk m:alnAt="23"/>
                                        </m:rPr>
                                        <a:rPr lang="en-US" sz="2400" i="1">
                                          <a:solidFill>
                                            <a:schemeClr val="tx1"/>
                                          </a:solidFill>
                                          <a:latin typeface="Cambria Math" panose="02040503050406030204" pitchFamily="18" charset="0"/>
                                        </a:rPr>
                                        <m:t>𝐵</m:t>
                                      </m:r>
                                    </m:sub>
                                    <m:sup>
                                      <m:r>
                                        <a:rPr lang="en-US" sz="2400" b="1" i="1">
                                          <a:solidFill>
                                            <a:schemeClr val="tx1"/>
                                          </a:solidFill>
                                          <a:latin typeface="Cambria Math" panose="02040503050406030204" pitchFamily="18" charset="0"/>
                                        </a:rPr>
                                        <m:t> </m:t>
                                      </m:r>
                                    </m:sup>
                                    <m:e>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𝜒</m:t>
                                          </m:r>
                                        </m:e>
                                        <m:sub>
                                          <m:r>
                                            <a:rPr lang="en-US" sz="2400" i="1">
                                              <a:solidFill>
                                                <a:schemeClr val="tx1"/>
                                              </a:solidFill>
                                              <a:latin typeface="Cambria Math" panose="02040503050406030204" pitchFamily="18" charset="0"/>
                                            </a:rPr>
                                            <m:t>𝐵</m:t>
                                          </m:r>
                                        </m:sub>
                                      </m:sSub>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𝐵</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smtClean="0">
                                          <a:solidFill>
                                            <a:srgbClr val="FF0000"/>
                                          </a:solidFill>
                                          <a:latin typeface="Cambria Math" panose="02040503050406030204" pitchFamily="18" charset="0"/>
                                        </a:rPr>
                                        <m:t>:</m:t>
                                      </m:r>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𝜺</m:t>
                                              </m:r>
                                            </m:e>
                                            <m:sub>
                                              <m:r>
                                                <a:rPr lang="en-US" sz="2400" b="0" i="1" smtClean="0">
                                                  <a:solidFill>
                                                    <a:srgbClr val="FF0000"/>
                                                  </a:solidFill>
                                                  <a:latin typeface="Cambria Math" panose="02040503050406030204" pitchFamily="18" charset="0"/>
                                                </a:rPr>
                                                <m:t>𝐵</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𝝀</m:t>
                                              </m:r>
                                            </m:e>
                                            <m:sub>
                                              <m:r>
                                                <a:rPr lang="en-US" sz="2400" b="0" i="1" smtClean="0">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𝐵</m:t>
                                              </m:r>
                                            </m:sub>
                                          </m:sSub>
                                        </m:e>
                                      </m:d>
                                    </m:e>
                                  </m:nary>
                                </m:e>
                              </m:d>
                            </m:e>
                          </m:d>
                        </m:e>
                        <m:sub>
                          <m:r>
                            <a:rPr lang="en-US" sz="2400" b="0" i="1" smtClean="0">
                              <a:solidFill>
                                <a:schemeClr val="tx1"/>
                              </a:solidFill>
                              <a:latin typeface="Cambria Math" panose="02040503050406030204" pitchFamily="18" charset="0"/>
                            </a:rPr>
                            <m:t>𝐴</m:t>
                          </m:r>
                        </m:sub>
                      </m:sSub>
                    </m:oMath>
                  </m:oMathPara>
                </a14:m>
                <a:endParaRPr lang="en-US" sz="2400" dirty="0">
                  <a:solidFill>
                    <a:schemeClr val="tx1"/>
                  </a:solidFill>
                </a:endParaRPr>
              </a:p>
            </p:txBody>
          </p:sp>
        </mc:Choice>
        <mc:Fallback xmlns="">
          <p:sp>
            <p:nvSpPr>
              <p:cNvPr id="7" name="TextBox 6">
                <a:extLst>
                  <a:ext uri="{FF2B5EF4-FFF2-40B4-BE49-F238E27FC236}">
                    <a16:creationId xmlns:a16="http://schemas.microsoft.com/office/drawing/2014/main" id="{3867D9C9-D7BF-A951-F1E2-57FA9D131613}"/>
                  </a:ext>
                </a:extLst>
              </p:cNvPr>
              <p:cNvSpPr txBox="1">
                <a:spLocks noRot="1" noChangeAspect="1" noMove="1" noResize="1" noEditPoints="1" noAdjustHandles="1" noChangeArrowheads="1" noChangeShapeType="1" noTextEdit="1"/>
              </p:cNvSpPr>
              <p:nvPr/>
            </p:nvSpPr>
            <p:spPr>
              <a:xfrm>
                <a:off x="2880765" y="1901521"/>
                <a:ext cx="6430469" cy="112203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777EE9B-C5EA-9C9B-08F3-0C4A3C179C6D}"/>
                  </a:ext>
                </a:extLst>
              </p:cNvPr>
              <p:cNvSpPr txBox="1">
                <a:spLocks/>
              </p:cNvSpPr>
              <p:nvPr/>
            </p:nvSpPr>
            <p:spPr>
              <a:xfrm>
                <a:off x="227788" y="3185160"/>
                <a:ext cx="11649251" cy="5362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Move the total strain </a:t>
                </a:r>
                <a14:m>
                  <m:oMath xmlns:m="http://schemas.openxmlformats.org/officeDocument/2006/math">
                    <m:r>
                      <a:rPr lang="en-US" b="1" i="1" smtClean="0">
                        <a:latin typeface="Cambria Math" panose="02040503050406030204" pitchFamily="18" charset="0"/>
                      </a:rPr>
                      <m:t>𝜺</m:t>
                    </m:r>
                  </m:oMath>
                </a14:m>
                <a:r>
                  <a:rPr lang="en-US" dirty="0"/>
                  <a:t> term to the LHS:</a:t>
                </a:r>
              </a:p>
            </p:txBody>
          </p:sp>
        </mc:Choice>
        <mc:Fallback xmlns="">
          <p:sp>
            <p:nvSpPr>
              <p:cNvPr id="8" name="Content Placeholder 2">
                <a:extLst>
                  <a:ext uri="{FF2B5EF4-FFF2-40B4-BE49-F238E27FC236}">
                    <a16:creationId xmlns:a16="http://schemas.microsoft.com/office/drawing/2014/main" id="{8777EE9B-C5EA-9C9B-08F3-0C4A3C179C6D}"/>
                  </a:ext>
                </a:extLst>
              </p:cNvPr>
              <p:cNvSpPr txBox="1">
                <a:spLocks noRot="1" noChangeAspect="1" noMove="1" noResize="1" noEditPoints="1" noAdjustHandles="1" noChangeArrowheads="1" noChangeShapeType="1" noTextEdit="1"/>
              </p:cNvSpPr>
              <p:nvPr/>
            </p:nvSpPr>
            <p:spPr>
              <a:xfrm>
                <a:off x="227788" y="3185160"/>
                <a:ext cx="11649251" cy="536277"/>
              </a:xfrm>
              <a:prstGeom prst="rect">
                <a:avLst/>
              </a:prstGeom>
              <a:blipFill>
                <a:blip r:embed="rId3"/>
                <a:stretch>
                  <a:fillRect l="-1047" t="-20690" b="-206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D152018-11D8-9017-F70B-88FAC3A7A843}"/>
                  </a:ext>
                </a:extLst>
              </p:cNvPr>
              <p:cNvSpPr txBox="1"/>
              <p:nvPr/>
            </p:nvSpPr>
            <p:spPr>
              <a:xfrm>
                <a:off x="1483360" y="3883038"/>
                <a:ext cx="9225280" cy="1122038"/>
              </a:xfrm>
              <a:prstGeom prst="rect">
                <a:avLst/>
              </a:prstGeom>
              <a:noFill/>
            </p:spPr>
            <p:txBody>
              <a:bodyPr wrap="square">
                <a:spAutoFit/>
              </a:bodyPr>
              <a:lstStyle/>
              <a:p>
                <a:pPr/>
                <a14:m>
                  <m:oMathPara xmlns:m="http://schemas.openxmlformats.org/officeDocument/2006/math">
                    <m:o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𝜺</m:t>
                          </m:r>
                        </m:e>
                        <m:sub>
                          <m:r>
                            <a:rPr lang="en-US" sz="2400" b="0" i="1" smtClean="0">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rPr>
                              </m:ctrlPr>
                            </m:dPr>
                            <m:e>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i="1">
                                      <a:solidFill>
                                        <a:srgbClr val="FF0000"/>
                                      </a:solidFill>
                                      <a:latin typeface="Cambria Math" panose="02040503050406030204" pitchFamily="18" charset="0"/>
                                    </a:rPr>
                                  </m:ctrlPr>
                                </m:dPr>
                                <m:e>
                                  <m:nary>
                                    <m:naryPr>
                                      <m:chr m:val="∑"/>
                                      <m:ctrlPr>
                                        <a:rPr lang="en-US" sz="2400" i="1">
                                          <a:solidFill>
                                            <a:srgbClr val="FF0000"/>
                                          </a:solidFill>
                                          <a:latin typeface="Cambria Math" panose="02040503050406030204" pitchFamily="18" charset="0"/>
                                        </a:rPr>
                                      </m:ctrlPr>
                                    </m:naryPr>
                                    <m:sub>
                                      <m:r>
                                        <m:rPr>
                                          <m:brk m:alnAt="23"/>
                                        </m:rPr>
                                        <a:rPr lang="en-US" sz="2400" i="1">
                                          <a:solidFill>
                                            <a:srgbClr val="FF0000"/>
                                          </a:solidFill>
                                          <a:latin typeface="Cambria Math" panose="02040503050406030204" pitchFamily="18" charset="0"/>
                                        </a:rPr>
                                        <m:t>𝐵</m:t>
                                      </m:r>
                                    </m:sub>
                                    <m:sup>
                                      <m:r>
                                        <a:rPr lang="en-US" sz="2400" b="1" i="1">
                                          <a:solidFill>
                                            <a:srgbClr val="FF0000"/>
                                          </a:solidFill>
                                          <a:latin typeface="Cambria Math" panose="02040503050406030204" pitchFamily="18" charset="0"/>
                                        </a:rPr>
                                        <m:t> </m:t>
                                      </m:r>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b="1"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𝐵</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𝜺</m:t>
                                          </m:r>
                                        </m:e>
                                        <m:sub>
                                          <m:r>
                                            <a:rPr lang="en-US" sz="2400" i="1">
                                              <a:solidFill>
                                                <a:srgbClr val="FF0000"/>
                                              </a:solidFill>
                                              <a:latin typeface="Cambria Math" panose="02040503050406030204" pitchFamily="18" charset="0"/>
                                            </a:rPr>
                                            <m:t>𝐵</m:t>
                                          </m:r>
                                        </m:sub>
                                      </m:sSub>
                                    </m:e>
                                  </m:nary>
                                </m:e>
                              </m:d>
                            </m:e>
                          </m:d>
                        </m:e>
                        <m:sub>
                          <m:r>
                            <a:rPr lang="en-US" sz="2400" b="0" i="1">
                              <a:solidFill>
                                <a:srgbClr val="FF0000"/>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0" smtClean="0">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rPr>
                              </m:ctrlPr>
                            </m:dPr>
                            <m:e>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i="1">
                                      <a:solidFill>
                                        <a:srgbClr val="FF0000"/>
                                      </a:solidFill>
                                      <a:latin typeface="Cambria Math" panose="02040503050406030204" pitchFamily="18" charset="0"/>
                                    </a:rPr>
                                  </m:ctrlPr>
                                </m:dPr>
                                <m:e>
                                  <m:nary>
                                    <m:naryPr>
                                      <m:chr m:val="∑"/>
                                      <m:ctrlPr>
                                        <a:rPr lang="en-US" sz="2400" i="1">
                                          <a:solidFill>
                                            <a:srgbClr val="FF0000"/>
                                          </a:solidFill>
                                          <a:latin typeface="Cambria Math" panose="02040503050406030204" pitchFamily="18" charset="0"/>
                                        </a:rPr>
                                      </m:ctrlPr>
                                    </m:naryPr>
                                    <m:sub>
                                      <m:r>
                                        <m:rPr>
                                          <m:brk m:alnAt="23"/>
                                        </m:rPr>
                                        <a:rPr lang="en-US" sz="2400" i="1">
                                          <a:solidFill>
                                            <a:srgbClr val="FF0000"/>
                                          </a:solidFill>
                                          <a:latin typeface="Cambria Math" panose="02040503050406030204" pitchFamily="18" charset="0"/>
                                        </a:rPr>
                                        <m:t>𝐵</m:t>
                                      </m:r>
                                    </m:sub>
                                    <m:sup>
                                      <m:r>
                                        <a:rPr lang="en-US" sz="2400" b="1" i="1">
                                          <a:solidFill>
                                            <a:srgbClr val="FF0000"/>
                                          </a:solidFill>
                                          <a:latin typeface="Cambria Math" panose="02040503050406030204" pitchFamily="18" charset="0"/>
                                        </a:rPr>
                                        <m:t> </m:t>
                                      </m:r>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b="0" i="1" smtClean="0">
                                                  <a:solidFill>
                                                    <a:srgbClr val="FF0000"/>
                                                  </a:solidFill>
                                                  <a:latin typeface="Cambria Math" panose="02040503050406030204" pitchFamily="18" charset="0"/>
                                                </a:rPr>
                                                <m:t>∗</m:t>
                                              </m:r>
                                              <m:r>
                                                <a:rPr lang="en-US" sz="2400" i="1">
                                                  <a:solidFill>
                                                    <a:srgbClr val="FF0000"/>
                                                  </a:solidFill>
                                                  <a:latin typeface="Cambria Math" panose="02040503050406030204" pitchFamily="18" charset="0"/>
                                                </a:rPr>
                                                <m:t>𝐵</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𝝀</m:t>
                                          </m:r>
                                        </m:e>
                                        <m:sub>
                                          <m:r>
                                            <a:rPr lang="en-US" sz="2400" b="0" i="1" smtClean="0">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𝐵</m:t>
                                          </m:r>
                                        </m:sub>
                                      </m:sSub>
                                    </m:e>
                                  </m:nary>
                                </m:e>
                              </m:d>
                            </m:e>
                          </m:d>
                        </m:e>
                        <m:sub>
                          <m:r>
                            <a:rPr lang="en-US" sz="2400" b="0" i="1">
                              <a:solidFill>
                                <a:srgbClr val="FF0000"/>
                              </a:solidFill>
                              <a:latin typeface="Cambria Math" panose="02040503050406030204" pitchFamily="18" charset="0"/>
                            </a:rPr>
                            <m:t>𝐴</m:t>
                          </m:r>
                        </m:sub>
                      </m:sSub>
                    </m:oMath>
                  </m:oMathPara>
                </a14:m>
                <a:endParaRPr lang="en-US" sz="2400" dirty="0">
                  <a:solidFill>
                    <a:schemeClr val="tx1"/>
                  </a:solidFill>
                </a:endParaRPr>
              </a:p>
            </p:txBody>
          </p:sp>
        </mc:Choice>
        <mc:Fallback xmlns="">
          <p:sp>
            <p:nvSpPr>
              <p:cNvPr id="10" name="TextBox 9">
                <a:extLst>
                  <a:ext uri="{FF2B5EF4-FFF2-40B4-BE49-F238E27FC236}">
                    <a16:creationId xmlns:a16="http://schemas.microsoft.com/office/drawing/2014/main" id="{6D152018-11D8-9017-F70B-88FAC3A7A843}"/>
                  </a:ext>
                </a:extLst>
              </p:cNvPr>
              <p:cNvSpPr txBox="1">
                <a:spLocks noRot="1" noChangeAspect="1" noMove="1" noResize="1" noEditPoints="1" noAdjustHandles="1" noChangeArrowheads="1" noChangeShapeType="1" noTextEdit="1"/>
              </p:cNvSpPr>
              <p:nvPr/>
            </p:nvSpPr>
            <p:spPr>
              <a:xfrm>
                <a:off x="1483360" y="3883038"/>
                <a:ext cx="9225280" cy="1122038"/>
              </a:xfrm>
              <a:prstGeom prst="rect">
                <a:avLst/>
              </a:prstGeom>
              <a:blipFill>
                <a:blip r:embed="rId4"/>
                <a:stretch>
                  <a:fillRect/>
                </a:stretch>
              </a:blipFill>
            </p:spPr>
            <p:txBody>
              <a:bodyPr/>
              <a:lstStyle/>
              <a:p>
                <a:r>
                  <a:rPr lang="en-US">
                    <a:noFill/>
                  </a:rPr>
                  <a:t> </a:t>
                </a:r>
              </a:p>
            </p:txBody>
          </p:sp>
        </mc:Fallback>
      </mc:AlternateContent>
      <p:sp>
        <p:nvSpPr>
          <p:cNvPr id="13" name="Content Placeholder 2">
            <a:extLst>
              <a:ext uri="{FF2B5EF4-FFF2-40B4-BE49-F238E27FC236}">
                <a16:creationId xmlns:a16="http://schemas.microsoft.com/office/drawing/2014/main" id="{B6695A56-2930-AA94-342A-D8316144334D}"/>
              </a:ext>
            </a:extLst>
          </p:cNvPr>
          <p:cNvSpPr txBox="1">
            <a:spLocks/>
          </p:cNvSpPr>
          <p:nvPr/>
        </p:nvSpPr>
        <p:spPr>
          <a:xfrm>
            <a:off x="227787" y="5166677"/>
            <a:ext cx="13091973" cy="53627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To get rid of the sum notation, we can introduce the following quantities:</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B2E3F57-EC9C-1766-8CE2-AF646031413D}"/>
                  </a:ext>
                </a:extLst>
              </p:cNvPr>
              <p:cNvSpPr txBox="1"/>
              <p:nvPr/>
            </p:nvSpPr>
            <p:spPr>
              <a:xfrm>
                <a:off x="227787" y="5731747"/>
                <a:ext cx="4658360" cy="986552"/>
              </a:xfrm>
              <a:prstGeom prst="rect">
                <a:avLst/>
              </a:prstGeom>
              <a:noFill/>
            </p:spPr>
            <p:txBody>
              <a:bodyPr wrap="square">
                <a:spAutoFit/>
              </a:bodyPr>
              <a:lstStyle/>
              <a:p>
                <a:pPr/>
                <a14:m>
                  <m:oMathPara xmlns:m="http://schemas.openxmlformats.org/officeDocument/2006/math">
                    <m:oMath>
                      <m:sSub>
                        <m:sSubPr>
                          <m:ctrlPr>
                            <a:rPr lang="en-US" sz="2400" b="1" i="1">
                              <a:latin typeface="Cambria Math" panose="02040503050406030204" pitchFamily="18" charset="0"/>
                            </a:rPr>
                          </m:ctrlPr>
                        </m:sSubPr>
                        <m:e>
                          <m:r>
                            <a:rPr lang="en-US" sz="2400" b="1" i="1">
                              <a:latin typeface="Cambria Math" panose="02040503050406030204" pitchFamily="18" charset="0"/>
                            </a:rPr>
                            <m:t>𝜺</m:t>
                          </m:r>
                        </m:e>
                        <m:sub>
                          <m:r>
                            <a:rPr lang="en-US" sz="2400" b="1" i="1" smtClean="0">
                              <a:latin typeface="Cambria Math" panose="02040503050406030204" pitchFamily="18" charset="0"/>
                            </a:rPr>
                            <m:t>∗</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r>
                        <a:rPr lang="en-US" sz="2400" b="1"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𝐴</m:t>
                          </m:r>
                        </m:sub>
                        <m:sup>
                          <m:r>
                            <a:rPr lang="en-US" sz="2400" b="1" i="1" smtClean="0">
                              <a:latin typeface="Cambria Math" panose="02040503050406030204" pitchFamily="18" charset="0"/>
                            </a:rPr>
                            <m:t> </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𝜒</m:t>
                              </m:r>
                            </m:e>
                            <m:sub>
                              <m:r>
                                <a:rPr lang="en-US" sz="2400" b="0" i="1" smtClean="0">
                                  <a:latin typeface="Cambria Math" panose="02040503050406030204" pitchFamily="18" charset="0"/>
                                </a:rPr>
                                <m:t>𝐴</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sSub>
                            <m:sSubPr>
                              <m:ctrlPr>
                                <a:rPr lang="en-US" sz="2400" b="1" i="1">
                                  <a:latin typeface="Cambria Math" panose="02040503050406030204" pitchFamily="18" charset="0"/>
                                </a:rPr>
                              </m:ctrlPr>
                            </m:sSubPr>
                            <m:e>
                              <m:r>
                                <a:rPr lang="en-US" sz="2400" b="1" i="1">
                                  <a:latin typeface="Cambria Math" panose="02040503050406030204" pitchFamily="18" charset="0"/>
                                </a:rPr>
                                <m:t>𝜺</m:t>
                              </m:r>
                            </m:e>
                            <m:sub>
                              <m:r>
                                <a:rPr lang="en-US" sz="2400" i="1">
                                  <a:latin typeface="Cambria Math" panose="02040503050406030204" pitchFamily="18" charset="0"/>
                                </a:rPr>
                                <m:t>𝐴</m:t>
                              </m:r>
                            </m:sub>
                          </m:sSub>
                        </m:e>
                      </m:nary>
                    </m:oMath>
                  </m:oMathPara>
                </a14:m>
                <a:endParaRPr lang="en-US" dirty="0"/>
              </a:p>
            </p:txBody>
          </p:sp>
        </mc:Choice>
        <mc:Fallback xmlns="">
          <p:sp>
            <p:nvSpPr>
              <p:cNvPr id="15" name="TextBox 14">
                <a:extLst>
                  <a:ext uri="{FF2B5EF4-FFF2-40B4-BE49-F238E27FC236}">
                    <a16:creationId xmlns:a16="http://schemas.microsoft.com/office/drawing/2014/main" id="{FB2E3F57-EC9C-1766-8CE2-AF646031413D}"/>
                  </a:ext>
                </a:extLst>
              </p:cNvPr>
              <p:cNvSpPr txBox="1">
                <a:spLocks noRot="1" noChangeAspect="1" noMove="1" noResize="1" noEditPoints="1" noAdjustHandles="1" noChangeArrowheads="1" noChangeShapeType="1" noTextEdit="1"/>
              </p:cNvSpPr>
              <p:nvPr/>
            </p:nvSpPr>
            <p:spPr>
              <a:xfrm>
                <a:off x="227787" y="5731747"/>
                <a:ext cx="4658360" cy="9865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91C7978-1979-C541-5F73-F8D246A462C4}"/>
                  </a:ext>
                </a:extLst>
              </p:cNvPr>
              <p:cNvSpPr txBox="1"/>
              <p:nvPr/>
            </p:nvSpPr>
            <p:spPr>
              <a:xfrm>
                <a:off x="3723233" y="5731747"/>
                <a:ext cx="4658360" cy="986552"/>
              </a:xfrm>
              <a:prstGeom prst="rect">
                <a:avLst/>
              </a:prstGeom>
              <a:noFill/>
            </p:spPr>
            <p:txBody>
              <a:bodyPr wrap="square">
                <a:spAutoFit/>
              </a:bodyPr>
              <a:lstStyle/>
              <a:p>
                <a:pPr/>
                <a14:m>
                  <m:oMathPara xmlns:m="http://schemas.openxmlformats.org/officeDocument/2006/math">
                    <m:o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𝑪</m:t>
                          </m:r>
                        </m:e>
                        <m:sub>
                          <m:r>
                            <a:rPr lang="en-US" sz="2400" b="1" i="1" smtClean="0">
                              <a:latin typeface="Cambria Math" panose="02040503050406030204" pitchFamily="18" charset="0"/>
                            </a:rPr>
                            <m:t>∗</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r>
                        <a:rPr lang="en-US" sz="2400" b="1"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𝐴</m:t>
                          </m:r>
                        </m:sub>
                        <m:sup>
                          <m:r>
                            <a:rPr lang="en-US" sz="2400" b="1" i="1" smtClean="0">
                              <a:latin typeface="Cambria Math" panose="02040503050406030204" pitchFamily="18" charset="0"/>
                            </a:rPr>
                            <m:t> </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𝜒</m:t>
                              </m:r>
                            </m:e>
                            <m:sub>
                              <m:r>
                                <a:rPr lang="en-US" sz="2400" b="0" i="1" smtClean="0">
                                  <a:latin typeface="Cambria Math" panose="02040503050406030204" pitchFamily="18" charset="0"/>
                                </a:rPr>
                                <m:t>𝐴</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sSub>
                            <m:sSubPr>
                              <m:ctrlPr>
                                <a:rPr lang="en-US" sz="2400" b="1" i="1">
                                  <a:latin typeface="Cambria Math" panose="02040503050406030204" pitchFamily="18" charset="0"/>
                                </a:rPr>
                              </m:ctrlPr>
                            </m:sSubPr>
                            <m:e>
                              <m:r>
                                <a:rPr lang="en-US" sz="2400" b="1" i="1">
                                  <a:latin typeface="Cambria Math" panose="02040503050406030204" pitchFamily="18" charset="0"/>
                                </a:rPr>
                                <m:t>𝑪</m:t>
                              </m:r>
                            </m:e>
                            <m:sub>
                              <m:r>
                                <a:rPr lang="en-US" sz="2400" b="1" i="1">
                                  <a:latin typeface="Cambria Math" panose="02040503050406030204" pitchFamily="18" charset="0"/>
                                </a:rPr>
                                <m:t>∗</m:t>
                              </m:r>
                              <m:r>
                                <a:rPr lang="en-US" sz="2400" b="0" i="1" smtClean="0">
                                  <a:latin typeface="Cambria Math" panose="02040503050406030204" pitchFamily="18" charset="0"/>
                                </a:rPr>
                                <m:t>𝐴</m:t>
                              </m:r>
                            </m:sub>
                          </m:sSub>
                        </m:e>
                      </m:nary>
                    </m:oMath>
                  </m:oMathPara>
                </a14:m>
                <a:endParaRPr lang="en-US" dirty="0"/>
              </a:p>
            </p:txBody>
          </p:sp>
        </mc:Choice>
        <mc:Fallback xmlns="">
          <p:sp>
            <p:nvSpPr>
              <p:cNvPr id="19" name="TextBox 18">
                <a:extLst>
                  <a:ext uri="{FF2B5EF4-FFF2-40B4-BE49-F238E27FC236}">
                    <a16:creationId xmlns:a16="http://schemas.microsoft.com/office/drawing/2014/main" id="{391C7978-1979-C541-5F73-F8D246A462C4}"/>
                  </a:ext>
                </a:extLst>
              </p:cNvPr>
              <p:cNvSpPr txBox="1">
                <a:spLocks noRot="1" noChangeAspect="1" noMove="1" noResize="1" noEditPoints="1" noAdjustHandles="1" noChangeArrowheads="1" noChangeShapeType="1" noTextEdit="1"/>
              </p:cNvSpPr>
              <p:nvPr/>
            </p:nvSpPr>
            <p:spPr>
              <a:xfrm>
                <a:off x="3723233" y="5731747"/>
                <a:ext cx="4658360" cy="98655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F9AD11AC-C928-DA47-29B5-5D005B3F612B}"/>
                  </a:ext>
                </a:extLst>
              </p:cNvPr>
              <p:cNvSpPr txBox="1"/>
              <p:nvPr/>
            </p:nvSpPr>
            <p:spPr>
              <a:xfrm>
                <a:off x="7305855" y="5731747"/>
                <a:ext cx="4658360" cy="986552"/>
              </a:xfrm>
              <a:prstGeom prst="rect">
                <a:avLst/>
              </a:prstGeom>
              <a:noFill/>
            </p:spPr>
            <p:txBody>
              <a:bodyPr wrap="square">
                <a:spAutoFit/>
              </a:bodyPr>
              <a:lstStyle/>
              <a:p>
                <a:pPr/>
                <a14:m>
                  <m:oMathPara xmlns:m="http://schemas.openxmlformats.org/officeDocument/2006/math">
                    <m:oMath>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𝝀</m:t>
                          </m:r>
                        </m:e>
                        <m:sub>
                          <m:r>
                            <a:rPr lang="en-US" sz="2400" i="1">
                              <a:latin typeface="Cambria Math" panose="02040503050406030204" pitchFamily="18" charset="0"/>
                              <a:ea typeface="Cambria Math" panose="02040503050406030204" pitchFamily="18" charset="0"/>
                            </a:rPr>
                            <m:t>∗</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r>
                        <a:rPr lang="en-US" sz="2400" b="1"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a:rPr lang="en-US" sz="2400" b="0" i="1" smtClean="0">
                              <a:latin typeface="Cambria Math" panose="02040503050406030204" pitchFamily="18" charset="0"/>
                            </a:rPr>
                            <m:t>𝐴</m:t>
                          </m:r>
                        </m:sub>
                        <m:sup>
                          <m:r>
                            <a:rPr lang="en-US" sz="2400" b="1" i="1" smtClean="0">
                              <a:latin typeface="Cambria Math" panose="02040503050406030204" pitchFamily="18" charset="0"/>
                            </a:rPr>
                            <m:t> </m:t>
                          </m:r>
                        </m:sup>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𝜒</m:t>
                              </m:r>
                            </m:e>
                            <m:sub>
                              <m:r>
                                <a:rPr lang="en-US" sz="2400" b="0" i="1" smtClean="0">
                                  <a:latin typeface="Cambria Math" panose="02040503050406030204" pitchFamily="18" charset="0"/>
                                </a:rPr>
                                <m:t>𝐴</m:t>
                              </m:r>
                            </m:sub>
                          </m:sSub>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𝝀</m:t>
                              </m:r>
                            </m:e>
                            <m:sub>
                              <m:r>
                                <a:rPr lang="en-US" sz="2400" b="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𝐴</m:t>
                              </m:r>
                            </m:sub>
                          </m:sSub>
                        </m:e>
                      </m:nary>
                    </m:oMath>
                  </m:oMathPara>
                </a14:m>
                <a:endParaRPr lang="en-US" dirty="0"/>
              </a:p>
            </p:txBody>
          </p:sp>
        </mc:Choice>
        <mc:Fallback xmlns="">
          <p:sp>
            <p:nvSpPr>
              <p:cNvPr id="22" name="TextBox 21">
                <a:extLst>
                  <a:ext uri="{FF2B5EF4-FFF2-40B4-BE49-F238E27FC236}">
                    <a16:creationId xmlns:a16="http://schemas.microsoft.com/office/drawing/2014/main" id="{F9AD11AC-C928-DA47-29B5-5D005B3F612B}"/>
                  </a:ext>
                </a:extLst>
              </p:cNvPr>
              <p:cNvSpPr txBox="1">
                <a:spLocks noRot="1" noChangeAspect="1" noMove="1" noResize="1" noEditPoints="1" noAdjustHandles="1" noChangeArrowheads="1" noChangeShapeType="1" noTextEdit="1"/>
              </p:cNvSpPr>
              <p:nvPr/>
            </p:nvSpPr>
            <p:spPr>
              <a:xfrm>
                <a:off x="7305855" y="5731747"/>
                <a:ext cx="4658360" cy="986552"/>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997051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BF0EA-9ACC-EB09-7FC5-5D4F4D43A6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8634C-FB37-9276-4135-4F4C619D7BBA}"/>
              </a:ext>
            </a:extLst>
          </p:cNvPr>
          <p:cNvSpPr>
            <a:spLocks noGrp="1"/>
          </p:cNvSpPr>
          <p:nvPr>
            <p:ph type="title"/>
          </p:nvPr>
        </p:nvSpPr>
        <p:spPr>
          <a:xfrm>
            <a:off x="359869" y="121920"/>
            <a:ext cx="10515600" cy="1325563"/>
          </a:xfrm>
        </p:spPr>
        <p:txBody>
          <a:bodyPr/>
          <a:lstStyle/>
          <a:p>
            <a:r>
              <a:rPr lang="en-US" dirty="0"/>
              <a:t>Derivation: LS to CP (7)</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19A7ECA8-6D35-08C3-DEC4-CACF01D1371C}"/>
                  </a:ext>
                </a:extLst>
              </p:cNvPr>
              <p:cNvSpPr txBox="1">
                <a:spLocks/>
              </p:cNvSpPr>
              <p:nvPr/>
            </p:nvSpPr>
            <p:spPr>
              <a:xfrm>
                <a:off x="359869" y="1518603"/>
                <a:ext cx="11649251" cy="9604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Since the product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𝜒</m:t>
                        </m:r>
                      </m:e>
                      <m:sub>
                        <m:r>
                          <a:rPr lang="en-US" i="1">
                            <a:latin typeface="Cambria Math" panose="02040503050406030204" pitchFamily="18" charset="0"/>
                          </a:rPr>
                          <m:t>𝐴</m:t>
                        </m:r>
                      </m:sub>
                    </m:sSub>
                    <m:sSub>
                      <m:sSubPr>
                        <m:ctrlPr>
                          <a:rPr lang="en-US" i="1">
                            <a:latin typeface="Cambria Math" panose="02040503050406030204" pitchFamily="18" charset="0"/>
                          </a:rPr>
                        </m:ctrlPr>
                      </m:sSubPr>
                      <m:e>
                        <m:r>
                          <a:rPr lang="en-US" i="1">
                            <a:latin typeface="Cambria Math" panose="02040503050406030204" pitchFamily="18" charset="0"/>
                          </a:rPr>
                          <m:t>𝜒</m:t>
                        </m:r>
                      </m:e>
                      <m:sub>
                        <m:r>
                          <a:rPr lang="en-US" b="0" i="1" smtClean="0">
                            <a:latin typeface="Cambria Math" panose="02040503050406030204" pitchFamily="18" charset="0"/>
                          </a:rPr>
                          <m:t>𝐵</m:t>
                        </m:r>
                      </m:sub>
                    </m:sSub>
                    <m:r>
                      <a:rPr lang="en-US" b="0" i="1" smtClean="0">
                        <a:latin typeface="Cambria Math" panose="02040503050406030204" pitchFamily="18" charset="0"/>
                      </a:rPr>
                      <m:t>=0</m:t>
                    </m:r>
                  </m:oMath>
                </a14:m>
                <a:r>
                  <a:rPr lang="en-US" dirty="0"/>
                  <a:t> if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𝐵</m:t>
                    </m:r>
                  </m:oMath>
                </a14:m>
                <a:r>
                  <a:rPr lang="en-US" dirty="0"/>
                  <a:t>, we have:</a:t>
                </a:r>
              </a:p>
            </p:txBody>
          </p:sp>
        </mc:Choice>
        <mc:Fallback xmlns="">
          <p:sp>
            <p:nvSpPr>
              <p:cNvPr id="11" name="Content Placeholder 2">
                <a:extLst>
                  <a:ext uri="{FF2B5EF4-FFF2-40B4-BE49-F238E27FC236}">
                    <a16:creationId xmlns:a16="http://schemas.microsoft.com/office/drawing/2014/main" id="{19A7ECA8-6D35-08C3-DEC4-CACF01D1371C}"/>
                  </a:ext>
                </a:extLst>
              </p:cNvPr>
              <p:cNvSpPr txBox="1">
                <a:spLocks noRot="1" noChangeAspect="1" noMove="1" noResize="1" noEditPoints="1" noAdjustHandles="1" noChangeArrowheads="1" noChangeShapeType="1" noTextEdit="1"/>
              </p:cNvSpPr>
              <p:nvPr/>
            </p:nvSpPr>
            <p:spPr>
              <a:xfrm>
                <a:off x="359869" y="1518603"/>
                <a:ext cx="11649251" cy="960437"/>
              </a:xfrm>
              <a:prstGeom prst="rect">
                <a:avLst/>
              </a:prstGeom>
              <a:blipFill>
                <a:blip r:embed="rId2"/>
                <a:stretch>
                  <a:fillRect l="-1047" t="-10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E40484E-888A-8D83-F348-E8DBFC77FF30}"/>
                  </a:ext>
                </a:extLst>
              </p:cNvPr>
              <p:cNvSpPr txBox="1"/>
              <p:nvPr/>
            </p:nvSpPr>
            <p:spPr>
              <a:xfrm>
                <a:off x="1351280" y="2445707"/>
                <a:ext cx="9753600" cy="461665"/>
              </a:xfrm>
              <a:prstGeom prst="rect">
                <a:avLst/>
              </a:prstGeom>
              <a:noFill/>
            </p:spPr>
            <p:txBody>
              <a:bodyPr wrap="square">
                <a:spAutoFit/>
              </a:bodyPr>
              <a:lstStyle/>
              <a:p>
                <a:pPr/>
                <a14:m>
                  <m:oMathPara xmlns:m="http://schemas.openxmlformats.org/officeDocument/2006/math">
                    <m:oMath>
                      <m:sSub>
                        <m:sSubPr>
                          <m:ctrlPr>
                            <a:rPr lang="en-US" sz="2400" b="1" i="1" smtClean="0">
                              <a:solidFill>
                                <a:schemeClr val="tx1"/>
                              </a:solidFill>
                              <a:latin typeface="Cambria Math" panose="02040503050406030204" pitchFamily="18" charset="0"/>
                            </a:rPr>
                          </m:ctrlPr>
                        </m:sSubPr>
                        <m:e>
                          <m:r>
                            <a:rPr lang="en-US" sz="2400" b="1" i="1" smtClean="0">
                              <a:solidFill>
                                <a:schemeClr val="tx1"/>
                              </a:solidFill>
                              <a:latin typeface="Cambria Math" panose="02040503050406030204" pitchFamily="18" charset="0"/>
                            </a:rPr>
                            <m:t>𝜺</m:t>
                          </m:r>
                        </m:e>
                        <m:sub>
                          <m:r>
                            <a:rPr lang="en-US" sz="2400" b="0" i="1" smtClean="0">
                              <a:solidFill>
                                <a:schemeClr val="tx1"/>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rPr>
                              </m:ctrlPr>
                            </m:dPr>
                            <m:e>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b="1" i="1">
                                      <a:solidFill>
                                        <a:srgbClr val="FF0000"/>
                                      </a:solidFill>
                                      <a:latin typeface="Cambria Math" panose="02040503050406030204" pitchFamily="18" charset="0"/>
                                    </a:rPr>
                                  </m:ctrlPr>
                                </m:dPr>
                                <m:e>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b="1" i="1">
                                              <a:solidFill>
                                                <a:srgbClr val="FF0000"/>
                                              </a:solidFill>
                                              <a:latin typeface="Cambria Math" panose="02040503050406030204" pitchFamily="18" charset="0"/>
                                            </a:rPr>
                                            <m:t>∗</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𝜺</m:t>
                                      </m:r>
                                    </m:e>
                                    <m:sub>
                                      <m:r>
                                        <a:rPr lang="en-US" sz="2400" b="0" i="1" smtClean="0">
                                          <a:solidFill>
                                            <a:srgbClr val="FF0000"/>
                                          </a:solidFill>
                                          <a:latin typeface="Cambria Math" panose="02040503050406030204" pitchFamily="18" charset="0"/>
                                        </a:rPr>
                                        <m:t>∗</m:t>
                                      </m:r>
                                    </m:sub>
                                  </m:sSub>
                                </m:e>
                              </m:d>
                            </m:e>
                          </m:d>
                        </m:e>
                        <m:sub>
                          <m:r>
                            <a:rPr lang="en-US" sz="2400" b="0" i="1">
                              <a:solidFill>
                                <a:srgbClr val="FF0000"/>
                              </a:solidFill>
                              <a:latin typeface="Cambria Math" panose="02040503050406030204" pitchFamily="18" charset="0"/>
                            </a:rPr>
                            <m:t>𝐴</m:t>
                          </m:r>
                        </m:sub>
                      </m:sSub>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0" smtClean="0">
                          <a:solidFill>
                            <a:schemeClr val="tx1"/>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rPr>
                              </m:ctrlPr>
                            </m:dPr>
                            <m:e>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0</m:t>
                                  </m:r>
                                </m:sub>
                              </m:sSub>
                              <m:d>
                                <m:dPr>
                                  <m:begChr m:val="["/>
                                  <m:endChr m:val="]"/>
                                  <m:ctrlPr>
                                    <a:rPr lang="en-US" sz="2400" b="1" i="1">
                                      <a:solidFill>
                                        <a:srgbClr val="FF0000"/>
                                      </a:solidFill>
                                      <a:latin typeface="Cambria Math" panose="02040503050406030204" pitchFamily="18" charset="0"/>
                                    </a:rPr>
                                  </m:ctrlPr>
                                </m:dPr>
                                <m:e>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𝝀</m:t>
                                      </m:r>
                                    </m:e>
                                    <m:sub>
                                      <m:r>
                                        <a:rPr lang="en-US" sz="2400" i="1">
                                          <a:solidFill>
                                            <a:srgbClr val="FF0000"/>
                                          </a:solidFill>
                                          <a:latin typeface="Cambria Math" panose="02040503050406030204" pitchFamily="18" charset="0"/>
                                          <a:ea typeface="Cambria Math" panose="02040503050406030204" pitchFamily="18" charset="0"/>
                                        </a:rPr>
                                        <m:t>∗</m:t>
                                      </m:r>
                                    </m:sub>
                                  </m:sSub>
                                </m:e>
                              </m:d>
                            </m:e>
                          </m:d>
                        </m:e>
                        <m:sub>
                          <m:r>
                            <a:rPr lang="en-US" sz="2400" b="0" i="1">
                              <a:solidFill>
                                <a:srgbClr val="FF0000"/>
                              </a:solidFill>
                              <a:latin typeface="Cambria Math" panose="02040503050406030204" pitchFamily="18" charset="0"/>
                            </a:rPr>
                            <m:t>𝐴</m:t>
                          </m:r>
                        </m:sub>
                      </m:sSub>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CE40484E-888A-8D83-F348-E8DBFC77FF30}"/>
                  </a:ext>
                </a:extLst>
              </p:cNvPr>
              <p:cNvSpPr txBox="1">
                <a:spLocks noRot="1" noChangeAspect="1" noMove="1" noResize="1" noEditPoints="1" noAdjustHandles="1" noChangeArrowheads="1" noChangeShapeType="1" noTextEdit="1"/>
              </p:cNvSpPr>
              <p:nvPr/>
            </p:nvSpPr>
            <p:spPr>
              <a:xfrm>
                <a:off x="1351280" y="2445707"/>
                <a:ext cx="9753600" cy="461665"/>
              </a:xfrm>
              <a:prstGeom prst="rect">
                <a:avLst/>
              </a:prstGeom>
              <a:blipFill>
                <a:blip r:embed="rId3"/>
                <a:stretch>
                  <a:fillRect/>
                </a:stretch>
              </a:blipFill>
            </p:spPr>
            <p:txBody>
              <a:bodyPr/>
              <a:lstStyle/>
              <a:p>
                <a:r>
                  <a:rPr lang="en-US">
                    <a:noFill/>
                  </a:rPr>
                  <a:t> </a:t>
                </a:r>
              </a:p>
            </p:txBody>
          </p:sp>
        </mc:Fallback>
      </mc:AlternateContent>
      <p:sp>
        <p:nvSpPr>
          <p:cNvPr id="18" name="Content Placeholder 2">
            <a:extLst>
              <a:ext uri="{FF2B5EF4-FFF2-40B4-BE49-F238E27FC236}">
                <a16:creationId xmlns:a16="http://schemas.microsoft.com/office/drawing/2014/main" id="{BEB9A18A-29FB-04FB-162B-F80D59BFDA57}"/>
              </a:ext>
            </a:extLst>
          </p:cNvPr>
          <p:cNvSpPr txBox="1">
            <a:spLocks/>
          </p:cNvSpPr>
          <p:nvPr/>
        </p:nvSpPr>
        <p:spPr>
          <a:xfrm>
            <a:off x="359869" y="3351064"/>
            <a:ext cx="11649251" cy="604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To clean the notation a bit, define a new operator:</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8B2CAB23-4D7B-D159-45BB-D06DBD2A2B19}"/>
                  </a:ext>
                </a:extLst>
              </p:cNvPr>
              <p:cNvSpPr txBox="1"/>
              <p:nvPr/>
            </p:nvSpPr>
            <p:spPr>
              <a:xfrm>
                <a:off x="1219200" y="4161564"/>
                <a:ext cx="9753600" cy="461665"/>
              </a:xfrm>
              <a:prstGeom prst="rect">
                <a:avLst/>
              </a:prstGeom>
              <a:noFill/>
            </p:spPr>
            <p:txBody>
              <a:bodyPr wrap="square">
                <a:spAutoFit/>
              </a:bodyPr>
              <a:lstStyle/>
              <a:p>
                <a:pPr/>
                <a14:m>
                  <m:oMathPara xmlns:m="http://schemas.openxmlformats.org/officeDocument/2006/math">
                    <m:oMath>
                      <m:d>
                        <m:dPr>
                          <m:ctrlPr>
                            <a:rPr lang="en-US" sz="2400" b="1" i="1">
                              <a:latin typeface="Cambria Math" panose="02040503050406030204" pitchFamily="18" charset="0"/>
                            </a:rPr>
                          </m:ctrlPr>
                        </m:dPr>
                        <m:e>
                          <m:sSub>
                            <m:sSubPr>
                              <m:ctrlPr>
                                <a:rPr lang="en-US" sz="2400" b="1">
                                  <a:latin typeface="Cambria Math" panose="02040503050406030204" pitchFamily="18" charset="0"/>
                                </a:rPr>
                              </m:ctrlPr>
                            </m:sSubPr>
                            <m:e>
                              <m:r>
                                <a:rPr lang="en-US" sz="2400" b="1">
                                  <a:latin typeface="Cambria Math" panose="02040503050406030204" pitchFamily="18" charset="0"/>
                                </a:rPr>
                                <m:t>𝚪</m:t>
                              </m:r>
                            </m:e>
                            <m:sub>
                              <m:r>
                                <a:rPr lang="en-US" sz="2400" i="1">
                                  <a:latin typeface="Cambria Math" panose="02040503050406030204" pitchFamily="18" charset="0"/>
                                </a:rPr>
                                <m:t>∗</m:t>
                              </m:r>
                            </m:sub>
                          </m:sSub>
                          <m:d>
                            <m:dPr>
                              <m:begChr m:val="["/>
                              <m:endChr m:val="]"/>
                              <m:ctrlPr>
                                <a:rPr lang="en-US" sz="2400" b="1" i="1">
                                  <a:latin typeface="Cambria Math" panose="02040503050406030204" pitchFamily="18" charset="0"/>
                                </a:rPr>
                              </m:ctrlPr>
                            </m:dPr>
                            <m:e>
                              <m:sSub>
                                <m:sSubPr>
                                  <m:ctrlPr>
                                    <a:rPr lang="en-US" sz="2400" b="1" i="1">
                                      <a:latin typeface="Cambria Math" panose="02040503050406030204" pitchFamily="18" charset="0"/>
                                    </a:rPr>
                                  </m:ctrlPr>
                                </m:sSubPr>
                                <m:e>
                                  <m:r>
                                    <a:rPr lang="en-US" sz="2400" b="1" i="1">
                                      <a:latin typeface="Cambria Math" panose="02040503050406030204" pitchFamily="18" charset="0"/>
                                    </a:rPr>
                                    <m:t>𝒗</m:t>
                                  </m:r>
                                </m:e>
                                <m:sub>
                                  <m:r>
                                    <a:rPr lang="en-US" sz="2400" b="1" i="1">
                                      <a:latin typeface="Cambria Math" panose="02040503050406030204" pitchFamily="18" charset="0"/>
                                    </a:rPr>
                                    <m:t>∗</m:t>
                                  </m:r>
                                </m:sub>
                              </m:sSub>
                            </m:e>
                          </m:d>
                        </m:e>
                      </m:d>
                      <m:d>
                        <m:dPr>
                          <m:ctrlPr>
                            <a:rPr lang="en-US" sz="2400" b="1" i="1" smtClean="0">
                              <a:latin typeface="Cambria Math" panose="02040503050406030204" pitchFamily="18" charset="0"/>
                            </a:rPr>
                          </m:ctrlPr>
                        </m:dPr>
                        <m:e>
                          <m:r>
                            <a:rPr lang="en-US" sz="2400" b="1" i="1" smtClean="0">
                              <a:latin typeface="Cambria Math" panose="02040503050406030204" pitchFamily="18" charset="0"/>
                            </a:rPr>
                            <m:t>𝒙</m:t>
                          </m:r>
                        </m:e>
                      </m:d>
                      <m:r>
                        <a:rPr lang="en-US" sz="2400" b="1" i="1" smtClean="0">
                          <a:latin typeface="Cambria Math" panose="02040503050406030204" pitchFamily="18" charset="0"/>
                        </a:rPr>
                        <m:t>=</m:t>
                      </m:r>
                      <m:sSub>
                        <m:sSubPr>
                          <m:ctrlPr>
                            <a:rPr lang="en-US" sz="2400" b="1" i="1">
                              <a:latin typeface="Cambria Math" panose="02040503050406030204" pitchFamily="18" charset="0"/>
                            </a:rPr>
                          </m:ctrlPr>
                        </m:sSubPr>
                        <m:e>
                          <m:d>
                            <m:dPr>
                              <m:begChr m:val="⟨"/>
                              <m:endChr m:val="⟩"/>
                              <m:ctrlPr>
                                <a:rPr lang="en-US" sz="2400" b="1" i="1">
                                  <a:latin typeface="Cambria Math" panose="02040503050406030204" pitchFamily="18" charset="0"/>
                                </a:rPr>
                              </m:ctrlPr>
                            </m:dPr>
                            <m:e>
                              <m:sSub>
                                <m:sSubPr>
                                  <m:ctrlPr>
                                    <a:rPr lang="en-US" sz="2400" b="1">
                                      <a:latin typeface="Cambria Math" panose="02040503050406030204" pitchFamily="18" charset="0"/>
                                    </a:rPr>
                                  </m:ctrlPr>
                                </m:sSubPr>
                                <m:e>
                                  <m:r>
                                    <a:rPr lang="en-US" sz="2400" b="1">
                                      <a:latin typeface="Cambria Math" panose="02040503050406030204" pitchFamily="18" charset="0"/>
                                    </a:rPr>
                                    <m:t>𝚪</m:t>
                                  </m:r>
                                </m:e>
                                <m:sub>
                                  <m:r>
                                    <a:rPr lang="en-US" sz="2400" i="1">
                                      <a:latin typeface="Cambria Math" panose="02040503050406030204" pitchFamily="18" charset="0"/>
                                    </a:rPr>
                                    <m:t>0</m:t>
                                  </m:r>
                                </m:sub>
                              </m:sSub>
                              <m:d>
                                <m:dPr>
                                  <m:begChr m:val="["/>
                                  <m:endChr m:val="]"/>
                                  <m:ctrlPr>
                                    <a:rPr lang="en-US" sz="2400" b="1" i="1" smtClean="0">
                                      <a:latin typeface="Cambria Math" panose="02040503050406030204" pitchFamily="18" charset="0"/>
                                    </a:rPr>
                                  </m:ctrlPr>
                                </m:dPr>
                                <m:e>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𝒗</m:t>
                                      </m:r>
                                    </m:e>
                                    <m:sub>
                                      <m:r>
                                        <a:rPr lang="en-US" sz="2400" b="1" i="1" smtClean="0">
                                          <a:latin typeface="Cambria Math" panose="02040503050406030204" pitchFamily="18" charset="0"/>
                                        </a:rPr>
                                        <m:t>∗</m:t>
                                      </m:r>
                                    </m:sub>
                                  </m:sSub>
                                </m:e>
                              </m:d>
                            </m:e>
                          </m:d>
                        </m:e>
                        <m:sub>
                          <m:r>
                            <a:rPr lang="en-US" sz="2400" i="1">
                              <a:latin typeface="Cambria Math" panose="02040503050406030204" pitchFamily="18" charset="0"/>
                            </a:rPr>
                            <m:t>𝐴</m:t>
                          </m:r>
                        </m:sub>
                      </m:sSub>
                      <m:r>
                        <a:rPr lang="en-US" sz="2400" b="1" i="1" smtClean="0">
                          <a:latin typeface="Cambria Math" panose="02040503050406030204" pitchFamily="18" charset="0"/>
                        </a:rPr>
                        <m:t>;      </m:t>
                      </m:r>
                      <m:r>
                        <a:rPr lang="en-US" sz="2400" b="1" i="1">
                          <a:latin typeface="Cambria Math" panose="02040503050406030204" pitchFamily="18" charset="0"/>
                        </a:rPr>
                        <m:t>𝒙</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𝛩</m:t>
                          </m:r>
                        </m:e>
                        <m:sub>
                          <m:r>
                            <a:rPr lang="en-US" sz="2400" i="1">
                              <a:latin typeface="Cambria Math" panose="02040503050406030204" pitchFamily="18" charset="0"/>
                            </a:rPr>
                            <m:t>𝐴</m:t>
                          </m:r>
                        </m:sub>
                      </m:sSub>
                    </m:oMath>
                  </m:oMathPara>
                </a14:m>
                <a:endParaRPr lang="en-US" sz="2400" dirty="0">
                  <a:solidFill>
                    <a:schemeClr val="tx1"/>
                  </a:solidFill>
                </a:endParaRPr>
              </a:p>
            </p:txBody>
          </p:sp>
        </mc:Choice>
        <mc:Fallback xmlns="">
          <p:sp>
            <p:nvSpPr>
              <p:cNvPr id="20" name="TextBox 19">
                <a:extLst>
                  <a:ext uri="{FF2B5EF4-FFF2-40B4-BE49-F238E27FC236}">
                    <a16:creationId xmlns:a16="http://schemas.microsoft.com/office/drawing/2014/main" id="{8B2CAB23-4D7B-D159-45BB-D06DBD2A2B19}"/>
                  </a:ext>
                </a:extLst>
              </p:cNvPr>
              <p:cNvSpPr txBox="1">
                <a:spLocks noRot="1" noChangeAspect="1" noMove="1" noResize="1" noEditPoints="1" noAdjustHandles="1" noChangeArrowheads="1" noChangeShapeType="1" noTextEdit="1"/>
              </p:cNvSpPr>
              <p:nvPr/>
            </p:nvSpPr>
            <p:spPr>
              <a:xfrm>
                <a:off x="1219200" y="4161564"/>
                <a:ext cx="9753600" cy="461665"/>
              </a:xfrm>
              <a:prstGeom prst="rect">
                <a:avLst/>
              </a:prstGeom>
              <a:blipFill>
                <a:blip r:embed="rId4"/>
                <a:stretch>
                  <a:fillRect b="-1333"/>
                </a:stretch>
              </a:blipFill>
            </p:spPr>
            <p:txBody>
              <a:bodyPr/>
              <a:lstStyle/>
              <a:p>
                <a:r>
                  <a:rPr lang="en-US">
                    <a:noFill/>
                  </a:rPr>
                  <a:t> </a:t>
                </a:r>
              </a:p>
            </p:txBody>
          </p:sp>
        </mc:Fallback>
      </mc:AlternateContent>
      <p:sp>
        <p:nvSpPr>
          <p:cNvPr id="26" name="Content Placeholder 2">
            <a:extLst>
              <a:ext uri="{FF2B5EF4-FFF2-40B4-BE49-F238E27FC236}">
                <a16:creationId xmlns:a16="http://schemas.microsoft.com/office/drawing/2014/main" id="{3A32F574-7ADB-274D-24B9-F51AD6B7DA87}"/>
              </a:ext>
            </a:extLst>
          </p:cNvPr>
          <p:cNvSpPr txBox="1">
            <a:spLocks/>
          </p:cNvSpPr>
          <p:nvPr/>
        </p:nvSpPr>
        <p:spPr>
          <a:xfrm>
            <a:off x="359869" y="4854062"/>
            <a:ext cx="11649251" cy="604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Then we have:</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6DE325F-45BA-82D6-DD58-7BF4DD691359}"/>
                  </a:ext>
                </a:extLst>
              </p:cNvPr>
              <p:cNvSpPr txBox="1"/>
              <p:nvPr/>
            </p:nvSpPr>
            <p:spPr>
              <a:xfrm>
                <a:off x="1219200" y="5489379"/>
                <a:ext cx="9753600" cy="461665"/>
              </a:xfrm>
              <a:prstGeom prst="rect">
                <a:avLst/>
              </a:prstGeom>
              <a:noFill/>
            </p:spPr>
            <p:txBody>
              <a:bodyPr wrap="square">
                <a:spAutoFit/>
              </a:bodyPr>
              <a:lstStyle/>
              <a:p>
                <a:pPr/>
                <a14:m>
                  <m:oMathPara xmlns:m="http://schemas.openxmlformats.org/officeDocument/2006/math">
                    <m:oMath>
                      <m:sSub>
                        <m:sSubPr>
                          <m:ctrlPr>
                            <a:rPr lang="en-US" sz="2400" b="1" i="1" smtClean="0">
                              <a:solidFill>
                                <a:srgbClr val="FF0000"/>
                              </a:solidFill>
                              <a:latin typeface="Cambria Math" panose="02040503050406030204" pitchFamily="18" charset="0"/>
                            </a:rPr>
                          </m:ctrlPr>
                        </m:sSubPr>
                        <m:e>
                          <m:r>
                            <a:rPr lang="en-US" sz="2400" b="1" i="1" smtClean="0">
                              <a:solidFill>
                                <a:srgbClr val="FF0000"/>
                              </a:solidFill>
                              <a:latin typeface="Cambria Math" panose="02040503050406030204" pitchFamily="18" charset="0"/>
                            </a:rPr>
                            <m:t>𝜺</m:t>
                          </m:r>
                        </m:e>
                        <m:sub>
                          <m:r>
                            <a:rPr lang="en-US" sz="2400" b="1" i="1" smtClean="0">
                              <a:solidFill>
                                <a:srgbClr val="FF0000"/>
                              </a:solidFill>
                              <a:latin typeface="Cambria Math" panose="02040503050406030204" pitchFamily="18" charset="0"/>
                            </a:rPr>
                            <m:t>∗</m:t>
                          </m:r>
                        </m:sub>
                      </m:sSub>
                      <m:r>
                        <a:rPr lang="en-US" sz="2400" b="1" i="1" smtClean="0">
                          <a:solidFill>
                            <a:schemeClr val="tx1"/>
                          </a:solidFill>
                          <a:latin typeface="Cambria Math" panose="02040503050406030204" pitchFamily="18" charset="0"/>
                        </a:rPr>
                        <m:t>+</m:t>
                      </m:r>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b="1"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𝜺</m:t>
                              </m:r>
                            </m:e>
                            <m:sub>
                              <m:r>
                                <a:rPr lang="en-US" sz="2400" i="1">
                                  <a:solidFill>
                                    <a:schemeClr val="tx1"/>
                                  </a:solidFill>
                                  <a:latin typeface="Cambria Math" panose="02040503050406030204" pitchFamily="18" charset="0"/>
                                </a:rPr>
                                <m:t>∗</m:t>
                              </m:r>
                            </m:sub>
                          </m:sSub>
                        </m:e>
                      </m:d>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0" smtClean="0">
                          <a:solidFill>
                            <a:schemeClr val="tx1"/>
                          </a:solidFill>
                          <a:latin typeface="Cambria Math" panose="02040503050406030204" pitchFamily="18" charset="0"/>
                        </a:rPr>
                        <m:t>+</m:t>
                      </m:r>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𝝀</m:t>
                              </m:r>
                            </m:e>
                            <m:sub>
                              <m:r>
                                <a:rPr lang="en-US" sz="2400" i="1">
                                  <a:solidFill>
                                    <a:schemeClr val="tx1"/>
                                  </a:solidFill>
                                  <a:latin typeface="Cambria Math" panose="02040503050406030204" pitchFamily="18" charset="0"/>
                                  <a:ea typeface="Cambria Math" panose="02040503050406030204" pitchFamily="18" charset="0"/>
                                </a:rPr>
                                <m:t>∗</m:t>
                              </m:r>
                            </m:sub>
                          </m:sSub>
                        </m:e>
                      </m:d>
                    </m:oMath>
                  </m:oMathPara>
                </a14:m>
                <a:endParaRPr lang="en-US" sz="2400" dirty="0">
                  <a:solidFill>
                    <a:schemeClr val="tx1"/>
                  </a:solidFill>
                </a:endParaRPr>
              </a:p>
            </p:txBody>
          </p:sp>
        </mc:Choice>
        <mc:Fallback xmlns="">
          <p:sp>
            <p:nvSpPr>
              <p:cNvPr id="28" name="TextBox 27">
                <a:extLst>
                  <a:ext uri="{FF2B5EF4-FFF2-40B4-BE49-F238E27FC236}">
                    <a16:creationId xmlns:a16="http://schemas.microsoft.com/office/drawing/2014/main" id="{76DE325F-45BA-82D6-DD58-7BF4DD691359}"/>
                  </a:ext>
                </a:extLst>
              </p:cNvPr>
              <p:cNvSpPr txBox="1">
                <a:spLocks noRot="1" noChangeAspect="1" noMove="1" noResize="1" noEditPoints="1" noAdjustHandles="1" noChangeArrowheads="1" noChangeShapeType="1" noTextEdit="1"/>
              </p:cNvSpPr>
              <p:nvPr/>
            </p:nvSpPr>
            <p:spPr>
              <a:xfrm>
                <a:off x="1219200" y="5489379"/>
                <a:ext cx="9753600" cy="461665"/>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80838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174C8-B27B-F77F-E4BF-8059562C89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A1632E-A1F0-A301-4307-FF28134B3823}"/>
              </a:ext>
            </a:extLst>
          </p:cNvPr>
          <p:cNvSpPr>
            <a:spLocks noGrp="1"/>
          </p:cNvSpPr>
          <p:nvPr>
            <p:ph type="title"/>
          </p:nvPr>
        </p:nvSpPr>
        <p:spPr>
          <a:xfrm>
            <a:off x="329389" y="121920"/>
            <a:ext cx="10515600" cy="1325563"/>
          </a:xfrm>
        </p:spPr>
        <p:txBody>
          <a:bodyPr/>
          <a:lstStyle/>
          <a:p>
            <a:r>
              <a:rPr lang="en-US" dirty="0"/>
              <a:t>Derivation: LS to CP (8)</a:t>
            </a:r>
          </a:p>
        </p:txBody>
      </p:sp>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BFC0090E-FC55-1E1C-A500-535C91F88CA3}"/>
                  </a:ext>
                </a:extLst>
              </p:cNvPr>
              <p:cNvSpPr txBox="1">
                <a:spLocks/>
              </p:cNvSpPr>
              <p:nvPr/>
            </p:nvSpPr>
            <p:spPr>
              <a:xfrm>
                <a:off x="329387" y="4754938"/>
                <a:ext cx="11649251" cy="60483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Assuming the operator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𝜦</m:t>
                        </m:r>
                      </m:e>
                      <m:sub>
                        <m:r>
                          <a:rPr lang="en-US" b="1" i="1">
                            <a:latin typeface="Cambria Math" panose="02040503050406030204" pitchFamily="18" charset="0"/>
                            <a:ea typeface="Cambria Math" panose="02040503050406030204" pitchFamily="18" charset="0"/>
                          </a:rPr>
                          <m:t>∗</m:t>
                        </m:r>
                      </m:sub>
                    </m:sSub>
                    <m:r>
                      <a:rPr lang="en-US" b="1" i="1">
                        <a:latin typeface="Cambria Math" panose="02040503050406030204" pitchFamily="18" charset="0"/>
                        <a:ea typeface="Cambria Math" panose="02040503050406030204" pitchFamily="18" charset="0"/>
                      </a:rPr>
                      <m:t> </m:t>
                    </m:r>
                  </m:oMath>
                </a14:m>
                <a:r>
                  <a:rPr lang="en-US" dirty="0"/>
                  <a:t>is invertible: </a:t>
                </a:r>
              </a:p>
            </p:txBody>
          </p:sp>
        </mc:Choice>
        <mc:Fallback xmlns="">
          <p:sp>
            <p:nvSpPr>
              <p:cNvPr id="11" name="Content Placeholder 2">
                <a:extLst>
                  <a:ext uri="{FF2B5EF4-FFF2-40B4-BE49-F238E27FC236}">
                    <a16:creationId xmlns:a16="http://schemas.microsoft.com/office/drawing/2014/main" id="{BFC0090E-FC55-1E1C-A500-535C91F88CA3}"/>
                  </a:ext>
                </a:extLst>
              </p:cNvPr>
              <p:cNvSpPr txBox="1">
                <a:spLocks noRot="1" noChangeAspect="1" noMove="1" noResize="1" noEditPoints="1" noAdjustHandles="1" noChangeArrowheads="1" noChangeShapeType="1" noTextEdit="1"/>
              </p:cNvSpPr>
              <p:nvPr/>
            </p:nvSpPr>
            <p:spPr>
              <a:xfrm>
                <a:off x="329387" y="4754938"/>
                <a:ext cx="11649251" cy="604837"/>
              </a:xfrm>
              <a:prstGeom prst="rect">
                <a:avLst/>
              </a:prstGeom>
              <a:blipFill>
                <a:blip r:embed="rId2"/>
                <a:stretch>
                  <a:fillRect l="-1047" t="-17172" b="-70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6834BA94-BF8A-7626-E157-79D5A81BA236}"/>
                  </a:ext>
                </a:extLst>
              </p:cNvPr>
              <p:cNvSpPr txBox="1"/>
              <p:nvPr/>
            </p:nvSpPr>
            <p:spPr>
              <a:xfrm>
                <a:off x="1219200" y="5650433"/>
                <a:ext cx="9753600" cy="478401"/>
              </a:xfrm>
              <a:prstGeom prst="rect">
                <a:avLst/>
              </a:prstGeom>
              <a:noFill/>
            </p:spPr>
            <p:txBody>
              <a:bodyPr wrap="square">
                <a:spAutoFit/>
              </a:bodyPr>
              <a:lstStyle/>
              <a:p>
                <a:pPr/>
                <a14:m>
                  <m:oMathPara xmlns:m="http://schemas.openxmlformats.org/officeDocument/2006/math">
                    <m:oMath>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𝜺</m:t>
                          </m:r>
                        </m:e>
                        <m:sub>
                          <m:r>
                            <a:rPr lang="en-US" sz="2400" i="1">
                              <a:solidFill>
                                <a:schemeClr val="tx1"/>
                              </a:solidFill>
                              <a:latin typeface="Cambria Math" panose="02040503050406030204" pitchFamily="18" charset="0"/>
                              <a:ea typeface="Cambria Math" panose="02040503050406030204" pitchFamily="18" charset="0"/>
                            </a:rPr>
                            <m:t>∗</m:t>
                          </m:r>
                        </m:sub>
                      </m:sSub>
                      <m:r>
                        <a:rPr lang="en-US" sz="2400" b="1" i="1">
                          <a:solidFill>
                            <a:schemeClr val="tx1"/>
                          </a:solidFill>
                          <a:latin typeface="Cambria Math" panose="02040503050406030204" pitchFamily="18" charset="0"/>
                        </a:rPr>
                        <m:t>=</m:t>
                      </m:r>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𝜦</m:t>
                          </m:r>
                        </m:e>
                        <m:sub>
                          <m:r>
                            <a:rPr lang="en-US" sz="2400" b="1" i="1">
                              <a:solidFill>
                                <a:srgbClr val="FF0000"/>
                              </a:solidFill>
                              <a:latin typeface="Cambria Math" panose="02040503050406030204" pitchFamily="18" charset="0"/>
                              <a:ea typeface="Cambria Math" panose="02040503050406030204" pitchFamily="18" charset="0"/>
                            </a:rPr>
                            <m:t>∗</m:t>
                          </m:r>
                        </m:sub>
                        <m:sup>
                          <m:r>
                            <a:rPr lang="en-US" sz="2400" b="1"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m:t>
                          </m:r>
                        </m:sup>
                      </m:sSubSup>
                      <m:d>
                        <m:dPr>
                          <m:begChr m:val="["/>
                          <m:endChr m:val="]"/>
                          <m:ctrlPr>
                            <a:rPr lang="en-US" sz="2400" b="1" i="1">
                              <a:solidFill>
                                <a:schemeClr val="tx1"/>
                              </a:solidFill>
                              <a:latin typeface="Cambria Math" panose="02040503050406030204" pitchFamily="18" charset="0"/>
                            </a:rPr>
                          </m:ctrlPr>
                        </m:d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e>
                      </m:d>
                      <m:r>
                        <a:rPr lang="en-US" sz="2400" b="1">
                          <a:solidFill>
                            <a:schemeClr val="tx1"/>
                          </a:solidFill>
                          <a:latin typeface="Cambria Math" panose="02040503050406030204" pitchFamily="18" charset="0"/>
                        </a:rPr>
                        <m:t>+</m:t>
                      </m:r>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𝜦</m:t>
                          </m:r>
                        </m:e>
                        <m:sub>
                          <m:r>
                            <a:rPr lang="en-US" sz="2400" b="1" i="1">
                              <a:solidFill>
                                <a:srgbClr val="FF0000"/>
                              </a:solidFill>
                              <a:latin typeface="Cambria Math" panose="02040503050406030204" pitchFamily="18" charset="0"/>
                              <a:ea typeface="Cambria Math" panose="02040503050406030204" pitchFamily="18" charset="0"/>
                            </a:rPr>
                            <m:t>∗</m:t>
                          </m:r>
                        </m:sub>
                        <m:sup>
                          <m:r>
                            <a:rPr lang="en-US" sz="2400" b="1"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1</m:t>
                          </m:r>
                        </m:sup>
                      </m:sSubSup>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𝝀</m:t>
                              </m:r>
                            </m:e>
                            <m:sub>
                              <m:r>
                                <a:rPr lang="en-US" sz="2400" i="1">
                                  <a:solidFill>
                                    <a:schemeClr val="tx1"/>
                                  </a:solidFill>
                                  <a:latin typeface="Cambria Math" panose="02040503050406030204" pitchFamily="18" charset="0"/>
                                  <a:ea typeface="Cambria Math" panose="02040503050406030204" pitchFamily="18" charset="0"/>
                                </a:rPr>
                                <m:t>∗</m:t>
                              </m:r>
                            </m:sub>
                          </m:sSub>
                        </m:e>
                      </m:d>
                    </m:oMath>
                  </m:oMathPara>
                </a14:m>
                <a:endParaRPr lang="en-US" sz="2400" dirty="0">
                  <a:solidFill>
                    <a:schemeClr val="tx1"/>
                  </a:solidFill>
                </a:endParaRPr>
              </a:p>
            </p:txBody>
          </p:sp>
        </mc:Choice>
        <mc:Fallback xmlns="">
          <p:sp>
            <p:nvSpPr>
              <p:cNvPr id="26" name="TextBox 25">
                <a:extLst>
                  <a:ext uri="{FF2B5EF4-FFF2-40B4-BE49-F238E27FC236}">
                    <a16:creationId xmlns:a16="http://schemas.microsoft.com/office/drawing/2014/main" id="{6834BA94-BF8A-7626-E157-79D5A81BA236}"/>
                  </a:ext>
                </a:extLst>
              </p:cNvPr>
              <p:cNvSpPr txBox="1">
                <a:spLocks noRot="1" noChangeAspect="1" noMove="1" noResize="1" noEditPoints="1" noAdjustHandles="1" noChangeArrowheads="1" noChangeShapeType="1" noTextEdit="1"/>
              </p:cNvSpPr>
              <p:nvPr/>
            </p:nvSpPr>
            <p:spPr>
              <a:xfrm>
                <a:off x="1219200" y="5650433"/>
                <a:ext cx="9753600" cy="478401"/>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Content Placeholder 2">
                <a:extLst>
                  <a:ext uri="{FF2B5EF4-FFF2-40B4-BE49-F238E27FC236}">
                    <a16:creationId xmlns:a16="http://schemas.microsoft.com/office/drawing/2014/main" id="{11250B4C-1770-4D6F-EA0F-93339ADDB17B}"/>
                  </a:ext>
                </a:extLst>
              </p:cNvPr>
              <p:cNvSpPr>
                <a:spLocks noGrp="1"/>
              </p:cNvSpPr>
              <p:nvPr>
                <p:ph idx="1"/>
              </p:nvPr>
            </p:nvSpPr>
            <p:spPr>
              <a:xfrm>
                <a:off x="329390" y="1554628"/>
                <a:ext cx="11649251" cy="960437"/>
              </a:xfrm>
            </p:spPr>
            <p:txBody>
              <a:bodyPr>
                <a:normAutofit/>
              </a:bodyPr>
              <a:lstStyle/>
              <a:p>
                <a:pPr marL="0" indent="0">
                  <a:buNone/>
                </a:pPr>
                <a:r>
                  <a:rPr lang="en-US" dirty="0"/>
                  <a:t>Define another new operator (expressed acting on some tensor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𝒗</m:t>
                        </m:r>
                      </m:e>
                      <m:sub>
                        <m:r>
                          <a:rPr lang="en-US" b="0" i="1" smtClean="0">
                            <a:latin typeface="Cambria Math" panose="02040503050406030204" pitchFamily="18" charset="0"/>
                          </a:rPr>
                          <m:t>∗</m:t>
                        </m:r>
                      </m:sub>
                    </m:sSub>
                  </m:oMath>
                </a14:m>
                <a:r>
                  <a:rPr lang="en-US" dirty="0"/>
                  <a:t>): </a:t>
                </a:r>
                <a:endParaRPr lang="en-US" b="1" dirty="0"/>
              </a:p>
            </p:txBody>
          </p:sp>
        </mc:Choice>
        <mc:Fallback>
          <p:sp>
            <p:nvSpPr>
              <p:cNvPr id="29" name="Content Placeholder 2">
                <a:extLst>
                  <a:ext uri="{FF2B5EF4-FFF2-40B4-BE49-F238E27FC236}">
                    <a16:creationId xmlns:a16="http://schemas.microsoft.com/office/drawing/2014/main" id="{11250B4C-1770-4D6F-EA0F-93339ADDB17B}"/>
                  </a:ext>
                </a:extLst>
              </p:cNvPr>
              <p:cNvSpPr>
                <a:spLocks noGrp="1" noRot="1" noChangeAspect="1" noMove="1" noResize="1" noEditPoints="1" noAdjustHandles="1" noChangeArrowheads="1" noChangeShapeType="1" noTextEdit="1"/>
              </p:cNvSpPr>
              <p:nvPr>
                <p:ph idx="1"/>
              </p:nvPr>
            </p:nvSpPr>
            <p:spPr>
              <a:xfrm>
                <a:off x="329390" y="1554628"/>
                <a:ext cx="11649251" cy="960437"/>
              </a:xfrm>
              <a:blipFill>
                <a:blip r:embed="rId4"/>
                <a:stretch>
                  <a:fillRect l="-1047" t="-107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5C14FA7C-14F1-0817-2B37-BD327AB224B4}"/>
                  </a:ext>
                </a:extLst>
              </p:cNvPr>
              <p:cNvSpPr txBox="1"/>
              <p:nvPr/>
            </p:nvSpPr>
            <p:spPr>
              <a:xfrm>
                <a:off x="3048811" y="2376475"/>
                <a:ext cx="6094378" cy="471924"/>
              </a:xfrm>
              <a:prstGeom prst="rect">
                <a:avLst/>
              </a:prstGeom>
              <a:noFill/>
            </p:spPr>
            <p:txBody>
              <a:bodyPr wrap="square">
                <a:spAutoFit/>
              </a:bodyPr>
              <a:lstStyle/>
              <a:p>
                <a:pPr algn="ctr"/>
                <a14:m>
                  <m:oMathPara xmlns:m="http://schemas.openxmlformats.org/officeDocument/2006/math">
                    <m:oMath>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𝜦</m:t>
                          </m:r>
                        </m:e>
                        <m:sub>
                          <m:r>
                            <a:rPr lang="en-US" sz="2400" b="1" i="1" smtClean="0">
                              <a:solidFill>
                                <a:schemeClr val="tx1"/>
                              </a:solidFill>
                              <a:latin typeface="Cambria Math" panose="02040503050406030204" pitchFamily="18" charset="0"/>
                              <a:ea typeface="Cambria Math" panose="02040503050406030204" pitchFamily="18" charset="0"/>
                            </a:rPr>
                            <m:t>∗</m:t>
                          </m:r>
                        </m:sub>
                      </m:sSub>
                      <m:d>
                        <m:dPr>
                          <m:begChr m:val="["/>
                          <m:endChr m:val="]"/>
                          <m:ctrlPr>
                            <a:rPr lang="en-US" sz="2400" b="1" i="1" smtClean="0">
                              <a:solidFill>
                                <a:schemeClr val="tx1"/>
                              </a:solidFill>
                              <a:latin typeface="Cambria Math" panose="02040503050406030204" pitchFamily="18" charset="0"/>
                              <a:ea typeface="Cambria Math" panose="02040503050406030204" pitchFamily="18" charset="0"/>
                            </a:rPr>
                          </m:ctrlPr>
                        </m:dPr>
                        <m:e>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𝒗</m:t>
                              </m:r>
                            </m:e>
                            <m:sub>
                              <m:r>
                                <a:rPr lang="en-US" sz="2400" b="1" i="1" smtClean="0">
                                  <a:solidFill>
                                    <a:schemeClr val="tx1"/>
                                  </a:solidFill>
                                  <a:latin typeface="Cambria Math" panose="02040503050406030204" pitchFamily="18" charset="0"/>
                                  <a:ea typeface="Cambria Math" panose="02040503050406030204" pitchFamily="18" charset="0"/>
                                </a:rPr>
                                <m:t>∗</m:t>
                              </m:r>
                            </m:sub>
                          </m:sSub>
                        </m:e>
                      </m:d>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𝒗</m:t>
                          </m:r>
                        </m:e>
                        <m:sub>
                          <m:r>
                            <a:rPr lang="en-US" sz="2400" b="1" i="1" smtClean="0">
                              <a:solidFill>
                                <a:schemeClr val="tx1"/>
                              </a:solidFill>
                              <a:latin typeface="Cambria Math" panose="02040503050406030204" pitchFamily="18" charset="0"/>
                              <a:ea typeface="Cambria Math" panose="02040503050406030204" pitchFamily="18" charset="0"/>
                            </a:rPr>
                            <m:t>∗</m:t>
                          </m:r>
                        </m:sub>
                      </m:sSub>
                      <m:r>
                        <a:rPr lang="en-US" sz="2400" b="0" i="1" smtClean="0">
                          <a:solidFill>
                            <a:schemeClr val="tx1"/>
                          </a:solidFill>
                          <a:latin typeface="Cambria Math" panose="02040503050406030204" pitchFamily="18" charset="0"/>
                          <a:ea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b="1"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𝒗</m:t>
                              </m:r>
                            </m:e>
                            <m:sub>
                              <m:r>
                                <a:rPr lang="en-US" sz="2400" b="1" i="1">
                                  <a:solidFill>
                                    <a:schemeClr val="tx1"/>
                                  </a:solidFill>
                                  <a:latin typeface="Cambria Math" panose="02040503050406030204" pitchFamily="18" charset="0"/>
                                </a:rPr>
                                <m:t>∗</m:t>
                              </m:r>
                            </m:sub>
                          </m:sSub>
                        </m:e>
                      </m:d>
                    </m:oMath>
                  </m:oMathPara>
                </a14:m>
                <a:endParaRPr lang="en-US" sz="2400" dirty="0">
                  <a:solidFill>
                    <a:schemeClr val="tx1"/>
                  </a:solidFill>
                </a:endParaRPr>
              </a:p>
            </p:txBody>
          </p:sp>
        </mc:Choice>
        <mc:Fallback xmlns="">
          <p:sp>
            <p:nvSpPr>
              <p:cNvPr id="30" name="TextBox 29">
                <a:extLst>
                  <a:ext uri="{FF2B5EF4-FFF2-40B4-BE49-F238E27FC236}">
                    <a16:creationId xmlns:a16="http://schemas.microsoft.com/office/drawing/2014/main" id="{5C14FA7C-14F1-0817-2B37-BD327AB224B4}"/>
                  </a:ext>
                </a:extLst>
              </p:cNvPr>
              <p:cNvSpPr txBox="1">
                <a:spLocks noRot="1" noChangeAspect="1" noMove="1" noResize="1" noEditPoints="1" noAdjustHandles="1" noChangeArrowheads="1" noChangeShapeType="1" noTextEdit="1"/>
              </p:cNvSpPr>
              <p:nvPr/>
            </p:nvSpPr>
            <p:spPr>
              <a:xfrm>
                <a:off x="3048811" y="2376475"/>
                <a:ext cx="6094378" cy="471924"/>
              </a:xfrm>
              <a:prstGeom prst="rect">
                <a:avLst/>
              </a:prstGeom>
              <a:blipFill>
                <a:blip r:embed="rId5"/>
                <a:stretch>
                  <a:fillRect/>
                </a:stretch>
              </a:blipFill>
            </p:spPr>
            <p:txBody>
              <a:bodyPr/>
              <a:lstStyle/>
              <a:p>
                <a:r>
                  <a:rPr lang="en-US">
                    <a:noFill/>
                  </a:rPr>
                  <a:t> </a:t>
                </a:r>
              </a:p>
            </p:txBody>
          </p:sp>
        </mc:Fallback>
      </mc:AlternateContent>
      <p:sp>
        <p:nvSpPr>
          <p:cNvPr id="31" name="Content Placeholder 2">
            <a:extLst>
              <a:ext uri="{FF2B5EF4-FFF2-40B4-BE49-F238E27FC236}">
                <a16:creationId xmlns:a16="http://schemas.microsoft.com/office/drawing/2014/main" id="{11D095F1-5269-1F54-41EE-289EF7A40767}"/>
              </a:ext>
            </a:extLst>
          </p:cNvPr>
          <p:cNvSpPr txBox="1">
            <a:spLocks/>
          </p:cNvSpPr>
          <p:nvPr/>
        </p:nvSpPr>
        <p:spPr>
          <a:xfrm>
            <a:off x="329387" y="3079702"/>
            <a:ext cx="11649251" cy="5226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Then we have:</a:t>
            </a:r>
            <a:endParaRPr lang="en-US" b="1" dirty="0"/>
          </a:p>
        </p:txBody>
      </p:sp>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1AFEE288-7FAE-2633-0BE6-92A8D7F162CB}"/>
                  </a:ext>
                </a:extLst>
              </p:cNvPr>
              <p:cNvSpPr txBox="1"/>
              <p:nvPr/>
            </p:nvSpPr>
            <p:spPr>
              <a:xfrm>
                <a:off x="1219200" y="3778996"/>
                <a:ext cx="9753600" cy="471924"/>
              </a:xfrm>
              <a:prstGeom prst="rect">
                <a:avLst/>
              </a:prstGeom>
              <a:noFill/>
            </p:spPr>
            <p:txBody>
              <a:bodyPr wrap="square">
                <a:spAutoFit/>
              </a:bodyPr>
              <a:lstStyle/>
              <a:p>
                <a:pPr/>
                <a14:m>
                  <m:oMathPara xmlns:m="http://schemas.openxmlformats.org/officeDocument/2006/math">
                    <m:oMath>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𝜦</m:t>
                          </m:r>
                        </m:e>
                        <m:sub>
                          <m:r>
                            <a:rPr lang="en-US" sz="2400" b="1" i="1">
                              <a:solidFill>
                                <a:srgbClr val="FF0000"/>
                              </a:solidFill>
                              <a:latin typeface="Cambria Math" panose="02040503050406030204" pitchFamily="18" charset="0"/>
                              <a:ea typeface="Cambria Math" panose="02040503050406030204" pitchFamily="18" charset="0"/>
                            </a:rPr>
                            <m:t>∗</m:t>
                          </m:r>
                        </m:sub>
                      </m:sSub>
                      <m:d>
                        <m:dPr>
                          <m:begChr m:val="["/>
                          <m:endChr m:val="]"/>
                          <m:ctrlPr>
                            <a:rPr lang="en-US" sz="2400" b="1" i="1" smtClean="0">
                              <a:solidFill>
                                <a:schemeClr val="tx1"/>
                              </a:solidFill>
                              <a:latin typeface="Cambria Math" panose="02040503050406030204" pitchFamily="18" charset="0"/>
                              <a:ea typeface="Cambria Math" panose="02040503050406030204" pitchFamily="18" charset="0"/>
                            </a:rPr>
                          </m:ctrlPr>
                        </m:dPr>
                        <m:e>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𝜺</m:t>
                              </m:r>
                            </m:e>
                            <m:sub>
                              <m:r>
                                <a:rPr lang="en-US" sz="2400" b="0" i="1">
                                  <a:solidFill>
                                    <a:schemeClr val="tx1"/>
                                  </a:solidFill>
                                  <a:latin typeface="Cambria Math" panose="02040503050406030204" pitchFamily="18" charset="0"/>
                                  <a:ea typeface="Cambria Math" panose="02040503050406030204" pitchFamily="18" charset="0"/>
                                </a:rPr>
                                <m:t>∗</m:t>
                              </m:r>
                            </m:sub>
                          </m:sSub>
                        </m:e>
                      </m:d>
                      <m:r>
                        <a:rPr lang="en-US" sz="2400" b="1" i="1" smtClean="0">
                          <a:solidFill>
                            <a:schemeClr val="tx1"/>
                          </a:solidFill>
                          <a:latin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a:solidFill>
                            <a:schemeClr val="tx1"/>
                          </a:solidFill>
                          <a:latin typeface="Cambria Math" panose="02040503050406030204" pitchFamily="18" charset="0"/>
                        </a:rPr>
                        <m:t>+</m:t>
                      </m:r>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𝝀</m:t>
                              </m:r>
                            </m:e>
                            <m:sub>
                              <m:r>
                                <a:rPr lang="en-US" sz="2400" i="1">
                                  <a:solidFill>
                                    <a:schemeClr val="tx1"/>
                                  </a:solidFill>
                                  <a:latin typeface="Cambria Math" panose="02040503050406030204" pitchFamily="18" charset="0"/>
                                  <a:ea typeface="Cambria Math" panose="02040503050406030204" pitchFamily="18" charset="0"/>
                                </a:rPr>
                                <m:t>∗</m:t>
                              </m:r>
                            </m:sub>
                          </m:sSub>
                        </m:e>
                      </m:d>
                    </m:oMath>
                  </m:oMathPara>
                </a14:m>
                <a:endParaRPr lang="en-US" sz="2400" dirty="0">
                  <a:solidFill>
                    <a:schemeClr val="tx1"/>
                  </a:solidFill>
                </a:endParaRPr>
              </a:p>
            </p:txBody>
          </p:sp>
        </mc:Choice>
        <mc:Fallback xmlns="">
          <p:sp>
            <p:nvSpPr>
              <p:cNvPr id="32" name="TextBox 31">
                <a:extLst>
                  <a:ext uri="{FF2B5EF4-FFF2-40B4-BE49-F238E27FC236}">
                    <a16:creationId xmlns:a16="http://schemas.microsoft.com/office/drawing/2014/main" id="{1AFEE288-7FAE-2633-0BE6-92A8D7F162CB}"/>
                  </a:ext>
                </a:extLst>
              </p:cNvPr>
              <p:cNvSpPr txBox="1">
                <a:spLocks noRot="1" noChangeAspect="1" noMove="1" noResize="1" noEditPoints="1" noAdjustHandles="1" noChangeArrowheads="1" noChangeShapeType="1" noTextEdit="1"/>
              </p:cNvSpPr>
              <p:nvPr/>
            </p:nvSpPr>
            <p:spPr>
              <a:xfrm>
                <a:off x="1219200" y="3778996"/>
                <a:ext cx="9753600" cy="471924"/>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613628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BAB7E9-27D2-D4B0-DE68-1B8C8EAFB8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E2038-E97F-B2B7-6BF4-F104522E3365}"/>
              </a:ext>
            </a:extLst>
          </p:cNvPr>
          <p:cNvSpPr>
            <a:spLocks noGrp="1"/>
          </p:cNvSpPr>
          <p:nvPr>
            <p:ph type="title"/>
          </p:nvPr>
        </p:nvSpPr>
        <p:spPr>
          <a:xfrm>
            <a:off x="329389" y="121920"/>
            <a:ext cx="10515600" cy="1325563"/>
          </a:xfrm>
        </p:spPr>
        <p:txBody>
          <a:bodyPr/>
          <a:lstStyle/>
          <a:p>
            <a:r>
              <a:rPr lang="en-US" dirty="0"/>
              <a:t>Derivation: LS to CP (9)</a:t>
            </a:r>
          </a:p>
        </p:txBody>
      </p:sp>
      <mc:AlternateContent xmlns:mc="http://schemas.openxmlformats.org/markup-compatibility/2006" xmlns:a14="http://schemas.microsoft.com/office/drawing/2010/main">
        <mc:Choice Requires="a14">
          <p:sp>
            <p:nvSpPr>
              <p:cNvPr id="29" name="Content Placeholder 2">
                <a:extLst>
                  <a:ext uri="{FF2B5EF4-FFF2-40B4-BE49-F238E27FC236}">
                    <a16:creationId xmlns:a16="http://schemas.microsoft.com/office/drawing/2014/main" id="{9DF43C60-97C7-C1F8-46A4-257C661A60C3}"/>
                  </a:ext>
                </a:extLst>
              </p:cNvPr>
              <p:cNvSpPr>
                <a:spLocks noGrp="1"/>
              </p:cNvSpPr>
              <p:nvPr>
                <p:ph idx="1"/>
              </p:nvPr>
            </p:nvSpPr>
            <p:spPr>
              <a:xfrm>
                <a:off x="329390" y="1322841"/>
                <a:ext cx="11649251" cy="981049"/>
              </a:xfrm>
            </p:spPr>
            <p:txBody>
              <a:bodyPr>
                <a:normAutofit/>
              </a:bodyPr>
              <a:lstStyle/>
              <a:p>
                <a:pPr marL="0" indent="0">
                  <a:buNone/>
                </a:pPr>
                <a:r>
                  <a:rPr lang="en-US" dirty="0"/>
                  <a:t>To make the comparison with TFA more explicit, we can plug the definition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𝝀</m:t>
                        </m:r>
                      </m:e>
                      <m:sub>
                        <m:r>
                          <a:rPr lang="en-US" i="1">
                            <a:latin typeface="Cambria Math" panose="02040503050406030204" pitchFamily="18" charset="0"/>
                            <a:ea typeface="Cambria Math" panose="02040503050406030204" pitchFamily="18" charset="0"/>
                          </a:rPr>
                          <m:t>∗</m:t>
                        </m:r>
                      </m:sub>
                    </m:sSub>
                    <m:d>
                      <m:dPr>
                        <m:ctrlPr>
                          <a:rPr lang="en-US" b="1" i="1">
                            <a:latin typeface="Cambria Math" panose="02040503050406030204" pitchFamily="18" charset="0"/>
                          </a:rPr>
                        </m:ctrlPr>
                      </m:dPr>
                      <m:e>
                        <m:r>
                          <a:rPr lang="en-US" b="1" i="1">
                            <a:latin typeface="Cambria Math" panose="02040503050406030204" pitchFamily="18" charset="0"/>
                          </a:rPr>
                          <m:t>𝒙</m:t>
                        </m:r>
                      </m:e>
                    </m:d>
                    <m:r>
                      <a:rPr lang="en-US" b="1" i="1">
                        <a:latin typeface="Cambria Math" panose="02040503050406030204" pitchFamily="18" charset="0"/>
                      </a:rPr>
                      <m:t>=</m:t>
                    </m:r>
                    <m:nary>
                      <m:naryPr>
                        <m:chr m:val="∑"/>
                        <m:ctrlPr>
                          <a:rPr lang="en-US" b="0" i="1" smtClean="0">
                            <a:latin typeface="Cambria Math" panose="02040503050406030204" pitchFamily="18" charset="0"/>
                          </a:rPr>
                        </m:ctrlPr>
                      </m:naryPr>
                      <m:sub>
                        <m:r>
                          <a:rPr lang="en-US" b="0" i="1" smtClean="0">
                            <a:latin typeface="Cambria Math" panose="02040503050406030204" pitchFamily="18" charset="0"/>
                          </a:rPr>
                          <m:t>𝐵</m:t>
                        </m:r>
                      </m:sub>
                      <m:sup>
                        <m:r>
                          <a:rPr lang="en-US" b="1" i="1">
                            <a:latin typeface="Cambria Math" panose="02040503050406030204" pitchFamily="18" charset="0"/>
                          </a:rPr>
                          <m:t> </m:t>
                        </m:r>
                      </m:sup>
                      <m:e>
                        <m:sSub>
                          <m:sSubPr>
                            <m:ctrlPr>
                              <a:rPr lang="en-US" i="1">
                                <a:latin typeface="Cambria Math" panose="02040503050406030204" pitchFamily="18" charset="0"/>
                              </a:rPr>
                            </m:ctrlPr>
                          </m:sSubPr>
                          <m:e>
                            <m:r>
                              <a:rPr lang="en-US" i="1">
                                <a:latin typeface="Cambria Math" panose="02040503050406030204" pitchFamily="18" charset="0"/>
                              </a:rPr>
                              <m:t>𝜒</m:t>
                            </m:r>
                          </m:e>
                          <m:sub>
                            <m:r>
                              <a:rPr lang="en-US" b="0" i="1" smtClean="0">
                                <a:latin typeface="Cambria Math" panose="02040503050406030204" pitchFamily="18" charset="0"/>
                              </a:rPr>
                              <m:t>𝐵</m:t>
                            </m:r>
                          </m:sub>
                        </m:sSub>
                        <m:d>
                          <m:dPr>
                            <m:ctrlPr>
                              <a:rPr lang="en-US" b="1" i="1">
                                <a:latin typeface="Cambria Math" panose="02040503050406030204" pitchFamily="18" charset="0"/>
                              </a:rPr>
                            </m:ctrlPr>
                          </m:dPr>
                          <m:e>
                            <m:r>
                              <a:rPr lang="en-US" b="1" i="1">
                                <a:latin typeface="Cambria Math" panose="02040503050406030204" pitchFamily="18" charset="0"/>
                              </a:rPr>
                              <m:t>𝒙</m:t>
                            </m:r>
                          </m:e>
                        </m:d>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𝝀</m:t>
                            </m:r>
                          </m:e>
                          <m: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𝐵</m:t>
                            </m:r>
                          </m:sub>
                        </m:sSub>
                      </m:e>
                    </m:nary>
                  </m:oMath>
                </a14:m>
                <a:r>
                  <a:rPr lang="en-US" dirty="0"/>
                  <a:t> back into the previous equation: </a:t>
                </a:r>
                <a:endParaRPr lang="en-US" b="1" dirty="0">
                  <a:highlight>
                    <a:srgbClr val="FFFF00"/>
                  </a:highlight>
                </a:endParaRPr>
              </a:p>
            </p:txBody>
          </p:sp>
        </mc:Choice>
        <mc:Fallback xmlns="">
          <p:sp>
            <p:nvSpPr>
              <p:cNvPr id="29" name="Content Placeholder 2">
                <a:extLst>
                  <a:ext uri="{FF2B5EF4-FFF2-40B4-BE49-F238E27FC236}">
                    <a16:creationId xmlns:a16="http://schemas.microsoft.com/office/drawing/2014/main" id="{9DF43C60-97C7-C1F8-46A4-257C661A60C3}"/>
                  </a:ext>
                </a:extLst>
              </p:cNvPr>
              <p:cNvSpPr>
                <a:spLocks noGrp="1" noRot="1" noChangeAspect="1" noMove="1" noResize="1" noEditPoints="1" noAdjustHandles="1" noChangeArrowheads="1" noChangeShapeType="1" noTextEdit="1"/>
              </p:cNvSpPr>
              <p:nvPr>
                <p:ph idx="1"/>
              </p:nvPr>
            </p:nvSpPr>
            <p:spPr>
              <a:xfrm>
                <a:off x="329390" y="1322841"/>
                <a:ext cx="11649251" cy="981049"/>
              </a:xfrm>
              <a:blipFill>
                <a:blip r:embed="rId2"/>
                <a:stretch>
                  <a:fillRect l="-1047" t="-10559" b="-49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4D92FF80-6F1D-04F1-F33A-A1258F3341FE}"/>
                  </a:ext>
                </a:extLst>
              </p:cNvPr>
              <p:cNvSpPr txBox="1"/>
              <p:nvPr/>
            </p:nvSpPr>
            <p:spPr>
              <a:xfrm>
                <a:off x="1219200" y="2430863"/>
                <a:ext cx="9753600" cy="1073948"/>
              </a:xfrm>
              <a:prstGeom prst="rect">
                <a:avLst/>
              </a:prstGeom>
              <a:noFill/>
            </p:spPr>
            <p:txBody>
              <a:bodyPr wrap="square">
                <a:spAutoFit/>
              </a:bodyPr>
              <a:lstStyle/>
              <a:p>
                <a:pPr/>
                <a14:m>
                  <m:oMathPara xmlns:m="http://schemas.openxmlformats.org/officeDocument/2006/math">
                    <m:oMath>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𝜺</m:t>
                          </m:r>
                        </m:e>
                        <m:sub>
                          <m:r>
                            <a:rPr lang="en-US" sz="2400" i="1">
                              <a:solidFill>
                                <a:schemeClr val="tx1"/>
                              </a:solidFill>
                              <a:latin typeface="Cambria Math" panose="02040503050406030204" pitchFamily="18" charset="0"/>
                              <a:ea typeface="Cambria Math" panose="02040503050406030204" pitchFamily="18" charset="0"/>
                            </a:rPr>
                            <m:t>∗</m:t>
                          </m:r>
                        </m:sub>
                      </m:sSub>
                      <m:r>
                        <a:rPr lang="en-US" sz="2400" b="1" i="1">
                          <a:solidFill>
                            <a:schemeClr val="tx1"/>
                          </a:solidFill>
                          <a:latin typeface="Cambria Math" panose="02040503050406030204" pitchFamily="18" charset="0"/>
                        </a:rPr>
                        <m:t>=</m:t>
                      </m:r>
                      <m:sSubSup>
                        <m:sSubSupPr>
                          <m:ctrlPr>
                            <a:rPr lang="en-US" sz="2400" b="1" i="1">
                              <a:solidFill>
                                <a:schemeClr val="tx1"/>
                              </a:solidFill>
                              <a:latin typeface="Cambria Math" panose="02040503050406030204" pitchFamily="18" charset="0"/>
                              <a:ea typeface="Cambria Math" panose="02040503050406030204" pitchFamily="18" charset="0"/>
                            </a:rPr>
                          </m:ctrlPr>
                        </m:sSubSupPr>
                        <m:e>
                          <m:r>
                            <a:rPr lang="en-US" sz="2400" b="1" i="1">
                              <a:solidFill>
                                <a:schemeClr val="tx1"/>
                              </a:solidFill>
                              <a:latin typeface="Cambria Math" panose="02040503050406030204" pitchFamily="18" charset="0"/>
                              <a:ea typeface="Cambria Math" panose="02040503050406030204" pitchFamily="18" charset="0"/>
                            </a:rPr>
                            <m:t>𝜦</m:t>
                          </m:r>
                        </m:e>
                        <m:sub>
                          <m:r>
                            <a:rPr lang="en-US" sz="2400" b="1" i="1">
                              <a:solidFill>
                                <a:schemeClr val="tx1"/>
                              </a:solidFill>
                              <a:latin typeface="Cambria Math" panose="02040503050406030204" pitchFamily="18" charset="0"/>
                              <a:ea typeface="Cambria Math" panose="02040503050406030204" pitchFamily="18" charset="0"/>
                            </a:rPr>
                            <m:t>∗</m:t>
                          </m:r>
                        </m:sub>
                        <m:sup>
                          <m:r>
                            <a:rPr lang="en-US" sz="2400" b="1" i="1">
                              <a:solidFill>
                                <a:schemeClr val="tx1"/>
                              </a:solidFill>
                              <a:latin typeface="Cambria Math" panose="02040503050406030204" pitchFamily="18" charset="0"/>
                              <a:ea typeface="Cambria Math" panose="02040503050406030204" pitchFamily="18" charset="0"/>
                            </a:rPr>
                            <m:t>−</m:t>
                          </m:r>
                          <m:r>
                            <a:rPr lang="en-US" sz="2400" b="0" i="1">
                              <a:solidFill>
                                <a:schemeClr val="tx1"/>
                              </a:solidFill>
                              <a:latin typeface="Cambria Math" panose="02040503050406030204" pitchFamily="18" charset="0"/>
                              <a:ea typeface="Cambria Math" panose="02040503050406030204" pitchFamily="18" charset="0"/>
                            </a:rPr>
                            <m:t>1</m:t>
                          </m:r>
                        </m:sup>
                      </m:sSubSup>
                      <m:d>
                        <m:dPr>
                          <m:begChr m:val="["/>
                          <m:endChr m:val="]"/>
                          <m:ctrlPr>
                            <a:rPr lang="en-US" sz="2400" b="1" i="1">
                              <a:solidFill>
                                <a:schemeClr val="tx1"/>
                              </a:solidFill>
                              <a:latin typeface="Cambria Math" panose="02040503050406030204" pitchFamily="18" charset="0"/>
                            </a:rPr>
                          </m:ctrlPr>
                        </m:d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e>
                      </m:d>
                      <m:r>
                        <a:rPr lang="en-US" sz="2400" b="1">
                          <a:solidFill>
                            <a:schemeClr val="tx1"/>
                          </a:solidFill>
                          <a:latin typeface="Cambria Math" panose="02040503050406030204" pitchFamily="18" charset="0"/>
                        </a:rPr>
                        <m:t>+</m:t>
                      </m:r>
                      <m:sSubSup>
                        <m:sSubSupPr>
                          <m:ctrlPr>
                            <a:rPr lang="en-US" sz="2400" b="1" i="1">
                              <a:solidFill>
                                <a:schemeClr val="tx1"/>
                              </a:solidFill>
                              <a:latin typeface="Cambria Math" panose="02040503050406030204" pitchFamily="18" charset="0"/>
                              <a:ea typeface="Cambria Math" panose="02040503050406030204" pitchFamily="18" charset="0"/>
                            </a:rPr>
                          </m:ctrlPr>
                        </m:sSubSupPr>
                        <m:e>
                          <m:r>
                            <a:rPr lang="en-US" sz="2400" b="1" i="1">
                              <a:solidFill>
                                <a:schemeClr val="tx1"/>
                              </a:solidFill>
                              <a:latin typeface="Cambria Math" panose="02040503050406030204" pitchFamily="18" charset="0"/>
                              <a:ea typeface="Cambria Math" panose="02040503050406030204" pitchFamily="18" charset="0"/>
                            </a:rPr>
                            <m:t>𝜦</m:t>
                          </m:r>
                        </m:e>
                        <m:sub>
                          <m:r>
                            <a:rPr lang="en-US" sz="2400" b="1" i="1">
                              <a:solidFill>
                                <a:schemeClr val="tx1"/>
                              </a:solidFill>
                              <a:latin typeface="Cambria Math" panose="02040503050406030204" pitchFamily="18" charset="0"/>
                              <a:ea typeface="Cambria Math" panose="02040503050406030204" pitchFamily="18" charset="0"/>
                            </a:rPr>
                            <m:t>∗</m:t>
                          </m:r>
                        </m:sub>
                        <m:sup>
                          <m:r>
                            <a:rPr lang="en-US" sz="2400" b="1" i="1">
                              <a:solidFill>
                                <a:schemeClr val="tx1"/>
                              </a:solidFill>
                              <a:latin typeface="Cambria Math" panose="02040503050406030204" pitchFamily="18" charset="0"/>
                              <a:ea typeface="Cambria Math" panose="02040503050406030204" pitchFamily="18" charset="0"/>
                            </a:rPr>
                            <m:t>−</m:t>
                          </m:r>
                          <m:r>
                            <a:rPr lang="en-US" sz="2400" b="0" i="1">
                              <a:solidFill>
                                <a:schemeClr val="tx1"/>
                              </a:solidFill>
                              <a:latin typeface="Cambria Math" panose="02040503050406030204" pitchFamily="18" charset="0"/>
                              <a:ea typeface="Cambria Math" panose="02040503050406030204" pitchFamily="18" charset="0"/>
                            </a:rPr>
                            <m:t>1</m:t>
                          </m:r>
                        </m:sup>
                      </m:sSubSup>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d>
                            <m:dPr>
                              <m:ctrlPr>
                                <a:rPr lang="en-US" sz="2400" b="0" i="1" smtClean="0">
                                  <a:solidFill>
                                    <a:srgbClr val="FF0000"/>
                                  </a:solidFill>
                                  <a:latin typeface="Cambria Math" panose="02040503050406030204" pitchFamily="18" charset="0"/>
                                </a:rPr>
                              </m:ctrlPr>
                            </m:dPr>
                            <m:e>
                              <m:nary>
                                <m:naryPr>
                                  <m:chr m:val="∑"/>
                                  <m:ctrlPr>
                                    <a:rPr lang="en-US" sz="2400" b="0" i="1" smtClean="0">
                                      <a:solidFill>
                                        <a:srgbClr val="FF0000"/>
                                      </a:solidFill>
                                      <a:latin typeface="Cambria Math" panose="02040503050406030204" pitchFamily="18" charset="0"/>
                                    </a:rPr>
                                  </m:ctrlPr>
                                </m:naryPr>
                                <m:sub>
                                  <m:r>
                                    <a:rPr lang="en-US" sz="2400" b="0" i="1" smtClean="0">
                                      <a:solidFill>
                                        <a:srgbClr val="FF0000"/>
                                      </a:solidFill>
                                      <a:latin typeface="Cambria Math" panose="02040503050406030204" pitchFamily="18" charset="0"/>
                                    </a:rPr>
                                    <m:t>𝐵</m:t>
                                  </m:r>
                                </m:sub>
                                <m:sup>
                                  <m:r>
                                    <a:rPr lang="en-US" sz="2400" b="1" i="1">
                                      <a:solidFill>
                                        <a:srgbClr val="FF0000"/>
                                      </a:solidFill>
                                      <a:latin typeface="Cambria Math" panose="02040503050406030204" pitchFamily="18" charset="0"/>
                                    </a:rPr>
                                    <m:t> </m:t>
                                  </m:r>
                                </m:sup>
                                <m:e>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b="0" i="1" smtClean="0">
                                          <a:solidFill>
                                            <a:srgbClr val="FF0000"/>
                                          </a:solidFill>
                                          <a:latin typeface="Cambria Math" panose="02040503050406030204" pitchFamily="18" charset="0"/>
                                        </a:rPr>
                                        <m:t>𝐵</m:t>
                                      </m:r>
                                    </m:sub>
                                  </m:sSub>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𝝀</m:t>
                                      </m:r>
                                    </m:e>
                                    <m:sub>
                                      <m:r>
                                        <a:rPr lang="en-US" sz="2400" i="1">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𝐵</m:t>
                                      </m:r>
                                    </m:sub>
                                  </m:sSub>
                                </m:e>
                              </m:nary>
                            </m:e>
                          </m:d>
                        </m:e>
                      </m:d>
                    </m:oMath>
                  </m:oMathPara>
                </a14:m>
                <a:endParaRPr lang="en-US" sz="2400" dirty="0">
                  <a:solidFill>
                    <a:schemeClr val="tx1"/>
                  </a:solidFill>
                </a:endParaRPr>
              </a:p>
            </p:txBody>
          </p:sp>
        </mc:Choice>
        <mc:Fallback xmlns="">
          <p:sp>
            <p:nvSpPr>
              <p:cNvPr id="6" name="TextBox 5">
                <a:extLst>
                  <a:ext uri="{FF2B5EF4-FFF2-40B4-BE49-F238E27FC236}">
                    <a16:creationId xmlns:a16="http://schemas.microsoft.com/office/drawing/2014/main" id="{4D92FF80-6F1D-04F1-F33A-A1258F3341FE}"/>
                  </a:ext>
                </a:extLst>
              </p:cNvPr>
              <p:cNvSpPr txBox="1">
                <a:spLocks noRot="1" noChangeAspect="1" noMove="1" noResize="1" noEditPoints="1" noAdjustHandles="1" noChangeArrowheads="1" noChangeShapeType="1" noTextEdit="1"/>
              </p:cNvSpPr>
              <p:nvPr/>
            </p:nvSpPr>
            <p:spPr>
              <a:xfrm>
                <a:off x="1219200" y="2430863"/>
                <a:ext cx="9753600" cy="1073948"/>
              </a:xfrm>
              <a:prstGeom prst="rect">
                <a:avLst/>
              </a:prstGeom>
              <a:blipFill>
                <a:blip r:embed="rId3"/>
                <a:stretch>
                  <a:fillRect/>
                </a:stretch>
              </a:blipFill>
            </p:spPr>
            <p:txBody>
              <a:bodyPr/>
              <a:lstStyle/>
              <a:p>
                <a:r>
                  <a:rPr lang="en-US">
                    <a:noFill/>
                  </a:rPr>
                  <a:t> </a:t>
                </a:r>
              </a:p>
            </p:txBody>
          </p:sp>
        </mc:Fallback>
      </mc:AlternateContent>
      <p:sp>
        <p:nvSpPr>
          <p:cNvPr id="9" name="Content Placeholder 2">
            <a:extLst>
              <a:ext uri="{FF2B5EF4-FFF2-40B4-BE49-F238E27FC236}">
                <a16:creationId xmlns:a16="http://schemas.microsoft.com/office/drawing/2014/main" id="{33933A42-C203-A73A-BB99-80D8D2A3574F}"/>
              </a:ext>
            </a:extLst>
          </p:cNvPr>
          <p:cNvSpPr txBox="1">
            <a:spLocks/>
          </p:cNvSpPr>
          <p:nvPr/>
        </p:nvSpPr>
        <p:spPr>
          <a:xfrm>
            <a:off x="329390" y="3822284"/>
            <a:ext cx="11649251" cy="5368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Pull the sum out:</a:t>
            </a:r>
            <a:endParaRPr lang="en-US" b="1" dirty="0">
              <a:highlight>
                <a:srgbClr val="FFFF00"/>
              </a:highlight>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ECEA2B3-6A2F-8774-3A32-34635653A7D1}"/>
                  </a:ext>
                </a:extLst>
              </p:cNvPr>
              <p:cNvSpPr txBox="1"/>
              <p:nvPr/>
            </p:nvSpPr>
            <p:spPr>
              <a:xfrm>
                <a:off x="1219200" y="4896198"/>
                <a:ext cx="9753600" cy="986552"/>
              </a:xfrm>
              <a:prstGeom prst="rect">
                <a:avLst/>
              </a:prstGeom>
              <a:noFill/>
            </p:spPr>
            <p:txBody>
              <a:bodyPr wrap="square">
                <a:spAutoFit/>
              </a:bodyPr>
              <a:lstStyle/>
              <a:p>
                <a:pPr/>
                <a14:m>
                  <m:oMathPara xmlns:m="http://schemas.openxmlformats.org/officeDocument/2006/math">
                    <m:oMath>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𝜺</m:t>
                          </m:r>
                        </m:e>
                        <m:sub>
                          <m:r>
                            <a:rPr lang="en-US" sz="2400" i="1">
                              <a:solidFill>
                                <a:schemeClr val="tx1"/>
                              </a:solidFill>
                              <a:latin typeface="Cambria Math" panose="02040503050406030204" pitchFamily="18" charset="0"/>
                              <a:ea typeface="Cambria Math" panose="02040503050406030204" pitchFamily="18" charset="0"/>
                            </a:rPr>
                            <m:t>∗</m:t>
                          </m:r>
                        </m:sub>
                      </m:sSub>
                      <m:r>
                        <a:rPr lang="en-US" sz="2400" b="1" i="1">
                          <a:solidFill>
                            <a:schemeClr val="tx1"/>
                          </a:solidFill>
                          <a:latin typeface="Cambria Math" panose="02040503050406030204" pitchFamily="18" charset="0"/>
                        </a:rPr>
                        <m:t>=</m:t>
                      </m:r>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𝜦</m:t>
                          </m:r>
                        </m:e>
                        <m:sub>
                          <m:r>
                            <a:rPr lang="en-US" sz="2400" b="1" i="1">
                              <a:latin typeface="Cambria Math" panose="02040503050406030204" pitchFamily="18" charset="0"/>
                              <a:ea typeface="Cambria Math" panose="02040503050406030204" pitchFamily="18" charset="0"/>
                            </a:rPr>
                            <m:t>∗</m:t>
                          </m:r>
                        </m:sub>
                        <m:sup>
                          <m:r>
                            <a:rPr lang="en-US" sz="2400" b="1"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1</m:t>
                          </m:r>
                        </m:sup>
                      </m:sSubSup>
                      <m:d>
                        <m:dPr>
                          <m:begChr m:val="["/>
                          <m:endChr m:val="]"/>
                          <m:ctrlPr>
                            <a:rPr lang="en-US" sz="2400" b="1" i="1">
                              <a:solidFill>
                                <a:schemeClr val="tx1"/>
                              </a:solidFill>
                              <a:latin typeface="Cambria Math" panose="02040503050406030204" pitchFamily="18" charset="0"/>
                            </a:rPr>
                          </m:ctrlPr>
                        </m:dPr>
                        <m:e>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e>
                      </m:d>
                      <m:r>
                        <a:rPr lang="en-US" sz="2400" b="1">
                          <a:solidFill>
                            <a:schemeClr val="tx1"/>
                          </a:solidFill>
                          <a:latin typeface="Cambria Math" panose="02040503050406030204" pitchFamily="18" charset="0"/>
                        </a:rPr>
                        <m:t>+</m:t>
                      </m:r>
                      <m:nary>
                        <m:naryPr>
                          <m:chr m:val="∑"/>
                          <m:ctrlPr>
                            <a:rPr lang="en-US" sz="2400" b="0" i="1" smtClean="0">
                              <a:solidFill>
                                <a:srgbClr val="FF0000"/>
                              </a:solidFill>
                              <a:latin typeface="Cambria Math" panose="02040503050406030204" pitchFamily="18" charset="0"/>
                            </a:rPr>
                          </m:ctrlPr>
                        </m:naryPr>
                        <m:sub>
                          <m:r>
                            <m:rPr>
                              <m:brk m:alnAt="23"/>
                            </m:rPr>
                            <a:rPr lang="en-US" sz="2400" b="0" i="1" smtClean="0">
                              <a:solidFill>
                                <a:srgbClr val="FF0000"/>
                              </a:solidFill>
                              <a:latin typeface="Cambria Math" panose="02040503050406030204" pitchFamily="18" charset="0"/>
                            </a:rPr>
                            <m:t>𝐵</m:t>
                          </m:r>
                        </m:sub>
                        <m:sup>
                          <m:r>
                            <a:rPr lang="en-US" sz="2400" b="1" i="1" smtClean="0">
                              <a:solidFill>
                                <a:srgbClr val="FF0000"/>
                              </a:solidFill>
                              <a:latin typeface="Cambria Math" panose="02040503050406030204" pitchFamily="18" charset="0"/>
                            </a:rPr>
                            <m:t> </m:t>
                          </m:r>
                        </m:sup>
                        <m:e>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𝜦</m:t>
                              </m:r>
                            </m:e>
                            <m:sub>
                              <m:r>
                                <a:rPr lang="en-US" sz="2400" b="1" i="1">
                                  <a:latin typeface="Cambria Math" panose="02040503050406030204" pitchFamily="18" charset="0"/>
                                  <a:ea typeface="Cambria Math" panose="02040503050406030204" pitchFamily="18" charset="0"/>
                                </a:rPr>
                                <m:t>∗</m:t>
                              </m:r>
                            </m:sub>
                            <m:sup>
                              <m:r>
                                <a:rPr lang="en-US" sz="2400" b="1"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1</m:t>
                              </m:r>
                            </m:sup>
                          </m:sSubSup>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sSub>
                                <m:sSubPr>
                                  <m:ctrlPr>
                                    <a:rPr lang="en-US" sz="2400" b="1" i="1">
                                      <a:solidFill>
                                        <a:srgbClr val="FF0000"/>
                                      </a:solidFill>
                                      <a:latin typeface="Cambria Math" panose="02040503050406030204" pitchFamily="18" charset="0"/>
                                      <a:ea typeface="Cambria Math" panose="02040503050406030204" pitchFamily="18" charset="0"/>
                                    </a:rPr>
                                  </m:ctrlPr>
                                </m:sSubPr>
                                <m:e>
                                  <m:r>
                                    <a:rPr lang="en-US" sz="2400" b="1" i="1">
                                      <a:solidFill>
                                        <a:srgbClr val="FF0000"/>
                                      </a:solidFill>
                                      <a:latin typeface="Cambria Math" panose="02040503050406030204" pitchFamily="18" charset="0"/>
                                      <a:ea typeface="Cambria Math" panose="02040503050406030204" pitchFamily="18" charset="0"/>
                                    </a:rPr>
                                    <m:t>𝝀</m:t>
                                  </m:r>
                                </m:e>
                                <m:sub>
                                  <m:r>
                                    <a:rPr lang="en-US" sz="2400" i="1">
                                      <a:solidFill>
                                        <a:srgbClr val="FF0000"/>
                                      </a:solidFill>
                                      <a:latin typeface="Cambria Math" panose="02040503050406030204" pitchFamily="18" charset="0"/>
                                      <a:ea typeface="Cambria Math" panose="02040503050406030204" pitchFamily="18" charset="0"/>
                                    </a:rPr>
                                    <m:t>∗</m:t>
                                  </m:r>
                                  <m:r>
                                    <a:rPr lang="en-US" sz="2400" i="1">
                                      <a:solidFill>
                                        <a:srgbClr val="FF0000"/>
                                      </a:solidFill>
                                      <a:latin typeface="Cambria Math" panose="02040503050406030204" pitchFamily="18" charset="0"/>
                                      <a:ea typeface="Cambria Math" panose="02040503050406030204" pitchFamily="18" charset="0"/>
                                    </a:rPr>
                                    <m:t>𝐵</m:t>
                                  </m:r>
                                </m:sub>
                              </m:sSub>
                            </m:e>
                          </m:d>
                        </m:e>
                      </m:nary>
                    </m:oMath>
                  </m:oMathPara>
                </a14:m>
                <a:endParaRPr lang="en-US" sz="2400" dirty="0">
                  <a:solidFill>
                    <a:srgbClr val="FF0000"/>
                  </a:solidFill>
                </a:endParaRPr>
              </a:p>
            </p:txBody>
          </p:sp>
        </mc:Choice>
        <mc:Fallback xmlns="">
          <p:sp>
            <p:nvSpPr>
              <p:cNvPr id="11" name="TextBox 10">
                <a:extLst>
                  <a:ext uri="{FF2B5EF4-FFF2-40B4-BE49-F238E27FC236}">
                    <a16:creationId xmlns:a16="http://schemas.microsoft.com/office/drawing/2014/main" id="{FECEA2B3-6A2F-8774-3A32-34635653A7D1}"/>
                  </a:ext>
                </a:extLst>
              </p:cNvPr>
              <p:cNvSpPr txBox="1">
                <a:spLocks noRot="1" noChangeAspect="1" noMove="1" noResize="1" noEditPoints="1" noAdjustHandles="1" noChangeArrowheads="1" noChangeShapeType="1" noTextEdit="1"/>
              </p:cNvSpPr>
              <p:nvPr/>
            </p:nvSpPr>
            <p:spPr>
              <a:xfrm>
                <a:off x="1219200" y="4896198"/>
                <a:ext cx="9753600" cy="986552"/>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307688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69F36-5226-D35F-C7C4-78AC1506507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213ACDC-7244-8B6B-31C2-63001598EDCB}"/>
                  </a:ext>
                </a:extLst>
              </p:cNvPr>
              <p:cNvSpPr>
                <a:spLocks noGrp="1"/>
              </p:cNvSpPr>
              <p:nvPr>
                <p:ph idx="1"/>
              </p:nvPr>
            </p:nvSpPr>
            <p:spPr>
              <a:xfrm>
                <a:off x="303177" y="1187127"/>
                <a:ext cx="11292192" cy="489558"/>
              </a:xfrm>
            </p:spPr>
            <p:txBody>
              <a:bodyPr>
                <a:normAutofit/>
              </a:bodyPr>
              <a:lstStyle/>
              <a:p>
                <a:pPr marL="0" indent="0">
                  <a:buNone/>
                </a:pPr>
                <a:r>
                  <a:rPr lang="en-US" dirty="0"/>
                  <a:t>Define two new tensors (expressed acting on some tensor </a:t>
                </a:r>
                <a14:m>
                  <m:oMath xmlns:m="http://schemas.openxmlformats.org/officeDocument/2006/math">
                    <m:r>
                      <a:rPr lang="en-US" b="1" i="1">
                        <a:latin typeface="Cambria Math" panose="02040503050406030204" pitchFamily="18" charset="0"/>
                      </a:rPr>
                      <m:t>𝒗</m:t>
                    </m:r>
                  </m:oMath>
                </a14:m>
                <a:r>
                  <a:rPr lang="en-US" dirty="0"/>
                  <a:t>): </a:t>
                </a:r>
                <a:endParaRPr lang="en-US" b="1" dirty="0"/>
              </a:p>
            </p:txBody>
          </p:sp>
        </mc:Choice>
        <mc:Fallback xmlns="">
          <p:sp>
            <p:nvSpPr>
              <p:cNvPr id="3" name="Content Placeholder 2">
                <a:extLst>
                  <a:ext uri="{FF2B5EF4-FFF2-40B4-BE49-F238E27FC236}">
                    <a16:creationId xmlns:a16="http://schemas.microsoft.com/office/drawing/2014/main" id="{4213ACDC-7244-8B6B-31C2-63001598EDCB}"/>
                  </a:ext>
                </a:extLst>
              </p:cNvPr>
              <p:cNvSpPr>
                <a:spLocks noGrp="1" noRot="1" noChangeAspect="1" noMove="1" noResize="1" noEditPoints="1" noAdjustHandles="1" noChangeArrowheads="1" noChangeShapeType="1" noTextEdit="1"/>
              </p:cNvSpPr>
              <p:nvPr>
                <p:ph idx="1"/>
              </p:nvPr>
            </p:nvSpPr>
            <p:spPr>
              <a:xfrm>
                <a:off x="303177" y="1187127"/>
                <a:ext cx="11292192" cy="489558"/>
              </a:xfrm>
              <a:blipFill>
                <a:blip r:embed="rId2"/>
                <a:stretch>
                  <a:fillRect l="-1134" t="-22500" b="-32500"/>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F527299C-29B9-FE20-21B6-B4DECC4C1FF4}"/>
              </a:ext>
            </a:extLst>
          </p:cNvPr>
          <p:cNvSpPr txBox="1">
            <a:spLocks/>
          </p:cNvSpPr>
          <p:nvPr/>
        </p:nvSpPr>
        <p:spPr>
          <a:xfrm>
            <a:off x="30317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CP (10)</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C1E1F2C-EC32-2132-3CAF-BDB5ACEF6B3D}"/>
                  </a:ext>
                </a:extLst>
              </p:cNvPr>
              <p:cNvSpPr txBox="1"/>
              <p:nvPr/>
            </p:nvSpPr>
            <p:spPr>
              <a:xfrm>
                <a:off x="3048811" y="1861392"/>
                <a:ext cx="6094378" cy="462884"/>
              </a:xfrm>
              <a:prstGeom prst="rect">
                <a:avLst/>
              </a:prstGeom>
              <a:noFill/>
            </p:spPr>
            <p:txBody>
              <a:bodyPr wrap="square">
                <a:spAutoFit/>
              </a:bodyPr>
              <a:lstStyle/>
              <a:p>
                <a:pPr algn="ctr"/>
                <a14:m>
                  <m:oMathPara xmlns:m="http://schemas.openxmlformats.org/officeDocument/2006/math">
                    <m:oMath>
                      <m:sSup>
                        <m:sSupPr>
                          <m:ctrlPr>
                            <a:rPr lang="en-US" sz="2400" b="1" i="1" smtClean="0">
                              <a:solidFill>
                                <a:schemeClr val="tx1"/>
                              </a:solidFill>
                              <a:latin typeface="Cambria Math" panose="02040503050406030204" pitchFamily="18" charset="0"/>
                              <a:ea typeface="Cambria Math" panose="02040503050406030204" pitchFamily="18" charset="0"/>
                            </a:rPr>
                          </m:ctrlPr>
                        </m:sSupPr>
                        <m:e>
                          <m:r>
                            <a:rPr lang="en-US" sz="2400" b="1" i="1" smtClean="0">
                              <a:solidFill>
                                <a:schemeClr val="tx1"/>
                              </a:solidFill>
                              <a:latin typeface="Cambria Math" panose="02040503050406030204" pitchFamily="18" charset="0"/>
                              <a:ea typeface="Cambria Math" panose="02040503050406030204" pitchFamily="18" charset="0"/>
                            </a:rPr>
                            <m:t>𝑬</m:t>
                          </m:r>
                        </m:e>
                        <m:sup>
                          <m:r>
                            <a:rPr lang="en-US" sz="2400" b="0" i="1" smtClean="0">
                              <a:solidFill>
                                <a:schemeClr val="tx1"/>
                              </a:solidFill>
                              <a:latin typeface="Cambria Math" panose="02040503050406030204" pitchFamily="18" charset="0"/>
                              <a:ea typeface="Cambria Math" panose="02040503050406030204" pitchFamily="18" charset="0"/>
                            </a:rPr>
                            <m:t>𝐶𝑃</m:t>
                          </m:r>
                        </m:sup>
                      </m:sSup>
                      <m:d>
                        <m:dPr>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𝒙</m:t>
                          </m:r>
                        </m:e>
                      </m:d>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𝒗</m:t>
                      </m:r>
                      <m:r>
                        <a:rPr lang="en-US" sz="2400" b="1" i="1" smtClean="0">
                          <a:solidFill>
                            <a:schemeClr val="tx1"/>
                          </a:solidFill>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𝜦</m:t>
                              </m:r>
                            </m:e>
                            <m:sub>
                              <m:r>
                                <a:rPr lang="en-US" sz="2400" b="1" i="1">
                                  <a:latin typeface="Cambria Math" panose="02040503050406030204" pitchFamily="18" charset="0"/>
                                  <a:ea typeface="Cambria Math" panose="02040503050406030204" pitchFamily="18" charset="0"/>
                                </a:rPr>
                                <m:t>∗</m:t>
                              </m:r>
                            </m:sub>
                            <m:sup>
                              <m:r>
                                <a:rPr lang="en-US" sz="2400" b="1"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1</m:t>
                              </m:r>
                            </m:sup>
                          </m:sSubSup>
                          <m:d>
                            <m:dPr>
                              <m:begChr m:val="["/>
                              <m:endChr m:val="]"/>
                              <m:ctrlPr>
                                <a:rPr lang="en-US" sz="2400" b="1" i="1">
                                  <a:latin typeface="Cambria Math" panose="02040503050406030204" pitchFamily="18" charset="0"/>
                                </a:rPr>
                              </m:ctrlPr>
                            </m:dPr>
                            <m:e>
                              <m:r>
                                <a:rPr lang="en-US" sz="2400" b="1" i="1">
                                  <a:latin typeface="Cambria Math" panose="02040503050406030204" pitchFamily="18" charset="0"/>
                                </a:rPr>
                                <m:t>𝒗</m:t>
                              </m:r>
                            </m:e>
                          </m:d>
                        </m:e>
                      </m:d>
                      <m:r>
                        <a:rPr lang="en-US" sz="2400" b="1" i="1" smtClean="0">
                          <a:latin typeface="Cambria Math" panose="02040503050406030204" pitchFamily="18" charset="0"/>
                        </a:rPr>
                        <m:t>(</m:t>
                      </m:r>
                      <m:r>
                        <a:rPr lang="en-US" sz="2400" b="1" i="1" smtClean="0">
                          <a:latin typeface="Cambria Math" panose="02040503050406030204" pitchFamily="18" charset="0"/>
                        </a:rPr>
                        <m:t>𝒙</m:t>
                      </m:r>
                      <m:r>
                        <a:rPr lang="en-US" sz="2400" b="1" i="1" smtClean="0">
                          <a:latin typeface="Cambria Math" panose="02040503050406030204" pitchFamily="18" charset="0"/>
                        </a:rPr>
                        <m:t>)</m:t>
                      </m:r>
                    </m:oMath>
                  </m:oMathPara>
                </a14:m>
                <a:endParaRPr lang="en-US" sz="2400" dirty="0">
                  <a:solidFill>
                    <a:schemeClr val="tx1"/>
                  </a:solidFill>
                </a:endParaRPr>
              </a:p>
            </p:txBody>
          </p:sp>
        </mc:Choice>
        <mc:Fallback xmlns="">
          <p:sp>
            <p:nvSpPr>
              <p:cNvPr id="4" name="TextBox 3">
                <a:extLst>
                  <a:ext uri="{FF2B5EF4-FFF2-40B4-BE49-F238E27FC236}">
                    <a16:creationId xmlns:a16="http://schemas.microsoft.com/office/drawing/2014/main" id="{0C1E1F2C-EC32-2132-3CAF-BDB5ACEF6B3D}"/>
                  </a:ext>
                </a:extLst>
              </p:cNvPr>
              <p:cNvSpPr txBox="1">
                <a:spLocks noRot="1" noChangeAspect="1" noMove="1" noResize="1" noEditPoints="1" noAdjustHandles="1" noChangeArrowheads="1" noChangeShapeType="1" noTextEdit="1"/>
              </p:cNvSpPr>
              <p:nvPr/>
            </p:nvSpPr>
            <p:spPr>
              <a:xfrm>
                <a:off x="3048811" y="1861392"/>
                <a:ext cx="6094378" cy="462884"/>
              </a:xfrm>
              <a:prstGeom prst="rect">
                <a:avLst/>
              </a:prstGeom>
              <a:blipFill>
                <a:blip r:embed="rId3"/>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7510512-6E31-2AC7-BFFF-D884BBA5E77B}"/>
                  </a:ext>
                </a:extLst>
              </p:cNvPr>
              <p:cNvSpPr txBox="1"/>
              <p:nvPr/>
            </p:nvSpPr>
            <p:spPr>
              <a:xfrm>
                <a:off x="3048811" y="2546735"/>
                <a:ext cx="6094378" cy="471539"/>
              </a:xfrm>
              <a:prstGeom prst="rect">
                <a:avLst/>
              </a:prstGeom>
              <a:noFill/>
            </p:spPr>
            <p:txBody>
              <a:bodyPr wrap="square">
                <a:spAutoFit/>
              </a:bodyPr>
              <a:lstStyle/>
              <a:p>
                <a:pPr algn="ctr"/>
                <a14:m>
                  <m:oMathPara xmlns:m="http://schemas.openxmlformats.org/officeDocument/2006/math">
                    <m:oMath>
                      <m:sSubSup>
                        <m:sSubSupPr>
                          <m:ctrlPr>
                            <a:rPr lang="en-US" sz="2400" b="1" i="1" smtClean="0">
                              <a:solidFill>
                                <a:schemeClr val="tx1"/>
                              </a:solidFill>
                              <a:latin typeface="Cambria Math" panose="02040503050406030204" pitchFamily="18" charset="0"/>
                              <a:ea typeface="Cambria Math" panose="02040503050406030204" pitchFamily="18" charset="0"/>
                            </a:rPr>
                          </m:ctrlPr>
                        </m:sSubSupPr>
                        <m:e>
                          <m:r>
                            <a:rPr lang="en-US" sz="2400" b="1" i="1" smtClean="0">
                              <a:solidFill>
                                <a:schemeClr val="tx1"/>
                              </a:solidFill>
                              <a:latin typeface="Cambria Math" panose="02040503050406030204" pitchFamily="18" charset="0"/>
                              <a:ea typeface="Cambria Math" panose="02040503050406030204" pitchFamily="18" charset="0"/>
                            </a:rPr>
                            <m:t>𝑷</m:t>
                          </m:r>
                        </m:e>
                        <m:sub>
                          <m: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i="1">
                              <a:solidFill>
                                <a:schemeClr val="tx1"/>
                              </a:solidFill>
                              <a:latin typeface="Cambria Math" panose="02040503050406030204" pitchFamily="18" charset="0"/>
                              <a:ea typeface="Cambria Math" panose="02040503050406030204" pitchFamily="18" charset="0"/>
                            </a:rPr>
                            <m:t>𝐶𝑃</m:t>
                          </m:r>
                        </m:sup>
                      </m:sSubSup>
                      <m:d>
                        <m:dPr>
                          <m:ctrlPr>
                            <a:rPr lang="en-US" sz="2400" b="1" i="1" smtClean="0">
                              <a:solidFill>
                                <a:schemeClr val="tx1"/>
                              </a:solidFill>
                              <a:latin typeface="Cambria Math" panose="02040503050406030204" pitchFamily="18" charset="0"/>
                              <a:ea typeface="Cambria Math" panose="02040503050406030204" pitchFamily="18" charset="0"/>
                            </a:rPr>
                          </m:ctrlPr>
                        </m:dPr>
                        <m:e>
                          <m:r>
                            <a:rPr lang="en-US" sz="2400" b="1" i="1" smtClean="0">
                              <a:solidFill>
                                <a:schemeClr val="tx1"/>
                              </a:solidFill>
                              <a:latin typeface="Cambria Math" panose="02040503050406030204" pitchFamily="18" charset="0"/>
                              <a:ea typeface="Cambria Math" panose="02040503050406030204" pitchFamily="18" charset="0"/>
                            </a:rPr>
                            <m:t>𝒙</m:t>
                          </m:r>
                        </m:e>
                      </m:d>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ea typeface="Cambria Math" panose="02040503050406030204" pitchFamily="18" charset="0"/>
                        </a:rPr>
                        <m:t>𝒗</m:t>
                      </m:r>
                      <m:r>
                        <a:rPr lang="en-US" sz="2400" b="1" i="1" smtClean="0">
                          <a:solidFill>
                            <a:schemeClr val="tx1"/>
                          </a:solidFill>
                          <a:latin typeface="Cambria Math" panose="02040503050406030204" pitchFamily="18" charset="0"/>
                          <a:ea typeface="Cambria Math" panose="02040503050406030204" pitchFamily="18" charset="0"/>
                        </a:rPr>
                        <m:t>=</m:t>
                      </m:r>
                      <m:d>
                        <m:dPr>
                          <m:ctrlPr>
                            <a:rPr lang="en-US" sz="2400" b="1" i="1">
                              <a:latin typeface="Cambria Math" panose="02040503050406030204" pitchFamily="18" charset="0"/>
                              <a:ea typeface="Cambria Math" panose="02040503050406030204" pitchFamily="18" charset="0"/>
                            </a:rPr>
                          </m:ctrlPr>
                        </m:dPr>
                        <m:e>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𝜦</m:t>
                              </m:r>
                            </m:e>
                            <m:sub>
                              <m:r>
                                <a:rPr lang="en-US" sz="2400" b="1" i="1">
                                  <a:latin typeface="Cambria Math" panose="02040503050406030204" pitchFamily="18" charset="0"/>
                                  <a:ea typeface="Cambria Math" panose="02040503050406030204" pitchFamily="18" charset="0"/>
                                </a:rPr>
                                <m:t>∗</m:t>
                              </m:r>
                            </m:sub>
                            <m:sup>
                              <m:r>
                                <a:rPr lang="en-US" sz="2400" b="1" i="1">
                                  <a:latin typeface="Cambria Math" panose="02040503050406030204" pitchFamily="18" charset="0"/>
                                  <a:ea typeface="Cambria Math" panose="02040503050406030204" pitchFamily="18" charset="0"/>
                                </a:rPr>
                                <m:t>−</m:t>
                              </m:r>
                              <m:r>
                                <a:rPr lang="en-US" sz="2400" b="0" i="1">
                                  <a:latin typeface="Cambria Math" panose="02040503050406030204" pitchFamily="18" charset="0"/>
                                  <a:ea typeface="Cambria Math" panose="02040503050406030204" pitchFamily="18" charset="0"/>
                                </a:rPr>
                                <m:t>1</m:t>
                              </m:r>
                            </m:sup>
                          </m:sSubSup>
                          <m:sSub>
                            <m:sSubPr>
                              <m:ctrlPr>
                                <a:rPr lang="en-US" sz="2400" b="1">
                                  <a:solidFill>
                                    <a:schemeClr val="tx1"/>
                                  </a:solidFill>
                                  <a:latin typeface="Cambria Math" panose="02040503050406030204" pitchFamily="18" charset="0"/>
                                </a:rPr>
                              </m:ctrlPr>
                            </m:sSubPr>
                            <m:e>
                              <m:r>
                                <a:rPr lang="en-US" sz="2400" b="1">
                                  <a:solidFill>
                                    <a:schemeClr val="tx1"/>
                                  </a:solidFill>
                                  <a:latin typeface="Cambria Math" panose="02040503050406030204" pitchFamily="18" charset="0"/>
                                </a:rPr>
                                <m:t>𝚪</m:t>
                              </m:r>
                            </m:e>
                            <m:sub>
                              <m:r>
                                <a:rPr lang="en-US" sz="2400" i="1">
                                  <a:solidFill>
                                    <a:schemeClr val="tx1"/>
                                  </a:solidFill>
                                  <a:latin typeface="Cambria Math" panose="02040503050406030204" pitchFamily="18" charset="0"/>
                                </a:rPr>
                                <m:t>∗</m:t>
                              </m:r>
                            </m:sub>
                          </m:sSub>
                          <m:d>
                            <m:dPr>
                              <m:begChr m:val="["/>
                              <m:endChr m:val="]"/>
                              <m:ctrlPr>
                                <a:rPr lang="en-US" sz="2400" b="1" i="1">
                                  <a:solidFill>
                                    <a:schemeClr val="tx1"/>
                                  </a:solidFill>
                                  <a:latin typeface="Cambria Math" panose="02040503050406030204" pitchFamily="18" charset="0"/>
                                </a:rPr>
                              </m:ctrlPr>
                            </m:dPr>
                            <m:e>
                              <m:d>
                                <m:dPr>
                                  <m:ctrlPr>
                                    <a:rPr lang="en-US" sz="2400" b="1" i="1">
                                      <a:solidFill>
                                        <a:schemeClr val="tx1"/>
                                      </a:solidFill>
                                      <a:latin typeface="Cambria Math" panose="02040503050406030204" pitchFamily="18" charset="0"/>
                                    </a:rPr>
                                  </m:ctrlPr>
                                </m:dPr>
                                <m:e>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m:t>
                                      </m:r>
                                    </m:sub>
                                  </m:sSub>
                                  <m:r>
                                    <a:rPr lang="en-US" sz="2400" b="1" i="1">
                                      <a:solidFill>
                                        <a:schemeClr val="tx1"/>
                                      </a:solidFill>
                                      <a:latin typeface="Cambria Math" panose="02040503050406030204" pitchFamily="18" charset="0"/>
                                    </a:rPr>
                                    <m:t>−</m:t>
                                  </m:r>
                                  <m:sSub>
                                    <m:sSubPr>
                                      <m:ctrlPr>
                                        <a:rPr lang="en-US" sz="2400" b="1" i="1">
                                          <a:solidFill>
                                            <a:schemeClr val="tx1"/>
                                          </a:solidFill>
                                          <a:latin typeface="Cambria Math" panose="02040503050406030204" pitchFamily="18" charset="0"/>
                                        </a:rPr>
                                      </m:ctrlPr>
                                    </m:sSubPr>
                                    <m:e>
                                      <m:r>
                                        <a:rPr lang="en-US" sz="2400" b="1" i="1">
                                          <a:solidFill>
                                            <a:schemeClr val="tx1"/>
                                          </a:solidFill>
                                          <a:latin typeface="Cambria Math" panose="02040503050406030204" pitchFamily="18" charset="0"/>
                                        </a:rPr>
                                        <m:t>𝑪</m:t>
                                      </m:r>
                                    </m:e>
                                    <m:sub>
                                      <m:r>
                                        <a:rPr lang="en-US" sz="2400" i="1">
                                          <a:solidFill>
                                            <a:schemeClr val="tx1"/>
                                          </a:solidFill>
                                          <a:latin typeface="Cambria Math" panose="02040503050406030204" pitchFamily="18" charset="0"/>
                                        </a:rPr>
                                        <m:t>0</m:t>
                                      </m:r>
                                    </m:sub>
                                  </m:sSub>
                                </m:e>
                              </m:d>
                              <m:r>
                                <a:rPr lang="en-US" sz="2400" b="1" i="1">
                                  <a:solidFill>
                                    <a:schemeClr val="tx1"/>
                                  </a:solidFill>
                                  <a:latin typeface="Cambria Math" panose="02040503050406030204" pitchFamily="18" charset="0"/>
                                </a:rPr>
                                <m:t>:</m:t>
                              </m:r>
                              <m:sSub>
                                <m:sSubPr>
                                  <m:ctrlPr>
                                    <a:rPr lang="en-US" sz="2400" i="1">
                                      <a:solidFill>
                                        <a:schemeClr val="tx1"/>
                                      </a:solidFill>
                                      <a:latin typeface="Cambria Math" panose="02040503050406030204" pitchFamily="18" charset="0"/>
                                    </a:rPr>
                                  </m:ctrlPr>
                                </m:sSubPr>
                                <m:e>
                                  <m:r>
                                    <a:rPr lang="en-US" sz="2400" i="1">
                                      <a:solidFill>
                                        <a:schemeClr val="tx1"/>
                                      </a:solidFill>
                                      <a:latin typeface="Cambria Math" panose="02040503050406030204" pitchFamily="18" charset="0"/>
                                    </a:rPr>
                                    <m:t>𝜒</m:t>
                                  </m:r>
                                </m:e>
                                <m:sub>
                                  <m:r>
                                    <a:rPr lang="en-US" sz="2400" i="1">
                                      <a:solidFill>
                                        <a:schemeClr val="tx1"/>
                                      </a:solidFill>
                                      <a:latin typeface="Cambria Math" panose="02040503050406030204" pitchFamily="18" charset="0"/>
                                    </a:rPr>
                                    <m:t>𝐵</m:t>
                                  </m:r>
                                </m:sub>
                              </m:sSub>
                              <m:r>
                                <a:rPr lang="en-US" sz="2400" b="1" i="1" smtClean="0">
                                  <a:solidFill>
                                    <a:schemeClr val="tx1"/>
                                  </a:solidFill>
                                  <a:latin typeface="Cambria Math" panose="02040503050406030204" pitchFamily="18" charset="0"/>
                                  <a:ea typeface="Cambria Math" panose="02040503050406030204" pitchFamily="18" charset="0"/>
                                </a:rPr>
                                <m:t>𝒗</m:t>
                              </m:r>
                            </m:e>
                          </m:d>
                        </m:e>
                      </m:d>
                      <m:r>
                        <a:rPr lang="en-US" sz="2400" b="1" i="1" smtClean="0">
                          <a:solidFill>
                            <a:schemeClr val="tx1"/>
                          </a:solidFill>
                          <a:latin typeface="Cambria Math" panose="02040503050406030204" pitchFamily="18" charset="0"/>
                        </a:rPr>
                        <m:t>(</m:t>
                      </m:r>
                      <m:r>
                        <a:rPr lang="en-US" sz="2400" b="1" i="1" smtClean="0">
                          <a:solidFill>
                            <a:schemeClr val="tx1"/>
                          </a:solidFill>
                          <a:latin typeface="Cambria Math" panose="02040503050406030204" pitchFamily="18" charset="0"/>
                        </a:rPr>
                        <m:t>𝒙</m:t>
                      </m:r>
                      <m:r>
                        <a:rPr lang="en-US" sz="2400" b="1" i="1" smtClean="0">
                          <a:solidFill>
                            <a:schemeClr val="tx1"/>
                          </a:solidFill>
                          <a:latin typeface="Cambria Math" panose="02040503050406030204" pitchFamily="18" charset="0"/>
                        </a:rPr>
                        <m:t>)</m:t>
                      </m:r>
                    </m:oMath>
                  </m:oMathPara>
                </a14:m>
                <a:endParaRPr lang="en-US" sz="2400" dirty="0">
                  <a:solidFill>
                    <a:schemeClr val="tx1"/>
                  </a:solidFill>
                </a:endParaRPr>
              </a:p>
            </p:txBody>
          </p:sp>
        </mc:Choice>
        <mc:Fallback xmlns="">
          <p:sp>
            <p:nvSpPr>
              <p:cNvPr id="8" name="TextBox 7">
                <a:extLst>
                  <a:ext uri="{FF2B5EF4-FFF2-40B4-BE49-F238E27FC236}">
                    <a16:creationId xmlns:a16="http://schemas.microsoft.com/office/drawing/2014/main" id="{F7510512-6E31-2AC7-BFFF-D884BBA5E77B}"/>
                  </a:ext>
                </a:extLst>
              </p:cNvPr>
              <p:cNvSpPr txBox="1">
                <a:spLocks noRot="1" noChangeAspect="1" noMove="1" noResize="1" noEditPoints="1" noAdjustHandles="1" noChangeArrowheads="1" noChangeShapeType="1" noTextEdit="1"/>
              </p:cNvSpPr>
              <p:nvPr/>
            </p:nvSpPr>
            <p:spPr>
              <a:xfrm>
                <a:off x="3048811" y="2546735"/>
                <a:ext cx="6094378" cy="471539"/>
              </a:xfrm>
              <a:prstGeom prst="rect">
                <a:avLst/>
              </a:prstGeom>
              <a:blipFill>
                <a:blip r:embed="rId4"/>
                <a:stretch>
                  <a:fillRect b="-16883"/>
                </a:stretch>
              </a:blipFill>
            </p:spPr>
            <p:txBody>
              <a:bodyPr/>
              <a:lstStyle/>
              <a:p>
                <a:r>
                  <a:rPr lang="en-US">
                    <a:noFill/>
                  </a:rPr>
                  <a:t> </a:t>
                </a:r>
              </a:p>
            </p:txBody>
          </p:sp>
        </mc:Fallback>
      </mc:AlternateContent>
      <p:sp>
        <p:nvSpPr>
          <p:cNvPr id="10" name="Content Placeholder 2">
            <a:extLst>
              <a:ext uri="{FF2B5EF4-FFF2-40B4-BE49-F238E27FC236}">
                <a16:creationId xmlns:a16="http://schemas.microsoft.com/office/drawing/2014/main" id="{BF304B45-C982-2472-9D18-765AF2CFDBC7}"/>
              </a:ext>
            </a:extLst>
          </p:cNvPr>
          <p:cNvSpPr txBox="1">
            <a:spLocks/>
          </p:cNvSpPr>
          <p:nvPr/>
        </p:nvSpPr>
        <p:spPr>
          <a:xfrm>
            <a:off x="303177" y="3223776"/>
            <a:ext cx="11292192" cy="489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Then we have:</a:t>
            </a:r>
            <a:endParaRPr lang="en-US" b="1" dirty="0"/>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3E91AD2-246E-451C-1546-8DB2430CEDA0}"/>
                  </a:ext>
                </a:extLst>
              </p:cNvPr>
              <p:cNvSpPr txBox="1"/>
              <p:nvPr/>
            </p:nvSpPr>
            <p:spPr>
              <a:xfrm>
                <a:off x="3048811" y="3536949"/>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latin typeface="Cambria Math" panose="02040503050406030204" pitchFamily="18" charset="0"/>
                              <a:ea typeface="Cambria Math" panose="02040503050406030204" pitchFamily="18" charset="0"/>
                            </a:rPr>
                          </m:ctrlPr>
                        </m:sSubPr>
                        <m:e>
                          <m:r>
                            <a:rPr lang="en-US" sz="2400" b="1" i="1" smtClean="0">
                              <a:latin typeface="Cambria Math" panose="02040503050406030204" pitchFamily="18" charset="0"/>
                              <a:ea typeface="Cambria Math" panose="02040503050406030204" pitchFamily="18" charset="0"/>
                            </a:rPr>
                            <m:t>𝜺</m:t>
                          </m:r>
                        </m:e>
                        <m:sub>
                          <m:r>
                            <a:rPr lang="en-US" sz="2400" b="1" i="1" smtClean="0">
                              <a:latin typeface="Cambria Math" panose="02040503050406030204" pitchFamily="18" charset="0"/>
                              <a:ea typeface="Cambria Math" panose="02040503050406030204" pitchFamily="18" charset="0"/>
                            </a:rPr>
                            <m:t>∗</m:t>
                          </m:r>
                        </m:sub>
                      </m:sSub>
                      <m:r>
                        <a:rPr lang="en-US" sz="2400" b="1" i="1" smtClean="0">
                          <a:latin typeface="Cambria Math" panose="02040503050406030204" pitchFamily="18" charset="0"/>
                          <a:ea typeface="Cambria Math" panose="02040503050406030204" pitchFamily="18" charset="0"/>
                        </a:rPr>
                        <m:t>(</m:t>
                      </m:r>
                      <m:r>
                        <a:rPr lang="en-US" sz="2400" b="1" i="1" smtClean="0">
                          <a:latin typeface="Cambria Math" panose="02040503050406030204" pitchFamily="18" charset="0"/>
                          <a:ea typeface="Cambria Math" panose="02040503050406030204" pitchFamily="18" charset="0"/>
                        </a:rPr>
                        <m:t>𝒙</m:t>
                      </m:r>
                      <m:r>
                        <a:rPr lang="en-US" sz="2400" b="1" i="1" smtClean="0">
                          <a:latin typeface="Cambria Math" panose="02040503050406030204" pitchFamily="18" charset="0"/>
                          <a:ea typeface="Cambria Math" panose="02040503050406030204" pitchFamily="18" charset="0"/>
                        </a:rPr>
                        <m:t>)=</m:t>
                      </m:r>
                      <m:sSup>
                        <m:sSupPr>
                          <m:ctrlPr>
                            <a:rPr lang="en-US" sz="2400" b="1" i="1" smtClean="0">
                              <a:solidFill>
                                <a:srgbClr val="FF0000"/>
                              </a:solidFill>
                              <a:latin typeface="Cambria Math" panose="02040503050406030204" pitchFamily="18" charset="0"/>
                              <a:ea typeface="Cambria Math" panose="02040503050406030204" pitchFamily="18" charset="0"/>
                            </a:rPr>
                          </m:ctrlPr>
                        </m:sSupPr>
                        <m:e>
                          <m:r>
                            <a:rPr lang="en-US" sz="2400" b="1" i="1" smtClean="0">
                              <a:solidFill>
                                <a:srgbClr val="FF0000"/>
                              </a:solidFill>
                              <a:latin typeface="Cambria Math" panose="02040503050406030204" pitchFamily="18" charset="0"/>
                              <a:ea typeface="Cambria Math" panose="02040503050406030204" pitchFamily="18" charset="0"/>
                            </a:rPr>
                            <m:t>𝑬</m:t>
                          </m:r>
                        </m:e>
                        <m:sup>
                          <m:r>
                            <a:rPr lang="en-US" sz="2400" i="1" smtClean="0">
                              <a:solidFill>
                                <a:srgbClr val="FF0000"/>
                              </a:solidFill>
                              <a:latin typeface="Cambria Math" panose="02040503050406030204" pitchFamily="18" charset="0"/>
                              <a:ea typeface="Cambria Math" panose="02040503050406030204" pitchFamily="18" charset="0"/>
                            </a:rPr>
                            <m:t>𝐶𝑃</m:t>
                          </m:r>
                        </m:sup>
                      </m:sSup>
                      <m:d>
                        <m:dPr>
                          <m:ctrlPr>
                            <a:rPr lang="en-US" sz="2400" b="1" i="1">
                              <a:solidFill>
                                <a:srgbClr val="FF0000"/>
                              </a:solidFill>
                              <a:latin typeface="Cambria Math" panose="02040503050406030204" pitchFamily="18" charset="0"/>
                              <a:ea typeface="Cambria Math" panose="02040503050406030204" pitchFamily="18" charset="0"/>
                            </a:rPr>
                          </m:ctrlPr>
                        </m:dPr>
                        <m:e>
                          <m:r>
                            <a:rPr lang="en-US" sz="2400" b="1" i="1">
                              <a:solidFill>
                                <a:srgbClr val="FF0000"/>
                              </a:solidFill>
                              <a:latin typeface="Cambria Math" panose="02040503050406030204" pitchFamily="18" charset="0"/>
                              <a:ea typeface="Cambria Math" panose="02040503050406030204" pitchFamily="18" charset="0"/>
                            </a:rPr>
                            <m:t>𝒙</m:t>
                          </m:r>
                        </m:e>
                      </m:d>
                      <m:r>
                        <a:rPr lang="en-US" sz="2400" b="1" i="1">
                          <a:latin typeface="Cambria Math" panose="02040503050406030204" pitchFamily="18" charset="0"/>
                          <a:ea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𝜺</m:t>
                          </m:r>
                        </m:e>
                      </m:acc>
                      <m:r>
                        <a:rPr lang="en-US" sz="2400" b="1" i="1">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𝑷</m:t>
                              </m:r>
                            </m:e>
                            <m:sub>
                              <m:r>
                                <a:rPr lang="en-US" sz="2400" i="1">
                                  <a:solidFill>
                                    <a:srgbClr val="FF0000"/>
                                  </a:solidFill>
                                  <a:latin typeface="Cambria Math" panose="02040503050406030204" pitchFamily="18" charset="0"/>
                                  <a:ea typeface="Cambria Math" panose="02040503050406030204" pitchFamily="18" charset="0"/>
                                </a:rPr>
                                <m:t>𝐵</m:t>
                              </m:r>
                            </m:sub>
                            <m:sup>
                              <m:r>
                                <a:rPr lang="en-US" sz="2400" i="1" smtClean="0">
                                  <a:solidFill>
                                    <a:srgbClr val="FF0000"/>
                                  </a:solidFill>
                                  <a:latin typeface="Cambria Math" panose="02040503050406030204" pitchFamily="18" charset="0"/>
                                  <a:ea typeface="Cambria Math" panose="02040503050406030204" pitchFamily="18" charset="0"/>
                                </a:rPr>
                                <m:t>𝐶𝑃</m:t>
                              </m:r>
                            </m:sup>
                          </m:sSubSup>
                          <m:d>
                            <m:dPr>
                              <m:ctrlPr>
                                <a:rPr lang="en-US" sz="2400" b="1" i="1">
                                  <a:solidFill>
                                    <a:srgbClr val="FF0000"/>
                                  </a:solidFill>
                                  <a:latin typeface="Cambria Math" panose="02040503050406030204" pitchFamily="18" charset="0"/>
                                  <a:ea typeface="Cambria Math" panose="02040503050406030204" pitchFamily="18" charset="0"/>
                                </a:rPr>
                              </m:ctrlPr>
                            </m:dPr>
                            <m:e>
                              <m:r>
                                <a:rPr lang="en-US" sz="2400" b="1" i="1">
                                  <a:solidFill>
                                    <a:srgbClr val="FF0000"/>
                                  </a:solidFill>
                                  <a:latin typeface="Cambria Math" panose="02040503050406030204" pitchFamily="18" charset="0"/>
                                  <a:ea typeface="Cambria Math" panose="02040503050406030204" pitchFamily="18" charset="0"/>
                                </a:rPr>
                                <m:t>𝒙</m:t>
                              </m:r>
                            </m:e>
                          </m:d>
                          <m:r>
                            <a:rPr lang="en-US" sz="2400" b="1" i="1">
                              <a:latin typeface="Cambria Math" panose="02040503050406030204" pitchFamily="18" charset="0"/>
                              <a:ea typeface="Cambria Math" panose="02040503050406030204" pitchFamily="18" charset="0"/>
                            </a:rPr>
                            <m:t>:</m:t>
                          </m:r>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𝝀</m:t>
                              </m:r>
                            </m:e>
                            <m:sub>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13" name="TextBox 12">
                <a:extLst>
                  <a:ext uri="{FF2B5EF4-FFF2-40B4-BE49-F238E27FC236}">
                    <a16:creationId xmlns:a16="http://schemas.microsoft.com/office/drawing/2014/main" id="{A3E91AD2-246E-451C-1546-8DB2430CEDA0}"/>
                  </a:ext>
                </a:extLst>
              </p:cNvPr>
              <p:cNvSpPr txBox="1">
                <a:spLocks noRot="1" noChangeAspect="1" noMove="1" noResize="1" noEditPoints="1" noAdjustHandles="1" noChangeArrowheads="1" noChangeShapeType="1" noTextEdit="1"/>
              </p:cNvSpPr>
              <p:nvPr/>
            </p:nvSpPr>
            <p:spPr>
              <a:xfrm>
                <a:off x="3048811" y="3536949"/>
                <a:ext cx="6094378" cy="9865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53938E63-B0AA-7506-2241-2CEEC43D7D8C}"/>
                  </a:ext>
                </a:extLst>
              </p:cNvPr>
              <p:cNvSpPr txBox="1"/>
              <p:nvPr/>
            </p:nvSpPr>
            <p:spPr>
              <a:xfrm>
                <a:off x="3048811" y="5774846"/>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solidFill>
                                <a:srgbClr val="FF0000"/>
                              </a:solidFill>
                              <a:latin typeface="Cambria Math" panose="02040503050406030204" pitchFamily="18" charset="0"/>
                              <a:ea typeface="Cambria Math" panose="02040503050406030204" pitchFamily="18" charset="0"/>
                            </a:rPr>
                          </m:ctrlPr>
                        </m:sSubPr>
                        <m:e>
                          <m:r>
                            <a:rPr lang="en-US" sz="2400" b="1" i="1" smtClean="0">
                              <a:solidFill>
                                <a:srgbClr val="FF0000"/>
                              </a:solidFill>
                              <a:latin typeface="Cambria Math" panose="02040503050406030204" pitchFamily="18" charset="0"/>
                              <a:ea typeface="Cambria Math" panose="02040503050406030204" pitchFamily="18" charset="0"/>
                            </a:rPr>
                            <m:t>𝜺</m:t>
                          </m:r>
                        </m:e>
                        <m:sub>
                          <m:r>
                            <a:rPr lang="en-US" sz="2400" b="0" i="1" smtClean="0">
                              <a:solidFill>
                                <a:srgbClr val="FF0000"/>
                              </a:solidFill>
                              <a:latin typeface="Cambria Math" panose="02040503050406030204" pitchFamily="18" charset="0"/>
                              <a:ea typeface="Cambria Math" panose="02040503050406030204" pitchFamily="18" charset="0"/>
                            </a:rPr>
                            <m:t>𝐴</m:t>
                          </m:r>
                        </m:sub>
                      </m:sSub>
                      <m:r>
                        <a:rPr lang="en-US" sz="2400" b="1" i="1">
                          <a:latin typeface="Cambria Math" panose="02040503050406030204" pitchFamily="18" charset="0"/>
                          <a:ea typeface="Cambria Math" panose="02040503050406030204" pitchFamily="18" charset="0"/>
                        </a:rPr>
                        <m:t>=</m:t>
                      </m:r>
                      <m:sSubSup>
                        <m:sSubSupPr>
                          <m:ctrlPr>
                            <a:rPr lang="en-US" sz="2400" b="1" i="1" smtClean="0">
                              <a:solidFill>
                                <a:srgbClr val="FF0000"/>
                              </a:solidFill>
                              <a:latin typeface="Cambria Math" panose="02040503050406030204" pitchFamily="18" charset="0"/>
                              <a:ea typeface="Cambria Math" panose="02040503050406030204" pitchFamily="18" charset="0"/>
                            </a:rPr>
                          </m:ctrlPr>
                        </m:sSubSupPr>
                        <m:e>
                          <m:r>
                            <a:rPr lang="en-US" sz="2400" b="1" i="1" smtClean="0">
                              <a:solidFill>
                                <a:srgbClr val="FF0000"/>
                              </a:solidFill>
                              <a:latin typeface="Cambria Math" panose="02040503050406030204" pitchFamily="18" charset="0"/>
                              <a:ea typeface="Cambria Math" panose="02040503050406030204" pitchFamily="18" charset="0"/>
                            </a:rPr>
                            <m:t>𝑬</m:t>
                          </m:r>
                        </m:e>
                        <m:sub>
                          <m:r>
                            <a:rPr lang="en-US" sz="2400" i="1" smtClean="0">
                              <a:solidFill>
                                <a:srgbClr val="FF0000"/>
                              </a:solidFill>
                              <a:latin typeface="Cambria Math" panose="02040503050406030204" pitchFamily="18" charset="0"/>
                              <a:ea typeface="Cambria Math" panose="02040503050406030204" pitchFamily="18" charset="0"/>
                            </a:rPr>
                            <m:t>𝐴</m:t>
                          </m:r>
                        </m:sub>
                        <m:sup>
                          <m:r>
                            <a:rPr lang="en-US" sz="2400" i="1" smtClean="0">
                              <a:solidFill>
                                <a:srgbClr val="FF0000"/>
                              </a:solidFill>
                              <a:latin typeface="Cambria Math" panose="02040503050406030204" pitchFamily="18" charset="0"/>
                              <a:ea typeface="Cambria Math" panose="02040503050406030204" pitchFamily="18" charset="0"/>
                            </a:rPr>
                            <m:t>𝐶𝑃</m:t>
                          </m:r>
                        </m:sup>
                      </m:sSubSup>
                      <m:r>
                        <a:rPr lang="en-US" sz="2400" b="1" i="1">
                          <a:latin typeface="Cambria Math" panose="02040503050406030204" pitchFamily="18" charset="0"/>
                          <a:ea typeface="Cambria Math" panose="02040503050406030204" pitchFamily="18" charset="0"/>
                        </a:rPr>
                        <m:t>:</m:t>
                      </m:r>
                      <m:acc>
                        <m:accPr>
                          <m:chr m:val="̅"/>
                          <m:ctrlPr>
                            <a:rPr lang="en-US" sz="2400" b="1" i="1">
                              <a:latin typeface="Cambria Math" panose="02040503050406030204" pitchFamily="18" charset="0"/>
                            </a:rPr>
                          </m:ctrlPr>
                        </m:accPr>
                        <m:e>
                          <m:r>
                            <a:rPr lang="en-US" sz="2400" b="1" i="1">
                              <a:latin typeface="Cambria Math" panose="02040503050406030204" pitchFamily="18" charset="0"/>
                            </a:rPr>
                            <m:t>𝜺</m:t>
                          </m:r>
                        </m:e>
                      </m:acc>
                      <m:r>
                        <a:rPr lang="en-US" sz="2400" b="1" i="1">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𝑷</m:t>
                              </m:r>
                            </m:e>
                            <m:sub>
                              <m:r>
                                <a:rPr lang="en-US" sz="2400" b="0" i="1" smtClean="0">
                                  <a:solidFill>
                                    <a:srgbClr val="FF0000"/>
                                  </a:solidFill>
                                  <a:latin typeface="Cambria Math" panose="02040503050406030204" pitchFamily="18" charset="0"/>
                                  <a:ea typeface="Cambria Math" panose="02040503050406030204" pitchFamily="18" charset="0"/>
                                </a:rPr>
                                <m:t>𝐴</m:t>
                              </m:r>
                              <m:r>
                                <a:rPr lang="en-US" sz="2400" i="1">
                                  <a:solidFill>
                                    <a:srgbClr val="FF0000"/>
                                  </a:solidFill>
                                  <a:latin typeface="Cambria Math" panose="02040503050406030204" pitchFamily="18" charset="0"/>
                                  <a:ea typeface="Cambria Math" panose="02040503050406030204" pitchFamily="18" charset="0"/>
                                </a:rPr>
                                <m:t>𝐵</m:t>
                              </m:r>
                            </m:sub>
                            <m:sup>
                              <m:r>
                                <a:rPr lang="en-US" sz="2400" i="1" smtClean="0">
                                  <a:solidFill>
                                    <a:srgbClr val="FF0000"/>
                                  </a:solidFill>
                                  <a:latin typeface="Cambria Math" panose="02040503050406030204" pitchFamily="18" charset="0"/>
                                  <a:ea typeface="Cambria Math" panose="02040503050406030204" pitchFamily="18" charset="0"/>
                                </a:rPr>
                                <m:t>𝐶𝑃</m:t>
                              </m:r>
                            </m:sup>
                          </m:sSubSup>
                          <m:r>
                            <a:rPr lang="en-US" sz="2400" b="1" i="1">
                              <a:latin typeface="Cambria Math" panose="02040503050406030204" pitchFamily="18" charset="0"/>
                              <a:ea typeface="Cambria Math" panose="02040503050406030204" pitchFamily="18" charset="0"/>
                            </a:rPr>
                            <m:t>:</m:t>
                          </m:r>
                          <m:sSub>
                            <m:sSubPr>
                              <m:ctrlPr>
                                <a:rPr lang="en-US" sz="2400" b="1" i="1">
                                  <a:latin typeface="Cambria Math" panose="02040503050406030204" pitchFamily="18" charset="0"/>
                                  <a:ea typeface="Cambria Math" panose="02040503050406030204" pitchFamily="18" charset="0"/>
                                </a:rPr>
                              </m:ctrlPr>
                            </m:sSubPr>
                            <m:e>
                              <m:r>
                                <a:rPr lang="en-US" sz="2400" b="1" i="1">
                                  <a:latin typeface="Cambria Math" panose="02040503050406030204" pitchFamily="18" charset="0"/>
                                  <a:ea typeface="Cambria Math" panose="02040503050406030204" pitchFamily="18" charset="0"/>
                                </a:rPr>
                                <m:t>𝝀</m:t>
                              </m:r>
                            </m:e>
                            <m: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20" name="TextBox 19">
                <a:extLst>
                  <a:ext uri="{FF2B5EF4-FFF2-40B4-BE49-F238E27FC236}">
                    <a16:creationId xmlns:a16="http://schemas.microsoft.com/office/drawing/2014/main" id="{53938E63-B0AA-7506-2241-2CEEC43D7D8C}"/>
                  </a:ext>
                </a:extLst>
              </p:cNvPr>
              <p:cNvSpPr txBox="1">
                <a:spLocks noRot="1" noChangeAspect="1" noMove="1" noResize="1" noEditPoints="1" noAdjustHandles="1" noChangeArrowheads="1" noChangeShapeType="1" noTextEdit="1"/>
              </p:cNvSpPr>
              <p:nvPr/>
            </p:nvSpPr>
            <p:spPr>
              <a:xfrm>
                <a:off x="3048811" y="5774846"/>
                <a:ext cx="6094378" cy="986552"/>
              </a:xfrm>
              <a:prstGeom prst="rect">
                <a:avLst/>
              </a:prstGeom>
              <a:blipFill>
                <a:blip r:embed="rId6"/>
                <a:stretch>
                  <a:fillRect/>
                </a:stretch>
              </a:blipFill>
            </p:spPr>
            <p:txBody>
              <a:bodyPr/>
              <a:lstStyle/>
              <a:p>
                <a:r>
                  <a:rPr lang="en-US">
                    <a:noFill/>
                  </a:rPr>
                  <a:t> </a:t>
                </a:r>
              </a:p>
            </p:txBody>
          </p:sp>
        </mc:Fallback>
      </mc:AlternateContent>
      <p:sp>
        <p:nvSpPr>
          <p:cNvPr id="21" name="TextBox 20">
            <a:extLst>
              <a:ext uri="{FF2B5EF4-FFF2-40B4-BE49-F238E27FC236}">
                <a16:creationId xmlns:a16="http://schemas.microsoft.com/office/drawing/2014/main" id="{89595BEF-3A67-9AE8-C2B5-A9F5DA662001}"/>
              </a:ext>
            </a:extLst>
          </p:cNvPr>
          <p:cNvSpPr txBox="1"/>
          <p:nvPr/>
        </p:nvSpPr>
        <p:spPr>
          <a:xfrm>
            <a:off x="7970196" y="5983949"/>
            <a:ext cx="4221804" cy="461665"/>
          </a:xfrm>
          <a:prstGeom prst="rect">
            <a:avLst/>
          </a:prstGeom>
          <a:noFill/>
        </p:spPr>
        <p:txBody>
          <a:bodyPr wrap="square" rtlCol="0">
            <a:spAutoFit/>
          </a:bodyPr>
          <a:lstStyle/>
          <a:p>
            <a:pPr algn="ctr"/>
            <a:r>
              <a:rPr lang="en-US" sz="2400" dirty="0">
                <a:solidFill>
                  <a:srgbClr val="0000FF"/>
                </a:solidFill>
              </a:rPr>
              <a:t>This is a TFA-like form !</a:t>
            </a:r>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CA59B3E-6DB1-E8FA-A9CF-365A34C40005}"/>
                  </a:ext>
                </a:extLst>
              </p:cNvPr>
              <p:cNvSpPr txBox="1">
                <a:spLocks/>
              </p:cNvSpPr>
              <p:nvPr/>
            </p:nvSpPr>
            <p:spPr>
              <a:xfrm>
                <a:off x="303177" y="4720759"/>
                <a:ext cx="11648874" cy="98655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We don’t need to take the average of each term over partition </a:t>
                </a:r>
                <a14:m>
                  <m:oMath xmlns:m="http://schemas.openxmlformats.org/officeDocument/2006/math">
                    <m:r>
                      <a:rPr lang="en-US" b="0" i="1" smtClean="0">
                        <a:latin typeface="Cambria Math" panose="02040503050406030204" pitchFamily="18" charset="0"/>
                      </a:rPr>
                      <m:t>𝐴</m:t>
                    </m:r>
                  </m:oMath>
                </a14:m>
                <a:r>
                  <a:rPr lang="en-US" dirty="0"/>
                  <a:t> anymore, since they are already partition-wise constant. Evaluate each term at partition </a:t>
                </a:r>
                <a14:m>
                  <m:oMath xmlns:m="http://schemas.openxmlformats.org/officeDocument/2006/math">
                    <m:r>
                      <a:rPr lang="en-US" b="0" i="1" smtClean="0">
                        <a:latin typeface="Cambria Math" panose="02040503050406030204" pitchFamily="18" charset="0"/>
                      </a:rPr>
                      <m:t>𝐴</m:t>
                    </m:r>
                  </m:oMath>
                </a14:m>
                <a:r>
                  <a:rPr lang="en-US" dirty="0"/>
                  <a:t>:</a:t>
                </a:r>
              </a:p>
            </p:txBody>
          </p:sp>
        </mc:Choice>
        <mc:Fallback xmlns="">
          <p:sp>
            <p:nvSpPr>
              <p:cNvPr id="5" name="Content Placeholder 2">
                <a:extLst>
                  <a:ext uri="{FF2B5EF4-FFF2-40B4-BE49-F238E27FC236}">
                    <a16:creationId xmlns:a16="http://schemas.microsoft.com/office/drawing/2014/main" id="{FCA59B3E-6DB1-E8FA-A9CF-365A34C40005}"/>
                  </a:ext>
                </a:extLst>
              </p:cNvPr>
              <p:cNvSpPr txBox="1">
                <a:spLocks noRot="1" noChangeAspect="1" noMove="1" noResize="1" noEditPoints="1" noAdjustHandles="1" noChangeArrowheads="1" noChangeShapeType="1" noTextEdit="1"/>
              </p:cNvSpPr>
              <p:nvPr/>
            </p:nvSpPr>
            <p:spPr>
              <a:xfrm>
                <a:off x="303177" y="4720759"/>
                <a:ext cx="11648874" cy="986552"/>
              </a:xfrm>
              <a:prstGeom prst="rect">
                <a:avLst/>
              </a:prstGeom>
              <a:blipFill>
                <a:blip r:embed="rId7"/>
                <a:stretch>
                  <a:fillRect l="-1099" t="-10494" r="-1047" b="-43210"/>
                </a:stretch>
              </a:blipFill>
            </p:spPr>
            <p:txBody>
              <a:bodyPr/>
              <a:lstStyle/>
              <a:p>
                <a:r>
                  <a:rPr lang="en-US">
                    <a:noFill/>
                  </a:rPr>
                  <a:t> </a:t>
                </a:r>
              </a:p>
            </p:txBody>
          </p:sp>
        </mc:Fallback>
      </mc:AlternateContent>
    </p:spTree>
    <p:extLst>
      <p:ext uri="{BB962C8B-B14F-4D97-AF65-F5344CB8AC3E}">
        <p14:creationId xmlns:p14="http://schemas.microsoft.com/office/powerpoint/2010/main" val="1884836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AC4D8-7380-878A-AA1E-FEE4156B445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429AB4-2C16-2EE4-0475-90F0FF8FB490}"/>
                  </a:ext>
                </a:extLst>
              </p:cNvPr>
              <p:cNvSpPr>
                <a:spLocks noGrp="1"/>
              </p:cNvSpPr>
              <p:nvPr>
                <p:ph idx="1"/>
              </p:nvPr>
            </p:nvSpPr>
            <p:spPr>
              <a:xfrm>
                <a:off x="303177" y="1491818"/>
                <a:ext cx="11585646" cy="1038258"/>
              </a:xfrm>
            </p:spPr>
            <p:txBody>
              <a:bodyPr>
                <a:normAutofit/>
              </a:bodyPr>
              <a:lstStyle/>
              <a:p>
                <a:pPr marL="0" indent="0" algn="just">
                  <a:buNone/>
                </a:pPr>
                <a:r>
                  <a:rPr lang="en-US" dirty="0"/>
                  <a:t>We now have a clear expression for the </a:t>
                </a:r>
                <a14:m>
                  <m:oMath xmlns:m="http://schemas.openxmlformats.org/officeDocument/2006/math">
                    <m:sSub>
                      <m:sSubPr>
                        <m:ctrlPr>
                          <a:rPr lang="en-US" b="1" i="1">
                            <a:latin typeface="Cambria Math" panose="02040503050406030204" pitchFamily="18" charset="0"/>
                            <a:ea typeface="Cambria Math" panose="02040503050406030204" pitchFamily="18" charset="0"/>
                          </a:rPr>
                        </m:ctrlPr>
                      </m:sSubPr>
                      <m:e>
                        <m:r>
                          <a:rPr lang="en-US" b="1" i="1">
                            <a:latin typeface="Cambria Math" panose="02040503050406030204" pitchFamily="18" charset="0"/>
                            <a:ea typeface="Cambria Math" panose="02040503050406030204" pitchFamily="18" charset="0"/>
                          </a:rPr>
                          <m:t>𝑬</m:t>
                        </m:r>
                      </m:e>
                      <m:sub>
                        <m:r>
                          <a:rPr lang="en-US" b="0" i="1">
                            <a:latin typeface="Cambria Math" panose="02040503050406030204" pitchFamily="18" charset="0"/>
                            <a:ea typeface="Cambria Math" panose="02040503050406030204" pitchFamily="18" charset="0"/>
                          </a:rPr>
                          <m:t>𝐴</m:t>
                        </m:r>
                      </m:sub>
                    </m:sSub>
                  </m:oMath>
                </a14:m>
                <a:r>
                  <a:rPr lang="en-US" dirty="0"/>
                  <a:t> and </a:t>
                </a:r>
                <a14:m>
                  <m:oMath xmlns:m="http://schemas.openxmlformats.org/officeDocument/2006/math">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𝑷</m:t>
                        </m:r>
                      </m:e>
                      <m:sub>
                        <m:r>
                          <a:rPr lang="en-US" b="0" i="1">
                            <a:latin typeface="Cambria Math" panose="02040503050406030204" pitchFamily="18" charset="0"/>
                            <a:ea typeface="Cambria Math" panose="02040503050406030204" pitchFamily="18" charset="0"/>
                          </a:rPr>
                          <m:t>𝐴</m:t>
                        </m:r>
                        <m:r>
                          <a:rPr lang="en-US" b="0" i="1" smtClean="0">
                            <a:latin typeface="Cambria Math" panose="02040503050406030204" pitchFamily="18" charset="0"/>
                            <a:ea typeface="Cambria Math" panose="02040503050406030204" pitchFamily="18" charset="0"/>
                          </a:rPr>
                          <m:t>𝐵</m:t>
                        </m:r>
                      </m:sub>
                    </m:sSub>
                  </m:oMath>
                </a14:m>
                <a:r>
                  <a:rPr lang="en-US" dirty="0"/>
                  <a:t> tensors in terms of the Lippmann-Schwinger operators:</a:t>
                </a:r>
                <a:endParaRPr lang="en-US" b="1" dirty="0"/>
              </a:p>
            </p:txBody>
          </p:sp>
        </mc:Choice>
        <mc:Fallback xmlns="">
          <p:sp>
            <p:nvSpPr>
              <p:cNvPr id="3" name="Content Placeholder 2">
                <a:extLst>
                  <a:ext uri="{FF2B5EF4-FFF2-40B4-BE49-F238E27FC236}">
                    <a16:creationId xmlns:a16="http://schemas.microsoft.com/office/drawing/2014/main" id="{E8429AB4-2C16-2EE4-0475-90F0FF8FB490}"/>
                  </a:ext>
                </a:extLst>
              </p:cNvPr>
              <p:cNvSpPr>
                <a:spLocks noGrp="1" noRot="1" noChangeAspect="1" noMove="1" noResize="1" noEditPoints="1" noAdjustHandles="1" noChangeArrowheads="1" noChangeShapeType="1" noTextEdit="1"/>
              </p:cNvSpPr>
              <p:nvPr>
                <p:ph idx="1"/>
              </p:nvPr>
            </p:nvSpPr>
            <p:spPr>
              <a:xfrm>
                <a:off x="303177" y="1491818"/>
                <a:ext cx="11585646" cy="1038258"/>
              </a:xfrm>
              <a:blipFill>
                <a:blip r:embed="rId2"/>
                <a:stretch>
                  <a:fillRect l="-1105" t="-10588" r="-1053"/>
                </a:stretch>
              </a:blipFill>
            </p:spPr>
            <p:txBody>
              <a:bodyPr/>
              <a:lstStyle/>
              <a:p>
                <a:r>
                  <a:rPr lang="en-US">
                    <a:noFill/>
                  </a:rPr>
                  <a:t> </a:t>
                </a:r>
              </a:p>
            </p:txBody>
          </p:sp>
        </mc:Fallback>
      </mc:AlternateContent>
      <p:sp>
        <p:nvSpPr>
          <p:cNvPr id="15" name="Title 1">
            <a:extLst>
              <a:ext uri="{FF2B5EF4-FFF2-40B4-BE49-F238E27FC236}">
                <a16:creationId xmlns:a16="http://schemas.microsoft.com/office/drawing/2014/main" id="{9B069DA0-71C4-5A1B-10F7-B18DB43B6C40}"/>
              </a:ext>
            </a:extLst>
          </p:cNvPr>
          <p:cNvSpPr txBox="1">
            <a:spLocks/>
          </p:cNvSpPr>
          <p:nvPr/>
        </p:nvSpPr>
        <p:spPr>
          <a:xfrm>
            <a:off x="303177" y="193963"/>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Derivation: LS to CP (11, Final)</a:t>
            </a:r>
          </a:p>
        </p:txBody>
      </p:sp>
      <p:sp>
        <p:nvSpPr>
          <p:cNvPr id="6" name="Content Placeholder 2">
            <a:extLst>
              <a:ext uri="{FF2B5EF4-FFF2-40B4-BE49-F238E27FC236}">
                <a16:creationId xmlns:a16="http://schemas.microsoft.com/office/drawing/2014/main" id="{7FD66027-F1DC-C254-6B4F-B57F05B39B49}"/>
              </a:ext>
            </a:extLst>
          </p:cNvPr>
          <p:cNvSpPr txBox="1">
            <a:spLocks/>
          </p:cNvSpPr>
          <p:nvPr/>
        </p:nvSpPr>
        <p:spPr>
          <a:xfrm>
            <a:off x="303177" y="3588866"/>
            <a:ext cx="11292192" cy="535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Where:</a:t>
            </a:r>
            <a:endParaRPr lang="en-US" b="1"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9073FEB-3E63-9E96-C1B5-B921FCE9FA16}"/>
                  </a:ext>
                </a:extLst>
              </p:cNvPr>
              <p:cNvSpPr txBox="1"/>
              <p:nvPr/>
            </p:nvSpPr>
            <p:spPr>
              <a:xfrm>
                <a:off x="2523515" y="4377110"/>
                <a:ext cx="6094378" cy="690445"/>
              </a:xfrm>
              <a:prstGeom prst="rect">
                <a:avLst/>
              </a:prstGeom>
              <a:noFill/>
            </p:spPr>
            <p:txBody>
              <a:bodyPr wrap="square">
                <a:spAutoFit/>
              </a:bodyPr>
              <a:lstStyle/>
              <a:p>
                <a:pPr algn="ctr"/>
                <a14:m>
                  <m:oMathPara xmlns:m="http://schemas.openxmlformats.org/officeDocument/2006/math">
                    <m:oMath>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𝑬</m:t>
                          </m:r>
                        </m:e>
                        <m:sub>
                          <m:r>
                            <a:rPr lang="en-US" sz="2400" i="1">
                              <a:solidFill>
                                <a:srgbClr val="FF0000"/>
                              </a:solidFill>
                              <a:latin typeface="Cambria Math" panose="02040503050406030204" pitchFamily="18" charset="0"/>
                              <a:ea typeface="Cambria Math" panose="02040503050406030204" pitchFamily="18" charset="0"/>
                            </a:rPr>
                            <m:t>𝐴</m:t>
                          </m:r>
                        </m:sub>
                        <m:sup>
                          <m:r>
                            <a:rPr lang="en-US" altLang="zh-TW" sz="2400" b="0" i="1">
                              <a:solidFill>
                                <a:srgbClr val="FF0000"/>
                              </a:solidFill>
                              <a:latin typeface="Cambria Math" panose="02040503050406030204" pitchFamily="18" charset="0"/>
                              <a:ea typeface="Cambria Math" panose="02040503050406030204" pitchFamily="18" charset="0"/>
                            </a:rPr>
                            <m:t>𝐶𝑃</m:t>
                          </m:r>
                        </m:sup>
                      </m:sSubSup>
                      <m:r>
                        <a:rPr lang="en-US" sz="2400" b="1" i="1">
                          <a:solidFill>
                            <a:srgbClr val="FF0000"/>
                          </a:solidFill>
                          <a:latin typeface="Cambria Math" panose="02040503050406030204" pitchFamily="18" charset="0"/>
                          <a:ea typeface="Cambria Math" panose="02040503050406030204" pitchFamily="18" charset="0"/>
                        </a:rPr>
                        <m:t>:</m:t>
                      </m:r>
                      <m:r>
                        <a:rPr lang="en-US" sz="2400" b="1" i="1">
                          <a:solidFill>
                            <a:srgbClr val="FF0000"/>
                          </a:solidFill>
                          <a:latin typeface="Cambria Math" panose="02040503050406030204" pitchFamily="18" charset="0"/>
                          <a:ea typeface="Cambria Math" panose="02040503050406030204" pitchFamily="18" charset="0"/>
                        </a:rPr>
                        <m:t>𝒗</m:t>
                      </m:r>
                      <m:r>
                        <a:rPr lang="en-US" sz="2400" b="1" i="1" smtClean="0">
                          <a:solidFill>
                            <a:srgbClr val="FF0000"/>
                          </a:solidFill>
                          <a:latin typeface="Cambria Math" panose="02040503050406030204" pitchFamily="18" charset="0"/>
                          <a:ea typeface="Cambria Math" panose="02040503050406030204" pitchFamily="18" charset="0"/>
                        </a:rPr>
                        <m:t>=</m:t>
                      </m:r>
                      <m:sSub>
                        <m:sSubPr>
                          <m:ctrlPr>
                            <a:rPr lang="en-US" sz="2400" b="1" i="1">
                              <a:solidFill>
                                <a:srgbClr val="FF0000"/>
                              </a:solidFill>
                              <a:latin typeface="Cambria Math" panose="02040503050406030204" pitchFamily="18" charset="0"/>
                              <a:ea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ea typeface="Cambria Math" panose="02040503050406030204" pitchFamily="18" charset="0"/>
                                </a:rPr>
                              </m:ctrlPr>
                            </m:dPr>
                            <m:e>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𝜦</m:t>
                                  </m:r>
                                </m:e>
                                <m:sub>
                                  <m:r>
                                    <a:rPr lang="en-US" sz="2400" b="1" i="1">
                                      <a:solidFill>
                                        <a:srgbClr val="FF0000"/>
                                      </a:solidFill>
                                      <a:latin typeface="Cambria Math" panose="02040503050406030204" pitchFamily="18" charset="0"/>
                                      <a:ea typeface="Cambria Math" panose="02040503050406030204" pitchFamily="18" charset="0"/>
                                    </a:rPr>
                                    <m:t>∗</m:t>
                                  </m:r>
                                </m:sub>
                                <m:sup>
                                  <m:r>
                                    <a:rPr lang="en-US" sz="2400" b="1" i="1">
                                      <a:solidFill>
                                        <a:srgbClr val="FF0000"/>
                                      </a:solidFill>
                                      <a:latin typeface="Cambria Math" panose="02040503050406030204" pitchFamily="18" charset="0"/>
                                      <a:ea typeface="Cambria Math" panose="02040503050406030204" pitchFamily="18" charset="0"/>
                                    </a:rPr>
                                    <m:t>−</m:t>
                                  </m:r>
                                  <m:r>
                                    <a:rPr lang="en-US" sz="2400" b="0" i="1">
                                      <a:solidFill>
                                        <a:srgbClr val="FF0000"/>
                                      </a:solidFill>
                                      <a:latin typeface="Cambria Math" panose="02040503050406030204" pitchFamily="18" charset="0"/>
                                      <a:ea typeface="Cambria Math" panose="02040503050406030204" pitchFamily="18" charset="0"/>
                                    </a:rPr>
                                    <m:t>1</m:t>
                                  </m:r>
                                </m:sup>
                              </m:sSubSup>
                              <m:d>
                                <m:dPr>
                                  <m:begChr m:val="["/>
                                  <m:endChr m:val="]"/>
                                  <m:ctrlPr>
                                    <a:rPr lang="en-US" sz="2400" b="1" i="1">
                                      <a:solidFill>
                                        <a:srgbClr val="FF0000"/>
                                      </a:solidFill>
                                      <a:latin typeface="Cambria Math" panose="02040503050406030204" pitchFamily="18" charset="0"/>
                                    </a:rPr>
                                  </m:ctrlPr>
                                </m:dPr>
                                <m:e>
                                  <m:r>
                                    <a:rPr lang="en-US" sz="2400" b="1" i="1">
                                      <a:solidFill>
                                        <a:srgbClr val="FF0000"/>
                                      </a:solidFill>
                                      <a:latin typeface="Cambria Math" panose="02040503050406030204" pitchFamily="18" charset="0"/>
                                    </a:rPr>
                                    <m:t>𝒗</m:t>
                                  </m:r>
                                </m:e>
                              </m:d>
                            </m:e>
                          </m:d>
                        </m:e>
                        <m:sub>
                          <m:r>
                            <a:rPr lang="en-US" altLang="zh-TW" sz="2400" b="0" i="1">
                              <a:solidFill>
                                <a:srgbClr val="FF0000"/>
                              </a:solidFill>
                              <a:latin typeface="Cambria Math" panose="02040503050406030204" pitchFamily="18" charset="0"/>
                            </a:rPr>
                            <m:t>𝐴</m:t>
                          </m:r>
                        </m:sub>
                      </m:sSub>
                    </m:oMath>
                  </m:oMathPara>
                </a14:m>
                <a:endParaRPr lang="en-US" sz="2400" dirty="0">
                  <a:solidFill>
                    <a:srgbClr val="FF0000"/>
                  </a:solidFill>
                </a:endParaRPr>
              </a:p>
            </p:txBody>
          </p:sp>
        </mc:Choice>
        <mc:Fallback xmlns="">
          <p:sp>
            <p:nvSpPr>
              <p:cNvPr id="9" name="TextBox 8">
                <a:extLst>
                  <a:ext uri="{FF2B5EF4-FFF2-40B4-BE49-F238E27FC236}">
                    <a16:creationId xmlns:a16="http://schemas.microsoft.com/office/drawing/2014/main" id="{79073FEB-3E63-9E96-C1B5-B921FCE9FA16}"/>
                  </a:ext>
                </a:extLst>
              </p:cNvPr>
              <p:cNvSpPr txBox="1">
                <a:spLocks noRot="1" noChangeAspect="1" noMove="1" noResize="1" noEditPoints="1" noAdjustHandles="1" noChangeArrowheads="1" noChangeShapeType="1" noTextEdit="1"/>
              </p:cNvSpPr>
              <p:nvPr/>
            </p:nvSpPr>
            <p:spPr>
              <a:xfrm>
                <a:off x="2523515" y="4377110"/>
                <a:ext cx="6094378" cy="69044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EB24C7B-83A5-1453-AF31-1A26C1BFDDF2}"/>
                  </a:ext>
                </a:extLst>
              </p:cNvPr>
              <p:cNvSpPr txBox="1"/>
              <p:nvPr/>
            </p:nvSpPr>
            <p:spPr>
              <a:xfrm>
                <a:off x="2523515" y="5255502"/>
                <a:ext cx="6094378" cy="690445"/>
              </a:xfrm>
              <a:prstGeom prst="rect">
                <a:avLst/>
              </a:prstGeom>
              <a:noFill/>
            </p:spPr>
            <p:txBody>
              <a:bodyPr wrap="square">
                <a:spAutoFit/>
              </a:bodyPr>
              <a:lstStyle/>
              <a:p>
                <a:pPr algn="ctr"/>
                <a14:m>
                  <m:oMathPara xmlns:m="http://schemas.openxmlformats.org/officeDocument/2006/math">
                    <m:oMath>
                      <m:sSubSup>
                        <m:sSubSupPr>
                          <m:ctrlPr>
                            <a:rPr lang="en-US" sz="2400" b="1" i="1" smtClean="0">
                              <a:solidFill>
                                <a:srgbClr val="FF0000"/>
                              </a:solidFill>
                              <a:latin typeface="Cambria Math" panose="02040503050406030204" pitchFamily="18" charset="0"/>
                              <a:ea typeface="Cambria Math" panose="02040503050406030204" pitchFamily="18" charset="0"/>
                            </a:rPr>
                          </m:ctrlPr>
                        </m:sSubSupPr>
                        <m:e>
                          <m:r>
                            <a:rPr lang="en-US" sz="2400" b="1" i="1" smtClean="0">
                              <a:solidFill>
                                <a:srgbClr val="FF0000"/>
                              </a:solidFill>
                              <a:latin typeface="Cambria Math" panose="02040503050406030204" pitchFamily="18" charset="0"/>
                              <a:ea typeface="Cambria Math" panose="02040503050406030204" pitchFamily="18" charset="0"/>
                            </a:rPr>
                            <m:t>𝑷</m:t>
                          </m:r>
                        </m:e>
                        <m:sub>
                          <m:r>
                            <a:rPr lang="en-US" sz="2400" b="0" i="1" smtClean="0">
                              <a:solidFill>
                                <a:srgbClr val="FF0000"/>
                              </a:solidFill>
                              <a:latin typeface="Cambria Math" panose="02040503050406030204" pitchFamily="18" charset="0"/>
                              <a:ea typeface="Cambria Math" panose="02040503050406030204" pitchFamily="18" charset="0"/>
                            </a:rPr>
                            <m:t>𝐴𝐵</m:t>
                          </m:r>
                        </m:sub>
                        <m:sup>
                          <m:r>
                            <a:rPr lang="en-US" altLang="zh-TW" sz="2400" i="1">
                              <a:solidFill>
                                <a:srgbClr val="FF0000"/>
                              </a:solidFill>
                              <a:latin typeface="Cambria Math" panose="02040503050406030204" pitchFamily="18" charset="0"/>
                              <a:ea typeface="Cambria Math" panose="02040503050406030204" pitchFamily="18" charset="0"/>
                            </a:rPr>
                            <m:t>𝐶</m:t>
                          </m:r>
                          <m:r>
                            <a:rPr lang="en-US" altLang="zh-TW" sz="2400" i="1" smtClean="0">
                              <a:solidFill>
                                <a:srgbClr val="FF0000"/>
                              </a:solidFill>
                              <a:latin typeface="Cambria Math" panose="02040503050406030204" pitchFamily="18" charset="0"/>
                              <a:ea typeface="Cambria Math" panose="02040503050406030204" pitchFamily="18" charset="0"/>
                            </a:rPr>
                            <m:t>𝑃</m:t>
                          </m:r>
                        </m:sup>
                      </m:sSubSup>
                      <m:r>
                        <a:rPr lang="en-US" sz="2400" b="1" i="1">
                          <a:solidFill>
                            <a:srgbClr val="FF0000"/>
                          </a:solidFill>
                          <a:latin typeface="Cambria Math" panose="02040503050406030204" pitchFamily="18" charset="0"/>
                          <a:ea typeface="Cambria Math" panose="02040503050406030204" pitchFamily="18" charset="0"/>
                        </a:rPr>
                        <m:t>:</m:t>
                      </m:r>
                      <m:r>
                        <a:rPr lang="en-US" sz="2400" b="1" i="1">
                          <a:solidFill>
                            <a:srgbClr val="FF0000"/>
                          </a:solidFill>
                          <a:latin typeface="Cambria Math" panose="02040503050406030204" pitchFamily="18" charset="0"/>
                          <a:ea typeface="Cambria Math" panose="02040503050406030204" pitchFamily="18" charset="0"/>
                        </a:rPr>
                        <m:t>𝒗</m:t>
                      </m:r>
                      <m:r>
                        <a:rPr lang="en-US" sz="2400" b="1" i="1" smtClean="0">
                          <a:solidFill>
                            <a:srgbClr val="FF0000"/>
                          </a:solidFill>
                          <a:latin typeface="Cambria Math" panose="02040503050406030204" pitchFamily="18" charset="0"/>
                          <a:ea typeface="Cambria Math" panose="02040503050406030204" pitchFamily="18" charset="0"/>
                        </a:rPr>
                        <m:t>=</m:t>
                      </m:r>
                      <m:sSub>
                        <m:sSubPr>
                          <m:ctrlPr>
                            <a:rPr lang="en-US" sz="2400" b="1" i="1">
                              <a:solidFill>
                                <a:srgbClr val="FF0000"/>
                              </a:solidFill>
                              <a:latin typeface="Cambria Math" panose="02040503050406030204" pitchFamily="18" charset="0"/>
                              <a:ea typeface="Cambria Math" panose="02040503050406030204" pitchFamily="18" charset="0"/>
                            </a:rPr>
                          </m:ctrlPr>
                        </m:sSubPr>
                        <m:e>
                          <m:d>
                            <m:dPr>
                              <m:begChr m:val=""/>
                              <m:endChr m:val="|"/>
                              <m:ctrlPr>
                                <a:rPr lang="en-US" sz="2400" b="1" i="1">
                                  <a:solidFill>
                                    <a:srgbClr val="FF0000"/>
                                  </a:solidFill>
                                  <a:latin typeface="Cambria Math" panose="02040503050406030204" pitchFamily="18" charset="0"/>
                                  <a:ea typeface="Cambria Math" panose="02040503050406030204" pitchFamily="18" charset="0"/>
                                </a:rPr>
                              </m:ctrlPr>
                            </m:dPr>
                            <m:e>
                              <m:sSubSup>
                                <m:sSubSupPr>
                                  <m:ctrlPr>
                                    <a:rPr lang="en-US" sz="2400" b="1" i="1">
                                      <a:solidFill>
                                        <a:srgbClr val="FF0000"/>
                                      </a:solidFill>
                                      <a:latin typeface="Cambria Math" panose="02040503050406030204" pitchFamily="18" charset="0"/>
                                      <a:ea typeface="Cambria Math" panose="02040503050406030204" pitchFamily="18" charset="0"/>
                                    </a:rPr>
                                  </m:ctrlPr>
                                </m:sSubSupPr>
                                <m:e>
                                  <m:r>
                                    <a:rPr lang="en-US" sz="2400" b="1" i="1">
                                      <a:solidFill>
                                        <a:srgbClr val="FF0000"/>
                                      </a:solidFill>
                                      <a:latin typeface="Cambria Math" panose="02040503050406030204" pitchFamily="18" charset="0"/>
                                      <a:ea typeface="Cambria Math" panose="02040503050406030204" pitchFamily="18" charset="0"/>
                                    </a:rPr>
                                    <m:t>𝜦</m:t>
                                  </m:r>
                                </m:e>
                                <m:sub>
                                  <m:r>
                                    <a:rPr lang="en-US" sz="2400" b="1" i="1">
                                      <a:solidFill>
                                        <a:srgbClr val="FF0000"/>
                                      </a:solidFill>
                                      <a:latin typeface="Cambria Math" panose="02040503050406030204" pitchFamily="18" charset="0"/>
                                      <a:ea typeface="Cambria Math" panose="02040503050406030204" pitchFamily="18" charset="0"/>
                                    </a:rPr>
                                    <m:t>∗</m:t>
                                  </m:r>
                                </m:sub>
                                <m:sup>
                                  <m:r>
                                    <a:rPr lang="en-US" sz="2400" b="1" i="1">
                                      <a:solidFill>
                                        <a:srgbClr val="FF0000"/>
                                      </a:solidFill>
                                      <a:latin typeface="Cambria Math" panose="02040503050406030204" pitchFamily="18" charset="0"/>
                                      <a:ea typeface="Cambria Math" panose="02040503050406030204" pitchFamily="18" charset="0"/>
                                    </a:rPr>
                                    <m:t>−</m:t>
                                  </m:r>
                                  <m:r>
                                    <a:rPr lang="en-US" sz="2400" b="0" i="1">
                                      <a:solidFill>
                                        <a:srgbClr val="FF0000"/>
                                      </a:solidFill>
                                      <a:latin typeface="Cambria Math" panose="02040503050406030204" pitchFamily="18" charset="0"/>
                                      <a:ea typeface="Cambria Math" panose="02040503050406030204" pitchFamily="18" charset="0"/>
                                    </a:rPr>
                                    <m:t>1</m:t>
                                  </m:r>
                                </m:sup>
                              </m:sSubSup>
                              <m:sSub>
                                <m:sSubPr>
                                  <m:ctrlPr>
                                    <a:rPr lang="en-US" sz="2400" b="1">
                                      <a:solidFill>
                                        <a:srgbClr val="FF0000"/>
                                      </a:solidFill>
                                      <a:latin typeface="Cambria Math" panose="02040503050406030204" pitchFamily="18" charset="0"/>
                                    </a:rPr>
                                  </m:ctrlPr>
                                </m:sSubPr>
                                <m:e>
                                  <m:r>
                                    <a:rPr lang="en-US" sz="2400" b="1">
                                      <a:solidFill>
                                        <a:srgbClr val="FF0000"/>
                                      </a:solidFill>
                                      <a:latin typeface="Cambria Math" panose="02040503050406030204" pitchFamily="18" charset="0"/>
                                    </a:rPr>
                                    <m:t>𝚪</m:t>
                                  </m:r>
                                </m:e>
                                <m:sub>
                                  <m:r>
                                    <a:rPr lang="en-US" sz="2400" i="1">
                                      <a:solidFill>
                                        <a:srgbClr val="FF0000"/>
                                      </a:solidFill>
                                      <a:latin typeface="Cambria Math" panose="02040503050406030204" pitchFamily="18" charset="0"/>
                                    </a:rPr>
                                    <m:t>∗</m:t>
                                  </m:r>
                                </m:sub>
                              </m:sSub>
                              <m:d>
                                <m:dPr>
                                  <m:begChr m:val="["/>
                                  <m:endChr m:val="]"/>
                                  <m:ctrlPr>
                                    <a:rPr lang="en-US" sz="2400" b="1" i="1">
                                      <a:solidFill>
                                        <a:srgbClr val="FF0000"/>
                                      </a:solidFill>
                                      <a:latin typeface="Cambria Math" panose="02040503050406030204" pitchFamily="18" charset="0"/>
                                    </a:rPr>
                                  </m:ctrlPr>
                                </m:dPr>
                                <m:e>
                                  <m:d>
                                    <m:dPr>
                                      <m:ctrlPr>
                                        <a:rPr lang="en-US" sz="2400" b="1" i="1">
                                          <a:solidFill>
                                            <a:srgbClr val="FF0000"/>
                                          </a:solidFill>
                                          <a:latin typeface="Cambria Math" panose="02040503050406030204" pitchFamily="18" charset="0"/>
                                        </a:rPr>
                                      </m:ctrlPr>
                                    </m:dPr>
                                    <m:e>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m:t>
                                          </m:r>
                                        </m:sub>
                                      </m:sSub>
                                      <m:r>
                                        <a:rPr lang="en-US" sz="2400" b="1" i="1">
                                          <a:solidFill>
                                            <a:srgbClr val="FF0000"/>
                                          </a:solidFill>
                                          <a:latin typeface="Cambria Math" panose="02040503050406030204" pitchFamily="18" charset="0"/>
                                        </a:rPr>
                                        <m:t>−</m:t>
                                      </m:r>
                                      <m:sSub>
                                        <m:sSubPr>
                                          <m:ctrlPr>
                                            <a:rPr lang="en-US" sz="2400" b="1" i="1">
                                              <a:solidFill>
                                                <a:srgbClr val="FF0000"/>
                                              </a:solidFill>
                                              <a:latin typeface="Cambria Math" panose="02040503050406030204" pitchFamily="18" charset="0"/>
                                            </a:rPr>
                                          </m:ctrlPr>
                                        </m:sSubPr>
                                        <m:e>
                                          <m:r>
                                            <a:rPr lang="en-US" sz="2400" b="1" i="1">
                                              <a:solidFill>
                                                <a:srgbClr val="FF0000"/>
                                              </a:solidFill>
                                              <a:latin typeface="Cambria Math" panose="02040503050406030204" pitchFamily="18" charset="0"/>
                                            </a:rPr>
                                            <m:t>𝑪</m:t>
                                          </m:r>
                                        </m:e>
                                        <m:sub>
                                          <m:r>
                                            <a:rPr lang="en-US" sz="2400" i="1">
                                              <a:solidFill>
                                                <a:srgbClr val="FF0000"/>
                                              </a:solidFill>
                                              <a:latin typeface="Cambria Math" panose="02040503050406030204" pitchFamily="18" charset="0"/>
                                            </a:rPr>
                                            <m:t>0</m:t>
                                          </m:r>
                                        </m:sub>
                                      </m:sSub>
                                    </m:e>
                                  </m:d>
                                  <m:r>
                                    <a:rPr lang="en-US" sz="2400" b="1" i="1">
                                      <a:solidFill>
                                        <a:srgbClr val="FF0000"/>
                                      </a:solidFill>
                                      <a:latin typeface="Cambria Math" panose="02040503050406030204" pitchFamily="18" charset="0"/>
                                    </a:rPr>
                                    <m:t>:</m:t>
                                  </m:r>
                                  <m:sSub>
                                    <m:sSubPr>
                                      <m:ctrlPr>
                                        <a:rPr lang="en-US" sz="2400" i="1">
                                          <a:solidFill>
                                            <a:srgbClr val="FF0000"/>
                                          </a:solidFill>
                                          <a:latin typeface="Cambria Math" panose="02040503050406030204" pitchFamily="18" charset="0"/>
                                        </a:rPr>
                                      </m:ctrlPr>
                                    </m:sSubPr>
                                    <m:e>
                                      <m:r>
                                        <a:rPr lang="en-US" sz="2400" i="1">
                                          <a:solidFill>
                                            <a:srgbClr val="FF0000"/>
                                          </a:solidFill>
                                          <a:latin typeface="Cambria Math" panose="02040503050406030204" pitchFamily="18" charset="0"/>
                                        </a:rPr>
                                        <m:t>𝜒</m:t>
                                      </m:r>
                                    </m:e>
                                    <m:sub>
                                      <m:r>
                                        <a:rPr lang="en-US" sz="2400" i="1">
                                          <a:solidFill>
                                            <a:srgbClr val="FF0000"/>
                                          </a:solidFill>
                                          <a:latin typeface="Cambria Math" panose="02040503050406030204" pitchFamily="18" charset="0"/>
                                        </a:rPr>
                                        <m:t>𝐵</m:t>
                                      </m:r>
                                    </m:sub>
                                  </m:sSub>
                                  <m:r>
                                    <a:rPr lang="en-US" sz="2400" b="1" i="1">
                                      <a:solidFill>
                                        <a:srgbClr val="FF0000"/>
                                      </a:solidFill>
                                      <a:latin typeface="Cambria Math" panose="02040503050406030204" pitchFamily="18" charset="0"/>
                                      <a:ea typeface="Cambria Math" panose="02040503050406030204" pitchFamily="18" charset="0"/>
                                    </a:rPr>
                                    <m:t>𝒗</m:t>
                                  </m:r>
                                </m:e>
                              </m:d>
                            </m:e>
                          </m:d>
                        </m:e>
                        <m:sub>
                          <m:r>
                            <a:rPr lang="en-US" altLang="zh-TW" sz="2400" b="0" i="1">
                              <a:solidFill>
                                <a:srgbClr val="FF0000"/>
                              </a:solidFill>
                              <a:latin typeface="Cambria Math" panose="02040503050406030204" pitchFamily="18" charset="0"/>
                              <a:ea typeface="Cambria Math" panose="02040503050406030204" pitchFamily="18" charset="0"/>
                            </a:rPr>
                            <m:t>𝐴</m:t>
                          </m:r>
                        </m:sub>
                      </m:sSub>
                    </m:oMath>
                  </m:oMathPara>
                </a14:m>
                <a:endParaRPr lang="en-US" sz="2400" dirty="0">
                  <a:solidFill>
                    <a:srgbClr val="FF0000"/>
                  </a:solidFill>
                </a:endParaRPr>
              </a:p>
            </p:txBody>
          </p:sp>
        </mc:Choice>
        <mc:Fallback xmlns="">
          <p:sp>
            <p:nvSpPr>
              <p:cNvPr id="12" name="TextBox 11">
                <a:extLst>
                  <a:ext uri="{FF2B5EF4-FFF2-40B4-BE49-F238E27FC236}">
                    <a16:creationId xmlns:a16="http://schemas.microsoft.com/office/drawing/2014/main" id="{FEB24C7B-83A5-1453-AF31-1A26C1BFDDF2}"/>
                  </a:ext>
                </a:extLst>
              </p:cNvPr>
              <p:cNvSpPr txBox="1">
                <a:spLocks noRot="1" noChangeAspect="1" noMove="1" noResize="1" noEditPoints="1" noAdjustHandles="1" noChangeArrowheads="1" noChangeShapeType="1" noTextEdit="1"/>
              </p:cNvSpPr>
              <p:nvPr/>
            </p:nvSpPr>
            <p:spPr>
              <a:xfrm>
                <a:off x="2523515" y="5255502"/>
                <a:ext cx="6094378" cy="69044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D7E3653-CA2A-8C9A-4082-D27D44F481DC}"/>
                  </a:ext>
                </a:extLst>
              </p:cNvPr>
              <p:cNvSpPr txBox="1"/>
              <p:nvPr/>
            </p:nvSpPr>
            <p:spPr>
              <a:xfrm>
                <a:off x="2902084" y="2603375"/>
                <a:ext cx="6094378" cy="986552"/>
              </a:xfrm>
              <a:prstGeom prst="rect">
                <a:avLst/>
              </a:prstGeom>
              <a:noFill/>
            </p:spPr>
            <p:txBody>
              <a:bodyPr wrap="square">
                <a:spAutoFit/>
              </a:bodyPr>
              <a:lstStyle/>
              <a:p>
                <a:pPr algn="ctr"/>
                <a14:m>
                  <m:oMathPara xmlns:m="http://schemas.openxmlformats.org/officeDocument/2006/math">
                    <m:oMath>
                      <m:sSub>
                        <m:sSubPr>
                          <m:ctrlPr>
                            <a:rPr lang="en-US" sz="2400" b="1" i="1" smtClean="0">
                              <a:solidFill>
                                <a:schemeClr val="tx1"/>
                              </a:solidFill>
                              <a:latin typeface="Cambria Math" panose="02040503050406030204" pitchFamily="18" charset="0"/>
                              <a:ea typeface="Cambria Math" panose="02040503050406030204" pitchFamily="18" charset="0"/>
                            </a:rPr>
                          </m:ctrlPr>
                        </m:sSubPr>
                        <m:e>
                          <m:r>
                            <a:rPr lang="en-US" sz="2400" b="1" i="1" smtClean="0">
                              <a:solidFill>
                                <a:schemeClr val="tx1"/>
                              </a:solidFill>
                              <a:latin typeface="Cambria Math" panose="02040503050406030204" pitchFamily="18" charset="0"/>
                              <a:ea typeface="Cambria Math" panose="02040503050406030204" pitchFamily="18" charset="0"/>
                            </a:rPr>
                            <m:t>𝜺</m:t>
                          </m:r>
                        </m:e>
                        <m:sub>
                          <m:r>
                            <a:rPr lang="en-US" sz="2400" b="0" i="1" smtClean="0">
                              <a:solidFill>
                                <a:schemeClr val="tx1"/>
                              </a:solidFill>
                              <a:latin typeface="Cambria Math" panose="02040503050406030204" pitchFamily="18" charset="0"/>
                              <a:ea typeface="Cambria Math" panose="02040503050406030204" pitchFamily="18" charset="0"/>
                            </a:rPr>
                            <m:t>𝐴</m:t>
                          </m:r>
                        </m:sub>
                      </m:sSub>
                      <m:r>
                        <a:rPr lang="en-US" sz="2400" b="1" i="1">
                          <a:solidFill>
                            <a:schemeClr val="tx1"/>
                          </a:solidFill>
                          <a:latin typeface="Cambria Math" panose="02040503050406030204" pitchFamily="18" charset="0"/>
                          <a:ea typeface="Cambria Math" panose="02040503050406030204" pitchFamily="18" charset="0"/>
                        </a:rPr>
                        <m:t>=</m:t>
                      </m:r>
                      <m:sSubSup>
                        <m:sSubSupPr>
                          <m:ctrlPr>
                            <a:rPr lang="en-US" sz="2400" b="1" i="1" smtClean="0">
                              <a:solidFill>
                                <a:schemeClr val="tx1"/>
                              </a:solidFill>
                              <a:latin typeface="Cambria Math" panose="02040503050406030204" pitchFamily="18" charset="0"/>
                              <a:ea typeface="Cambria Math" panose="02040503050406030204" pitchFamily="18" charset="0"/>
                            </a:rPr>
                          </m:ctrlPr>
                        </m:sSubSupPr>
                        <m:e>
                          <m:r>
                            <a:rPr lang="en-US" sz="2400" b="1" i="1" smtClean="0">
                              <a:solidFill>
                                <a:schemeClr val="tx1"/>
                              </a:solidFill>
                              <a:latin typeface="Cambria Math" panose="02040503050406030204" pitchFamily="18" charset="0"/>
                              <a:ea typeface="Cambria Math" panose="02040503050406030204" pitchFamily="18" charset="0"/>
                            </a:rPr>
                            <m:t>𝑬</m:t>
                          </m:r>
                        </m:e>
                        <m:sub>
                          <m:r>
                            <a:rPr lang="en-US" sz="2400" i="1" smtClean="0">
                              <a:solidFill>
                                <a:schemeClr val="tx1"/>
                              </a:solidFill>
                              <a:latin typeface="Cambria Math" panose="02040503050406030204" pitchFamily="18" charset="0"/>
                              <a:ea typeface="Cambria Math" panose="02040503050406030204" pitchFamily="18" charset="0"/>
                            </a:rPr>
                            <m:t>𝐴</m:t>
                          </m:r>
                        </m:sub>
                        <m:sup>
                          <m:r>
                            <a:rPr lang="en-US" sz="2400" i="1" smtClean="0">
                              <a:solidFill>
                                <a:schemeClr val="tx1"/>
                              </a:solidFill>
                              <a:latin typeface="Cambria Math" panose="02040503050406030204" pitchFamily="18" charset="0"/>
                              <a:ea typeface="Cambria Math" panose="02040503050406030204" pitchFamily="18" charset="0"/>
                            </a:rPr>
                            <m:t>𝐶𝑃</m:t>
                          </m:r>
                        </m:sup>
                      </m:sSubSup>
                      <m:r>
                        <a:rPr lang="en-US" sz="2400" b="1" i="1">
                          <a:solidFill>
                            <a:schemeClr val="tx1"/>
                          </a:solidFill>
                          <a:latin typeface="Cambria Math" panose="02040503050406030204" pitchFamily="18" charset="0"/>
                          <a:ea typeface="Cambria Math" panose="02040503050406030204" pitchFamily="18" charset="0"/>
                        </a:rPr>
                        <m:t>:</m:t>
                      </m:r>
                      <m:acc>
                        <m:accPr>
                          <m:chr m:val="̅"/>
                          <m:ctrlPr>
                            <a:rPr lang="en-US" sz="2400" b="1" i="1">
                              <a:solidFill>
                                <a:schemeClr val="tx1"/>
                              </a:solidFill>
                              <a:latin typeface="Cambria Math" panose="02040503050406030204" pitchFamily="18" charset="0"/>
                            </a:rPr>
                          </m:ctrlPr>
                        </m:accPr>
                        <m:e>
                          <m:r>
                            <a:rPr lang="en-US" sz="2400" b="1" i="1">
                              <a:solidFill>
                                <a:schemeClr val="tx1"/>
                              </a:solidFill>
                              <a:latin typeface="Cambria Math" panose="02040503050406030204" pitchFamily="18" charset="0"/>
                            </a:rPr>
                            <m:t>𝜺</m:t>
                          </m:r>
                        </m:e>
                      </m:acc>
                      <m:r>
                        <a:rPr lang="en-US" sz="2400" b="1" i="1">
                          <a:solidFill>
                            <a:schemeClr val="tx1"/>
                          </a:solidFill>
                          <a:latin typeface="Cambria Math" panose="02040503050406030204" pitchFamily="18" charset="0"/>
                          <a:ea typeface="Cambria Math" panose="02040503050406030204" pitchFamily="18" charset="0"/>
                        </a:rPr>
                        <m:t>+</m:t>
                      </m:r>
                      <m:nary>
                        <m:naryPr>
                          <m:chr m:val="∑"/>
                          <m:ctrlPr>
                            <a:rPr lang="en-US" sz="24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tx1"/>
                              </a:solidFill>
                              <a:latin typeface="Cambria Math" panose="02040503050406030204" pitchFamily="18" charset="0"/>
                              <a:ea typeface="Cambria Math" panose="02040503050406030204" pitchFamily="18" charset="0"/>
                            </a:rPr>
                            <m:t>𝐵</m:t>
                          </m:r>
                        </m:sub>
                        <m:sup>
                          <m:r>
                            <a:rPr lang="en-US" sz="2400" b="1" i="1" smtClean="0">
                              <a:solidFill>
                                <a:schemeClr val="tx1"/>
                              </a:solidFill>
                              <a:latin typeface="Cambria Math" panose="02040503050406030204" pitchFamily="18" charset="0"/>
                              <a:ea typeface="Cambria Math" panose="02040503050406030204" pitchFamily="18" charset="0"/>
                            </a:rPr>
                            <m:t> </m:t>
                          </m:r>
                        </m:sup>
                        <m:e>
                          <m:sSubSup>
                            <m:sSubSupPr>
                              <m:ctrlPr>
                                <a:rPr lang="en-US" sz="2400" b="1" i="1">
                                  <a:solidFill>
                                    <a:schemeClr val="tx1"/>
                                  </a:solidFill>
                                  <a:latin typeface="Cambria Math" panose="02040503050406030204" pitchFamily="18" charset="0"/>
                                  <a:ea typeface="Cambria Math" panose="02040503050406030204" pitchFamily="18" charset="0"/>
                                </a:rPr>
                              </m:ctrlPr>
                            </m:sSubSupPr>
                            <m:e>
                              <m:r>
                                <a:rPr lang="en-US" sz="2400" b="1" i="1">
                                  <a:solidFill>
                                    <a:schemeClr val="tx1"/>
                                  </a:solidFill>
                                  <a:latin typeface="Cambria Math" panose="02040503050406030204" pitchFamily="18" charset="0"/>
                                  <a:ea typeface="Cambria Math" panose="02040503050406030204" pitchFamily="18" charset="0"/>
                                </a:rPr>
                                <m:t>𝑷</m:t>
                              </m:r>
                            </m:e>
                            <m:sub>
                              <m:r>
                                <a:rPr lang="en-US" sz="2400" b="0" i="1" smtClean="0">
                                  <a:solidFill>
                                    <a:schemeClr val="tx1"/>
                                  </a:solidFill>
                                  <a:latin typeface="Cambria Math" panose="02040503050406030204" pitchFamily="18" charset="0"/>
                                  <a:ea typeface="Cambria Math" panose="02040503050406030204" pitchFamily="18" charset="0"/>
                                </a:rPr>
                                <m:t>𝐴</m:t>
                              </m:r>
                              <m:r>
                                <a:rPr lang="en-US" sz="2400" i="1">
                                  <a:solidFill>
                                    <a:schemeClr val="tx1"/>
                                  </a:solidFill>
                                  <a:latin typeface="Cambria Math" panose="02040503050406030204" pitchFamily="18" charset="0"/>
                                  <a:ea typeface="Cambria Math" panose="02040503050406030204" pitchFamily="18" charset="0"/>
                                </a:rPr>
                                <m:t>𝐵</m:t>
                              </m:r>
                            </m:sub>
                            <m:sup>
                              <m:r>
                                <a:rPr lang="en-US" sz="2400" i="1" smtClean="0">
                                  <a:solidFill>
                                    <a:schemeClr val="tx1"/>
                                  </a:solidFill>
                                  <a:latin typeface="Cambria Math" panose="02040503050406030204" pitchFamily="18" charset="0"/>
                                  <a:ea typeface="Cambria Math" panose="02040503050406030204" pitchFamily="18" charset="0"/>
                                </a:rPr>
                                <m:t>𝐶𝑃</m:t>
                              </m:r>
                            </m:sup>
                          </m:sSubSup>
                          <m:r>
                            <a:rPr lang="en-US" sz="2400" b="1" i="1">
                              <a:solidFill>
                                <a:schemeClr val="tx1"/>
                              </a:solidFill>
                              <a:latin typeface="Cambria Math" panose="02040503050406030204" pitchFamily="18" charset="0"/>
                              <a:ea typeface="Cambria Math" panose="02040503050406030204" pitchFamily="18" charset="0"/>
                            </a:rPr>
                            <m:t>:</m:t>
                          </m:r>
                          <m:sSub>
                            <m:sSubPr>
                              <m:ctrlPr>
                                <a:rPr lang="en-US" sz="2400" b="1" i="1">
                                  <a:solidFill>
                                    <a:schemeClr val="tx1"/>
                                  </a:solidFill>
                                  <a:latin typeface="Cambria Math" panose="02040503050406030204" pitchFamily="18" charset="0"/>
                                  <a:ea typeface="Cambria Math" panose="02040503050406030204" pitchFamily="18" charset="0"/>
                                </a:rPr>
                              </m:ctrlPr>
                            </m:sSubPr>
                            <m:e>
                              <m:r>
                                <a:rPr lang="en-US" sz="2400" b="1" i="1">
                                  <a:solidFill>
                                    <a:schemeClr val="tx1"/>
                                  </a:solidFill>
                                  <a:latin typeface="Cambria Math" panose="02040503050406030204" pitchFamily="18" charset="0"/>
                                  <a:ea typeface="Cambria Math" panose="02040503050406030204" pitchFamily="18" charset="0"/>
                                </a:rPr>
                                <m:t>𝝀</m:t>
                              </m:r>
                            </m:e>
                            <m:sub>
                              <m:r>
                                <a:rPr lang="en-US" sz="2400" i="1">
                                  <a:solidFill>
                                    <a:schemeClr val="tx1"/>
                                  </a:solidFill>
                                  <a:latin typeface="Cambria Math" panose="02040503050406030204" pitchFamily="18" charset="0"/>
                                  <a:ea typeface="Cambria Math" panose="02040503050406030204" pitchFamily="18" charset="0"/>
                                </a:rPr>
                                <m:t>∗</m:t>
                              </m:r>
                              <m:r>
                                <a:rPr lang="en-US" sz="2400" i="1">
                                  <a:solidFill>
                                    <a:schemeClr val="tx1"/>
                                  </a:solidFill>
                                  <a:latin typeface="Cambria Math" panose="02040503050406030204" pitchFamily="18" charset="0"/>
                                  <a:ea typeface="Cambria Math" panose="02040503050406030204" pitchFamily="18" charset="0"/>
                                </a:rPr>
                                <m:t>𝐵</m:t>
                              </m:r>
                            </m:sub>
                          </m:sSub>
                        </m:e>
                      </m:nary>
                    </m:oMath>
                  </m:oMathPara>
                </a14:m>
                <a:endParaRPr lang="en-US" sz="2400" dirty="0">
                  <a:solidFill>
                    <a:schemeClr val="tx1"/>
                  </a:solidFill>
                </a:endParaRPr>
              </a:p>
            </p:txBody>
          </p:sp>
        </mc:Choice>
        <mc:Fallback xmlns="">
          <p:sp>
            <p:nvSpPr>
              <p:cNvPr id="4" name="TextBox 3">
                <a:extLst>
                  <a:ext uri="{FF2B5EF4-FFF2-40B4-BE49-F238E27FC236}">
                    <a16:creationId xmlns:a16="http://schemas.microsoft.com/office/drawing/2014/main" id="{CD7E3653-CA2A-8C9A-4082-D27D44F481DC}"/>
                  </a:ext>
                </a:extLst>
              </p:cNvPr>
              <p:cNvSpPr txBox="1">
                <a:spLocks noRot="1" noChangeAspect="1" noMove="1" noResize="1" noEditPoints="1" noAdjustHandles="1" noChangeArrowheads="1" noChangeShapeType="1" noTextEdit="1"/>
              </p:cNvSpPr>
              <p:nvPr/>
            </p:nvSpPr>
            <p:spPr>
              <a:xfrm>
                <a:off x="2902084" y="2603375"/>
                <a:ext cx="6094378" cy="98655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55BFFD9-CED0-079F-C1F3-D2EFFA739887}"/>
                  </a:ext>
                </a:extLst>
              </p:cNvPr>
              <p:cNvSpPr txBox="1"/>
              <p:nvPr/>
            </p:nvSpPr>
            <p:spPr>
              <a:xfrm>
                <a:off x="8374096" y="4371355"/>
                <a:ext cx="3429002" cy="1477328"/>
              </a:xfrm>
              <a:prstGeom prst="rect">
                <a:avLst/>
              </a:prstGeom>
              <a:noFill/>
            </p:spPr>
            <p:txBody>
              <a:bodyPr wrap="square" rtlCol="0">
                <a:spAutoFit/>
              </a:bodyPr>
              <a:lstStyle/>
              <a:p>
                <a:pPr algn="just"/>
                <a:r>
                  <a:rPr lang="en-US" altLang="zh-TW" dirty="0">
                    <a:solidFill>
                      <a:srgbClr val="0000FF"/>
                    </a:solidFill>
                  </a:rPr>
                  <a:t>Here, </a:t>
                </a:r>
                <a14:m>
                  <m:oMath xmlns:m="http://schemas.openxmlformats.org/officeDocument/2006/math">
                    <m:sSub>
                      <m:sSubPr>
                        <m:ctrlPr>
                          <a:rPr lang="en-US" altLang="zh-TW" b="0" i="1" smtClean="0">
                            <a:solidFill>
                              <a:srgbClr val="0000FF"/>
                            </a:solidFill>
                            <a:latin typeface="Cambria Math" panose="02040503050406030204" pitchFamily="18" charset="0"/>
                          </a:rPr>
                        </m:ctrlPr>
                      </m:sSubPr>
                      <m:e>
                        <m:d>
                          <m:dPr>
                            <m:begChr m:val=""/>
                            <m:endChr m:val="|"/>
                            <m:ctrlPr>
                              <a:rPr lang="en-US" altLang="zh-TW" b="0" i="1" smtClean="0">
                                <a:solidFill>
                                  <a:srgbClr val="0000FF"/>
                                </a:solidFill>
                                <a:latin typeface="Cambria Math" panose="02040503050406030204" pitchFamily="18" charset="0"/>
                              </a:rPr>
                            </m:ctrlPr>
                          </m:dPr>
                          <m:e>
                            <m:r>
                              <a:rPr lang="en-US" altLang="zh-TW" b="0" i="1" smtClean="0">
                                <a:solidFill>
                                  <a:srgbClr val="0000FF"/>
                                </a:solidFill>
                                <a:latin typeface="Cambria Math" panose="02040503050406030204" pitchFamily="18" charset="0"/>
                              </a:rPr>
                              <m:t> ⋅ </m:t>
                            </m:r>
                          </m:e>
                        </m:d>
                      </m:e>
                      <m:sub>
                        <m:r>
                          <a:rPr lang="en-US" altLang="zh-TW" b="0" i="1" smtClean="0">
                            <a:solidFill>
                              <a:srgbClr val="0000FF"/>
                            </a:solidFill>
                            <a:latin typeface="Cambria Math" panose="02040503050406030204" pitchFamily="18" charset="0"/>
                          </a:rPr>
                          <m:t>𝐴</m:t>
                        </m:r>
                      </m:sub>
                    </m:sSub>
                  </m:oMath>
                </a14:m>
                <a:r>
                  <a:rPr lang="en-US" dirty="0">
                    <a:solidFill>
                      <a:srgbClr val="0000FF"/>
                    </a:solidFill>
                  </a:rPr>
                  <a:t> denotes the evaluation of the field within partition </a:t>
                </a:r>
                <a14:m>
                  <m:oMath xmlns:m="http://schemas.openxmlformats.org/officeDocument/2006/math">
                    <m:r>
                      <a:rPr lang="en-US" b="0" i="1" smtClean="0">
                        <a:solidFill>
                          <a:srgbClr val="0000FF"/>
                        </a:solidFill>
                        <a:latin typeface="Cambria Math" panose="02040503050406030204" pitchFamily="18" charset="0"/>
                      </a:rPr>
                      <m:t>𝐴</m:t>
                    </m:r>
                  </m:oMath>
                </a14:m>
                <a:r>
                  <a:rPr lang="en-US" dirty="0">
                    <a:solidFill>
                      <a:srgbClr val="0000FF"/>
                    </a:solidFill>
                  </a:rPr>
                  <a:t>. No averaging is required, since the terms are already constant in each partition. </a:t>
                </a:r>
              </a:p>
            </p:txBody>
          </p:sp>
        </mc:Choice>
        <mc:Fallback xmlns="">
          <p:sp>
            <p:nvSpPr>
              <p:cNvPr id="8" name="TextBox 7">
                <a:extLst>
                  <a:ext uri="{FF2B5EF4-FFF2-40B4-BE49-F238E27FC236}">
                    <a16:creationId xmlns:a16="http://schemas.microsoft.com/office/drawing/2014/main" id="{E55BFFD9-CED0-079F-C1F3-D2EFFA739887}"/>
                  </a:ext>
                </a:extLst>
              </p:cNvPr>
              <p:cNvSpPr txBox="1">
                <a:spLocks noRot="1" noChangeAspect="1" noMove="1" noResize="1" noEditPoints="1" noAdjustHandles="1" noChangeArrowheads="1" noChangeShapeType="1" noTextEdit="1"/>
              </p:cNvSpPr>
              <p:nvPr/>
            </p:nvSpPr>
            <p:spPr>
              <a:xfrm>
                <a:off x="8374096" y="4371355"/>
                <a:ext cx="3429002" cy="1477328"/>
              </a:xfrm>
              <a:prstGeom prst="rect">
                <a:avLst/>
              </a:prstGeom>
              <a:blipFill>
                <a:blip r:embed="rId6"/>
                <a:stretch>
                  <a:fillRect l="-1601" t="-30165" r="-1423" b="-6198"/>
                </a:stretch>
              </a:blipFill>
            </p:spPr>
            <p:txBody>
              <a:bodyPr/>
              <a:lstStyle/>
              <a:p>
                <a:r>
                  <a:rPr lang="en-US">
                    <a:noFill/>
                  </a:rPr>
                  <a:t> </a:t>
                </a:r>
              </a:p>
            </p:txBody>
          </p:sp>
        </mc:Fallback>
      </mc:AlternateContent>
    </p:spTree>
    <p:extLst>
      <p:ext uri="{BB962C8B-B14F-4D97-AF65-F5344CB8AC3E}">
        <p14:creationId xmlns:p14="http://schemas.microsoft.com/office/powerpoint/2010/main" val="19858742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1A564-688C-4ACD-31A0-1305574C71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0DECC5-29BC-19F4-05DD-24DFCF73ADF7}"/>
              </a:ext>
            </a:extLst>
          </p:cNvPr>
          <p:cNvSpPr>
            <a:spLocks noGrp="1"/>
          </p:cNvSpPr>
          <p:nvPr>
            <p:ph type="title"/>
          </p:nvPr>
        </p:nvSpPr>
        <p:spPr>
          <a:xfrm>
            <a:off x="417477" y="387235"/>
            <a:ext cx="10515600" cy="1325563"/>
          </a:xfrm>
        </p:spPr>
        <p:txBody>
          <a:bodyPr/>
          <a:lstStyle/>
          <a:p>
            <a:r>
              <a:rPr lang="en-US" dirty="0"/>
              <a:t>Final Comparison: TFA vs. CP</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54EFA5B-6725-6C25-27CB-D315A69BD11B}"/>
                  </a:ext>
                </a:extLst>
              </p:cNvPr>
              <p:cNvGraphicFramePr>
                <a:graphicFrameLocks noGrp="1"/>
              </p:cNvGraphicFramePr>
              <p:nvPr>
                <p:extLst>
                  <p:ext uri="{D42A27DB-BD31-4B8C-83A1-F6EECF244321}">
                    <p14:modId xmlns:p14="http://schemas.microsoft.com/office/powerpoint/2010/main" val="484062735"/>
                  </p:ext>
                </p:extLst>
              </p:nvPr>
            </p:nvGraphicFramePr>
            <p:xfrm>
              <a:off x="2181860" y="2030306"/>
              <a:ext cx="7863840" cy="3898054"/>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3861926108"/>
                        </a:ext>
                      </a:extLst>
                    </a:gridCol>
                    <a:gridCol w="3931920">
                      <a:extLst>
                        <a:ext uri="{9D8B030D-6E8A-4147-A177-3AD203B41FA5}">
                          <a16:colId xmlns:a16="http://schemas.microsoft.com/office/drawing/2014/main" val="2614438533"/>
                        </a:ext>
                      </a:extLst>
                    </a:gridCol>
                  </a:tblGrid>
                  <a:tr h="606214">
                    <a:tc>
                      <a:txBody>
                        <a:bodyPr/>
                        <a:lstStyle/>
                        <a:p>
                          <a:pPr algn="ctr"/>
                          <a:r>
                            <a:rPr lang="en-US" sz="3200" b="1" dirty="0">
                              <a:solidFill>
                                <a:schemeClr val="tx1"/>
                              </a:solidFill>
                            </a:rPr>
                            <a:t>TFA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algn="ctr"/>
                          <a:r>
                            <a:rPr lang="en-US" sz="3200" b="1" dirty="0">
                              <a:solidFill>
                                <a:schemeClr val="tx1"/>
                              </a:solidFill>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0173072"/>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𝜺</m:t>
                                    </m:r>
                                  </m:e>
                                  <m:sub>
                                    <m:r>
                                      <a:rPr lang="en-US" sz="2000" b="0" i="1" smtClean="0">
                                        <a:solidFill>
                                          <a:schemeClr val="tx1"/>
                                        </a:solidFill>
                                        <a:latin typeface="Cambria Math" panose="02040503050406030204" pitchFamily="18" charset="0"/>
                                        <a:ea typeface="Cambria Math" panose="02040503050406030204" pitchFamily="18" charset="0"/>
                                      </a:rPr>
                                      <m:t>𝐴</m:t>
                                    </m:r>
                                  </m:sub>
                                </m:sSub>
                                <m:r>
                                  <a:rPr lang="en-US" sz="2000" b="1" i="1">
                                    <a:solidFill>
                                      <a:schemeClr val="tx1"/>
                                    </a:solidFill>
                                    <a:latin typeface="Cambria Math" panose="02040503050406030204" pitchFamily="18" charset="0"/>
                                    <a:ea typeface="Cambria Math" panose="02040503050406030204" pitchFamily="18" charset="0"/>
                                  </a:rPr>
                                  <m:t>=</m:t>
                                </m:r>
                                <m:sSubSup>
                                  <m:sSubSupPr>
                                    <m:ctrlPr>
                                      <a:rPr lang="en-US" sz="2000" b="1" i="1" smtClean="0">
                                        <a:solidFill>
                                          <a:schemeClr val="tx1"/>
                                        </a:solidFill>
                                        <a:latin typeface="Cambria Math" panose="02040503050406030204" pitchFamily="18" charset="0"/>
                                        <a:ea typeface="Cambria Math" panose="02040503050406030204" pitchFamily="18" charset="0"/>
                                      </a:rPr>
                                    </m:ctrlPr>
                                  </m:sSubSupPr>
                                  <m:e>
                                    <m:r>
                                      <a:rPr lang="en-US" sz="2000" b="1" i="1" smtClean="0">
                                        <a:solidFill>
                                          <a:schemeClr val="tx1"/>
                                        </a:solidFill>
                                        <a:latin typeface="Cambria Math" panose="02040503050406030204" pitchFamily="18" charset="0"/>
                                        <a:ea typeface="Cambria Math" panose="02040503050406030204" pitchFamily="18" charset="0"/>
                                      </a:rPr>
                                      <m:t>𝑬</m:t>
                                    </m:r>
                                  </m:e>
                                  <m:sub>
                                    <m:r>
                                      <a:rPr lang="en-US" sz="2000" b="0" i="1" smtClean="0">
                                        <a:solidFill>
                                          <a:schemeClr val="tx1"/>
                                        </a:solidFill>
                                        <a:latin typeface="Cambria Math" panose="02040503050406030204" pitchFamily="18" charset="0"/>
                                        <a:ea typeface="Cambria Math" panose="02040503050406030204" pitchFamily="18" charset="0"/>
                                      </a:rPr>
                                      <m:t>𝐴</m:t>
                                    </m:r>
                                  </m:sub>
                                  <m:sup>
                                    <m:r>
                                      <a:rPr lang="en-US" sz="2000" b="0" i="1" smtClean="0">
                                        <a:solidFill>
                                          <a:schemeClr val="tx1"/>
                                        </a:solidFill>
                                        <a:latin typeface="Cambria Math" panose="02040503050406030204" pitchFamily="18" charset="0"/>
                                        <a:ea typeface="Cambria Math" panose="02040503050406030204" pitchFamily="18" charset="0"/>
                                      </a:rPr>
                                      <m:t>𝑇𝐹𝐴</m:t>
                                    </m:r>
                                  </m:sup>
                                </m:sSubSup>
                                <m:r>
                                  <a:rPr lang="en-US" sz="2000" b="1" i="1">
                                    <a:solidFill>
                                      <a:schemeClr val="tx1"/>
                                    </a:solidFill>
                                    <a:latin typeface="Cambria Math" panose="02040503050406030204" pitchFamily="18" charset="0"/>
                                    <a:ea typeface="Cambria Math" panose="02040503050406030204" pitchFamily="18" charset="0"/>
                                  </a:rPr>
                                  <m:t>:</m:t>
                                </m:r>
                                <m:acc>
                                  <m:accPr>
                                    <m:chr m:val="̅"/>
                                    <m:ctrlPr>
                                      <a:rPr lang="en-US" sz="2000" b="1" i="1">
                                        <a:solidFill>
                                          <a:schemeClr val="tx1"/>
                                        </a:solidFill>
                                        <a:latin typeface="Cambria Math" panose="02040503050406030204" pitchFamily="18" charset="0"/>
                                      </a:rPr>
                                    </m:ctrlPr>
                                  </m:accPr>
                                  <m:e>
                                    <m:r>
                                      <a:rPr lang="en-US" sz="2000" b="1" i="1">
                                        <a:solidFill>
                                          <a:schemeClr val="tx1"/>
                                        </a:solidFill>
                                        <a:latin typeface="Cambria Math" panose="02040503050406030204" pitchFamily="18" charset="0"/>
                                      </a:rPr>
                                      <m:t>𝜺</m:t>
                                    </m:r>
                                  </m:e>
                                </m:acc>
                                <m:r>
                                  <a:rPr lang="en-US" sz="2000" b="1" i="1">
                                    <a:solidFill>
                                      <a:schemeClr val="tx1"/>
                                    </a:solidFill>
                                    <a:latin typeface="Cambria Math" panose="02040503050406030204" pitchFamily="18" charset="0"/>
                                    <a:ea typeface="Cambria Math" panose="02040503050406030204" pitchFamily="18" charset="0"/>
                                  </a:rPr>
                                  <m:t>+</m:t>
                                </m:r>
                                <m:nary>
                                  <m:naryPr>
                                    <m:chr m:val="∑"/>
                                    <m:ctrlPr>
                                      <a:rPr lang="en-US" sz="20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000" b="0" i="1" smtClean="0">
                                        <a:solidFill>
                                          <a:schemeClr val="tx1"/>
                                        </a:solidFill>
                                        <a:latin typeface="Cambria Math" panose="02040503050406030204" pitchFamily="18" charset="0"/>
                                        <a:ea typeface="Cambria Math" panose="02040503050406030204" pitchFamily="18" charset="0"/>
                                      </a:rPr>
                                      <m:t>𝐵</m:t>
                                    </m:r>
                                  </m:sub>
                                  <m:sup>
                                    <m:r>
                                      <a:rPr lang="en-US" sz="2000" b="1" i="1" smtClean="0">
                                        <a:solidFill>
                                          <a:schemeClr val="tx1"/>
                                        </a:solidFill>
                                        <a:latin typeface="Cambria Math" panose="02040503050406030204" pitchFamily="18" charset="0"/>
                                        <a:ea typeface="Cambria Math" panose="02040503050406030204" pitchFamily="18" charset="0"/>
                                      </a:rPr>
                                      <m:t> </m:t>
                                    </m:r>
                                  </m:sup>
                                  <m:e>
                                    <m:sSubSup>
                                      <m:sSubSupPr>
                                        <m:ctrlPr>
                                          <a:rPr lang="en-US" sz="2000" b="1" i="1">
                                            <a:solidFill>
                                              <a:schemeClr val="tx1"/>
                                            </a:solidFill>
                                            <a:latin typeface="Cambria Math" panose="02040503050406030204" pitchFamily="18" charset="0"/>
                                            <a:ea typeface="Cambria Math" panose="02040503050406030204" pitchFamily="18" charset="0"/>
                                          </a:rPr>
                                        </m:ctrlPr>
                                      </m:sSubSupPr>
                                      <m:e>
                                        <m:r>
                                          <a:rPr lang="en-US" sz="2000" b="1" i="1">
                                            <a:solidFill>
                                              <a:schemeClr val="tx1"/>
                                            </a:solidFill>
                                            <a:latin typeface="Cambria Math" panose="02040503050406030204" pitchFamily="18" charset="0"/>
                                            <a:ea typeface="Cambria Math" panose="02040503050406030204" pitchFamily="18" charset="0"/>
                                          </a:rPr>
                                          <m:t>𝑷</m:t>
                                        </m:r>
                                      </m:e>
                                      <m:sub>
                                        <m:r>
                                          <a:rPr lang="en-US" sz="2000" b="0" i="1" smtClean="0">
                                            <a:solidFill>
                                              <a:schemeClr val="tx1"/>
                                            </a:solidFill>
                                            <a:latin typeface="Cambria Math" panose="02040503050406030204" pitchFamily="18" charset="0"/>
                                            <a:ea typeface="Cambria Math" panose="02040503050406030204" pitchFamily="18" charset="0"/>
                                          </a:rPr>
                                          <m:t>𝐴</m:t>
                                        </m:r>
                                        <m:r>
                                          <a:rPr lang="en-US" sz="2000" i="1">
                                            <a:solidFill>
                                              <a:schemeClr val="tx1"/>
                                            </a:solidFill>
                                            <a:latin typeface="Cambria Math" panose="02040503050406030204" pitchFamily="18" charset="0"/>
                                            <a:ea typeface="Cambria Math" panose="02040503050406030204" pitchFamily="18" charset="0"/>
                                          </a:rPr>
                                          <m:t>𝐵</m:t>
                                        </m:r>
                                      </m:sub>
                                      <m:sup>
                                        <m:r>
                                          <a:rPr lang="en-US" sz="2000" i="1">
                                            <a:latin typeface="Cambria Math" panose="02040503050406030204" pitchFamily="18" charset="0"/>
                                            <a:ea typeface="Cambria Math" panose="02040503050406030204" pitchFamily="18" charset="0"/>
                                          </a:rPr>
                                          <m:t>𝑇𝐹𝐴</m:t>
                                        </m:r>
                                      </m:sup>
                                    </m:sSubSup>
                                    <m:r>
                                      <a:rPr lang="en-US" sz="2000" b="1" i="1">
                                        <a:solidFill>
                                          <a:schemeClr val="tx1"/>
                                        </a:solidFill>
                                        <a:latin typeface="Cambria Math" panose="02040503050406030204" pitchFamily="18" charset="0"/>
                                        <a:ea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𝝁</m:t>
                                        </m:r>
                                      </m:e>
                                      <m:sub>
                                        <m:r>
                                          <a:rPr lang="en-US" sz="2000" i="1">
                                            <a:solidFill>
                                              <a:schemeClr val="tx1"/>
                                            </a:solidFill>
                                            <a:latin typeface="Cambria Math" panose="02040503050406030204" pitchFamily="18" charset="0"/>
                                          </a:rPr>
                                          <m:t>𝐵</m:t>
                                        </m:r>
                                      </m:sub>
                                    </m:sSub>
                                  </m:e>
                                </m:nary>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𝜺</m:t>
                                    </m:r>
                                  </m:e>
                                  <m:sub>
                                    <m:r>
                                      <a:rPr lang="en-US" sz="2000" b="0" i="1" smtClean="0">
                                        <a:solidFill>
                                          <a:schemeClr val="tx1"/>
                                        </a:solidFill>
                                        <a:latin typeface="Cambria Math" panose="02040503050406030204" pitchFamily="18" charset="0"/>
                                        <a:ea typeface="Cambria Math" panose="02040503050406030204" pitchFamily="18" charset="0"/>
                                      </a:rPr>
                                      <m:t>𝐴</m:t>
                                    </m:r>
                                  </m:sub>
                                </m:sSub>
                                <m:r>
                                  <a:rPr lang="en-US" sz="2000" b="1" i="1">
                                    <a:solidFill>
                                      <a:schemeClr val="tx1"/>
                                    </a:solidFill>
                                    <a:latin typeface="Cambria Math" panose="02040503050406030204" pitchFamily="18" charset="0"/>
                                    <a:ea typeface="Cambria Math" panose="02040503050406030204" pitchFamily="18" charset="0"/>
                                  </a:rPr>
                                  <m:t>=</m:t>
                                </m:r>
                                <m:sSubSup>
                                  <m:sSubSupPr>
                                    <m:ctrlPr>
                                      <a:rPr lang="en-US" sz="2000" b="1" i="1" smtClean="0">
                                        <a:solidFill>
                                          <a:schemeClr val="tx1"/>
                                        </a:solidFill>
                                        <a:latin typeface="Cambria Math" panose="02040503050406030204" pitchFamily="18" charset="0"/>
                                        <a:ea typeface="Cambria Math" panose="02040503050406030204" pitchFamily="18" charset="0"/>
                                      </a:rPr>
                                    </m:ctrlPr>
                                  </m:sSubSupPr>
                                  <m:e>
                                    <m:r>
                                      <a:rPr lang="en-US" sz="2000" b="1" i="1" smtClean="0">
                                        <a:solidFill>
                                          <a:schemeClr val="tx1"/>
                                        </a:solidFill>
                                        <a:latin typeface="Cambria Math" panose="02040503050406030204" pitchFamily="18" charset="0"/>
                                        <a:ea typeface="Cambria Math" panose="02040503050406030204" pitchFamily="18" charset="0"/>
                                      </a:rPr>
                                      <m:t>𝑬</m:t>
                                    </m:r>
                                  </m:e>
                                  <m:sub>
                                    <m:r>
                                      <a:rPr lang="en-US" sz="2000" i="1" smtClean="0">
                                        <a:solidFill>
                                          <a:schemeClr val="tx1"/>
                                        </a:solidFill>
                                        <a:latin typeface="Cambria Math" panose="02040503050406030204" pitchFamily="18" charset="0"/>
                                        <a:ea typeface="Cambria Math" panose="02040503050406030204" pitchFamily="18" charset="0"/>
                                      </a:rPr>
                                      <m:t>𝐴</m:t>
                                    </m:r>
                                  </m:sub>
                                  <m:sup>
                                    <m:r>
                                      <a:rPr lang="en-US" sz="2000" i="1" smtClean="0">
                                        <a:solidFill>
                                          <a:schemeClr val="tx1"/>
                                        </a:solidFill>
                                        <a:latin typeface="Cambria Math" panose="02040503050406030204" pitchFamily="18" charset="0"/>
                                        <a:ea typeface="Cambria Math" panose="02040503050406030204" pitchFamily="18" charset="0"/>
                                      </a:rPr>
                                      <m:t>𝐶𝑃</m:t>
                                    </m:r>
                                  </m:sup>
                                </m:sSubSup>
                                <m:r>
                                  <a:rPr lang="en-US" sz="2000" b="1" i="1">
                                    <a:solidFill>
                                      <a:schemeClr val="tx1"/>
                                    </a:solidFill>
                                    <a:latin typeface="Cambria Math" panose="02040503050406030204" pitchFamily="18" charset="0"/>
                                    <a:ea typeface="Cambria Math" panose="02040503050406030204" pitchFamily="18" charset="0"/>
                                  </a:rPr>
                                  <m:t>:</m:t>
                                </m:r>
                                <m:acc>
                                  <m:accPr>
                                    <m:chr m:val="̅"/>
                                    <m:ctrlPr>
                                      <a:rPr lang="en-US" sz="2000" b="1" i="1">
                                        <a:solidFill>
                                          <a:schemeClr val="tx1"/>
                                        </a:solidFill>
                                        <a:latin typeface="Cambria Math" panose="02040503050406030204" pitchFamily="18" charset="0"/>
                                      </a:rPr>
                                    </m:ctrlPr>
                                  </m:accPr>
                                  <m:e>
                                    <m:r>
                                      <a:rPr lang="en-US" sz="2000" b="1" i="1">
                                        <a:solidFill>
                                          <a:schemeClr val="tx1"/>
                                        </a:solidFill>
                                        <a:latin typeface="Cambria Math" panose="02040503050406030204" pitchFamily="18" charset="0"/>
                                      </a:rPr>
                                      <m:t>𝜺</m:t>
                                    </m:r>
                                  </m:e>
                                </m:acc>
                                <m:r>
                                  <a:rPr lang="en-US" sz="2000" b="1" i="1">
                                    <a:solidFill>
                                      <a:schemeClr val="tx1"/>
                                    </a:solidFill>
                                    <a:latin typeface="Cambria Math" panose="02040503050406030204" pitchFamily="18" charset="0"/>
                                    <a:ea typeface="Cambria Math" panose="02040503050406030204" pitchFamily="18" charset="0"/>
                                  </a:rPr>
                                  <m:t>+</m:t>
                                </m:r>
                                <m:nary>
                                  <m:naryPr>
                                    <m:chr m:val="∑"/>
                                    <m:ctrlPr>
                                      <a:rPr lang="en-US" sz="2000" b="0" i="1" smtClean="0">
                                        <a:solidFill>
                                          <a:schemeClr val="tx1"/>
                                        </a:solidFill>
                                        <a:latin typeface="Cambria Math" panose="02040503050406030204" pitchFamily="18" charset="0"/>
                                        <a:ea typeface="Cambria Math" panose="02040503050406030204" pitchFamily="18" charset="0"/>
                                      </a:rPr>
                                    </m:ctrlPr>
                                  </m:naryPr>
                                  <m:sub>
                                    <m:r>
                                      <m:rPr>
                                        <m:brk m:alnAt="23"/>
                                      </m:rPr>
                                      <a:rPr lang="en-US" sz="2000" b="0" i="1" smtClean="0">
                                        <a:solidFill>
                                          <a:schemeClr val="tx1"/>
                                        </a:solidFill>
                                        <a:latin typeface="Cambria Math" panose="02040503050406030204" pitchFamily="18" charset="0"/>
                                        <a:ea typeface="Cambria Math" panose="02040503050406030204" pitchFamily="18" charset="0"/>
                                      </a:rPr>
                                      <m:t>𝐵</m:t>
                                    </m:r>
                                  </m:sub>
                                  <m:sup>
                                    <m:r>
                                      <a:rPr lang="en-US" sz="2000" b="1" i="1" smtClean="0">
                                        <a:solidFill>
                                          <a:schemeClr val="tx1"/>
                                        </a:solidFill>
                                        <a:latin typeface="Cambria Math" panose="02040503050406030204" pitchFamily="18" charset="0"/>
                                        <a:ea typeface="Cambria Math" panose="02040503050406030204" pitchFamily="18" charset="0"/>
                                      </a:rPr>
                                      <m:t> </m:t>
                                    </m:r>
                                  </m:sup>
                                  <m:e>
                                    <m:sSubSup>
                                      <m:sSubSupPr>
                                        <m:ctrlPr>
                                          <a:rPr lang="en-US" sz="2000" b="1" i="1">
                                            <a:solidFill>
                                              <a:schemeClr val="tx1"/>
                                            </a:solidFill>
                                            <a:latin typeface="Cambria Math" panose="02040503050406030204" pitchFamily="18" charset="0"/>
                                            <a:ea typeface="Cambria Math" panose="02040503050406030204" pitchFamily="18" charset="0"/>
                                          </a:rPr>
                                        </m:ctrlPr>
                                      </m:sSubSupPr>
                                      <m:e>
                                        <m:r>
                                          <a:rPr lang="en-US" sz="2000" b="1" i="1">
                                            <a:solidFill>
                                              <a:schemeClr val="tx1"/>
                                            </a:solidFill>
                                            <a:latin typeface="Cambria Math" panose="02040503050406030204" pitchFamily="18" charset="0"/>
                                            <a:ea typeface="Cambria Math" panose="02040503050406030204" pitchFamily="18" charset="0"/>
                                          </a:rPr>
                                          <m:t>𝑷</m:t>
                                        </m:r>
                                      </m:e>
                                      <m:sub>
                                        <m:r>
                                          <a:rPr lang="en-US" sz="2000" b="0" i="1" smtClean="0">
                                            <a:solidFill>
                                              <a:schemeClr val="tx1"/>
                                            </a:solidFill>
                                            <a:latin typeface="Cambria Math" panose="02040503050406030204" pitchFamily="18" charset="0"/>
                                            <a:ea typeface="Cambria Math" panose="02040503050406030204" pitchFamily="18" charset="0"/>
                                          </a:rPr>
                                          <m:t>𝐴</m:t>
                                        </m:r>
                                        <m:r>
                                          <a:rPr lang="en-US" sz="2000" i="1">
                                            <a:solidFill>
                                              <a:schemeClr val="tx1"/>
                                            </a:solidFill>
                                            <a:latin typeface="Cambria Math" panose="02040503050406030204" pitchFamily="18" charset="0"/>
                                            <a:ea typeface="Cambria Math" panose="02040503050406030204" pitchFamily="18" charset="0"/>
                                          </a:rPr>
                                          <m:t>𝐵</m:t>
                                        </m:r>
                                      </m:sub>
                                      <m:sup>
                                        <m:r>
                                          <a:rPr lang="en-US" sz="2000" i="1" smtClean="0">
                                            <a:solidFill>
                                              <a:schemeClr val="tx1"/>
                                            </a:solidFill>
                                            <a:latin typeface="Cambria Math" panose="02040503050406030204" pitchFamily="18" charset="0"/>
                                            <a:ea typeface="Cambria Math" panose="02040503050406030204" pitchFamily="18" charset="0"/>
                                          </a:rPr>
                                          <m:t>𝐶𝑃</m:t>
                                        </m:r>
                                      </m:sup>
                                    </m:sSubSup>
                                    <m:r>
                                      <a:rPr lang="en-US" sz="2000" b="1" i="1">
                                        <a:solidFill>
                                          <a:schemeClr val="tx1"/>
                                        </a:solidFill>
                                        <a:latin typeface="Cambria Math" panose="02040503050406030204" pitchFamily="18" charset="0"/>
                                        <a:ea typeface="Cambria Math" panose="02040503050406030204" pitchFamily="18" charset="0"/>
                                      </a:rPr>
                                      <m:t>:</m:t>
                                    </m:r>
                                    <m:sSub>
                                      <m:sSubPr>
                                        <m:ctrlPr>
                                          <a:rPr lang="en-US" sz="2000" b="1" i="1">
                                            <a:solidFill>
                                              <a:schemeClr val="tx1"/>
                                            </a:solidFill>
                                            <a:latin typeface="Cambria Math" panose="02040503050406030204" pitchFamily="18" charset="0"/>
                                            <a:ea typeface="Cambria Math" panose="02040503050406030204" pitchFamily="18" charset="0"/>
                                          </a:rPr>
                                        </m:ctrlPr>
                                      </m:sSubPr>
                                      <m:e>
                                        <m:r>
                                          <a:rPr lang="en-US" sz="2000" b="1" i="1">
                                            <a:solidFill>
                                              <a:schemeClr val="tx1"/>
                                            </a:solidFill>
                                            <a:latin typeface="Cambria Math" panose="02040503050406030204" pitchFamily="18" charset="0"/>
                                            <a:ea typeface="Cambria Math" panose="02040503050406030204" pitchFamily="18" charset="0"/>
                                          </a:rPr>
                                          <m:t>𝝀</m:t>
                                        </m:r>
                                      </m:e>
                                      <m:sub>
                                        <m:r>
                                          <a:rPr lang="en-US" sz="2000" i="1">
                                            <a:solidFill>
                                              <a:schemeClr val="tx1"/>
                                            </a:solidFill>
                                            <a:latin typeface="Cambria Math" panose="02040503050406030204" pitchFamily="18" charset="0"/>
                                            <a:ea typeface="Cambria Math" panose="02040503050406030204" pitchFamily="18" charset="0"/>
                                          </a:rPr>
                                          <m:t>∗</m:t>
                                        </m:r>
                                        <m:r>
                                          <a:rPr lang="en-US" sz="2000" i="1">
                                            <a:solidFill>
                                              <a:schemeClr val="tx1"/>
                                            </a:solidFill>
                                            <a:latin typeface="Cambria Math" panose="02040503050406030204" pitchFamily="18" charset="0"/>
                                            <a:ea typeface="Cambria Math" panose="02040503050406030204" pitchFamily="18" charset="0"/>
                                          </a:rPr>
                                          <m:t>𝐵</m:t>
                                        </m:r>
                                      </m:sub>
                                    </m:sSub>
                                  </m:e>
                                </m:nary>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943468"/>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lang="en-US" sz="2000" b="1" i="1">
                                        <a:solidFill>
                                          <a:schemeClr val="tx1"/>
                                        </a:solidFill>
                                        <a:latin typeface="Cambria Math" panose="02040503050406030204" pitchFamily="18" charset="0"/>
                                        <a:ea typeface="Cambria Math" panose="02040503050406030204" pitchFamily="18" charset="0"/>
                                      </a:rPr>
                                    </m:ctrlPr>
                                  </m:sSubSupPr>
                                  <m:e>
                                    <m:r>
                                      <a:rPr lang="en-US" sz="2000" b="1" i="1">
                                        <a:solidFill>
                                          <a:schemeClr val="tx1"/>
                                        </a:solidFill>
                                        <a:latin typeface="Cambria Math" panose="02040503050406030204" pitchFamily="18" charset="0"/>
                                        <a:ea typeface="Cambria Math" panose="02040503050406030204" pitchFamily="18" charset="0"/>
                                      </a:rPr>
                                      <m:t>𝑬</m:t>
                                    </m:r>
                                  </m:e>
                                  <m:sub>
                                    <m:r>
                                      <a:rPr lang="en-US" sz="2000" i="1">
                                        <a:solidFill>
                                          <a:schemeClr val="tx1"/>
                                        </a:solidFill>
                                        <a:latin typeface="Cambria Math" panose="02040503050406030204" pitchFamily="18" charset="0"/>
                                        <a:ea typeface="Cambria Math" panose="02040503050406030204" pitchFamily="18" charset="0"/>
                                      </a:rPr>
                                      <m:t>𝐴</m:t>
                                    </m:r>
                                  </m:sub>
                                  <m:sup>
                                    <m:r>
                                      <a:rPr lang="en-US" sz="2000" i="1">
                                        <a:solidFill>
                                          <a:schemeClr val="tx1"/>
                                        </a:solidFill>
                                        <a:latin typeface="Cambria Math" panose="02040503050406030204" pitchFamily="18" charset="0"/>
                                        <a:ea typeface="Cambria Math" panose="02040503050406030204" pitchFamily="18" charset="0"/>
                                      </a:rPr>
                                      <m:t>𝑇𝐹𝐴</m:t>
                                    </m:r>
                                  </m:sup>
                                </m:sSubSup>
                                <m:r>
                                  <a:rPr lang="en-US" sz="2000" b="1" i="1">
                                    <a:solidFill>
                                      <a:schemeClr val="tx1"/>
                                    </a:solidFill>
                                    <a:latin typeface="Cambria Math" panose="02040503050406030204" pitchFamily="18" charset="0"/>
                                    <a:ea typeface="Cambria Math" panose="02040503050406030204" pitchFamily="18" charset="0"/>
                                  </a:rPr>
                                  <m:t>:</m:t>
                                </m:r>
                                <m:r>
                                  <a:rPr lang="en-US" sz="2000" b="1" i="1">
                                    <a:solidFill>
                                      <a:schemeClr val="tx1"/>
                                    </a:solidFill>
                                    <a:latin typeface="Cambria Math" panose="02040503050406030204" pitchFamily="18" charset="0"/>
                                    <a:ea typeface="Cambria Math" panose="02040503050406030204" pitchFamily="18" charset="0"/>
                                  </a:rPr>
                                  <m:t>𝒗</m:t>
                                </m:r>
                                <m:r>
                                  <a:rPr lang="en-US" sz="2000" b="1" i="1" smtClean="0">
                                    <a:solidFill>
                                      <a:schemeClr val="tx1"/>
                                    </a:solidFill>
                                    <a:latin typeface="Cambria Math" panose="02040503050406030204" pitchFamily="18" charset="0"/>
                                    <a:ea typeface="Cambria Math" panose="02040503050406030204" pitchFamily="18" charset="0"/>
                                  </a:rPr>
                                  <m:t>=</m:t>
                                </m:r>
                                <m:sSub>
                                  <m:sSubPr>
                                    <m:ctrlPr>
                                      <a:rPr lang="el-GR" sz="2000" b="1" i="1">
                                        <a:solidFill>
                                          <a:schemeClr val="tx1"/>
                                        </a:solidFill>
                                        <a:latin typeface="Cambria Math" panose="02040503050406030204" pitchFamily="18" charset="0"/>
                                        <a:ea typeface="Cambria Math" panose="02040503050406030204" pitchFamily="18" charset="0"/>
                                      </a:rPr>
                                    </m:ctrlPr>
                                  </m:sSubPr>
                                  <m:e>
                                    <m:d>
                                      <m:dPr>
                                        <m:begChr m:val="⟨"/>
                                        <m:endChr m:val="⟩"/>
                                        <m:ctrlPr>
                                          <a:rPr lang="el-GR" sz="2000" b="1" i="1">
                                            <a:solidFill>
                                              <a:schemeClr val="tx1"/>
                                            </a:solidFill>
                                            <a:latin typeface="Cambria Math" panose="02040503050406030204" pitchFamily="18" charset="0"/>
                                            <a:ea typeface="Cambria Math" panose="02040503050406030204" pitchFamily="18" charset="0"/>
                                          </a:rPr>
                                        </m:ctrlPr>
                                      </m:dPr>
                                      <m:e>
                                        <m:sSubSup>
                                          <m:sSubSupPr>
                                            <m:ctrlPr>
                                              <a:rPr lang="el-GR" sz="2000" b="1" i="1">
                                                <a:solidFill>
                                                  <a:schemeClr val="tx1"/>
                                                </a:solidFill>
                                                <a:latin typeface="Cambria Math" panose="02040503050406030204" pitchFamily="18" charset="0"/>
                                                <a:ea typeface="Cambria Math" panose="02040503050406030204" pitchFamily="18" charset="0"/>
                                              </a:rPr>
                                            </m:ctrlPr>
                                          </m:sSubSupPr>
                                          <m:e>
                                            <m:r>
                                              <a:rPr lang="el-GR" sz="2000" b="1" i="1">
                                                <a:solidFill>
                                                  <a:schemeClr val="tx1"/>
                                                </a:solidFill>
                                                <a:latin typeface="Cambria Math" panose="02040503050406030204" pitchFamily="18" charset="0"/>
                                                <a:ea typeface="Cambria Math" panose="02040503050406030204" pitchFamily="18" charset="0"/>
                                              </a:rPr>
                                              <m:t>𝜦</m:t>
                                            </m:r>
                                          </m:e>
                                          <m:sub>
                                            <m:r>
                                              <a:rPr lang="en-US" sz="2000" i="1">
                                                <a:solidFill>
                                                  <a:schemeClr val="tx1"/>
                                                </a:solidFill>
                                                <a:latin typeface="Cambria Math" panose="02040503050406030204" pitchFamily="18" charset="0"/>
                                                <a:ea typeface="Cambria Math" panose="02040503050406030204" pitchFamily="18" charset="0"/>
                                              </a:rPr>
                                              <m:t>0</m:t>
                                            </m:r>
                                          </m:sub>
                                          <m:sup>
                                            <m:r>
                                              <a:rPr lang="en-US" sz="2000" i="1">
                                                <a:solidFill>
                                                  <a:schemeClr val="tx1"/>
                                                </a:solidFill>
                                                <a:latin typeface="Cambria Math" panose="02040503050406030204" pitchFamily="18" charset="0"/>
                                                <a:ea typeface="Cambria Math" panose="02040503050406030204" pitchFamily="18" charset="0"/>
                                              </a:rPr>
                                              <m:t>−1</m:t>
                                            </m:r>
                                          </m:sup>
                                        </m:sSubSup>
                                        <m:d>
                                          <m:dPr>
                                            <m:begChr m:val="["/>
                                            <m:endChr m:val="]"/>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𝒗</m:t>
                                            </m:r>
                                          </m:e>
                                        </m:d>
                                      </m:e>
                                    </m:d>
                                  </m:e>
                                  <m:sub>
                                    <m:r>
                                      <a:rPr lang="en-US" sz="2000" b="0" i="1" smtClean="0">
                                        <a:solidFill>
                                          <a:schemeClr val="tx1"/>
                                        </a:solidFill>
                                        <a:latin typeface="Cambria Math" panose="02040503050406030204" pitchFamily="18" charset="0"/>
                                        <a:ea typeface="Cambria Math" panose="02040503050406030204" pitchFamily="18" charset="0"/>
                                      </a:rPr>
                                      <m:t>𝐴</m:t>
                                    </m:r>
                                  </m:sub>
                                </m:sSub>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lang="en-US" sz="2000" b="1" i="1">
                                        <a:solidFill>
                                          <a:schemeClr val="tx1"/>
                                        </a:solidFill>
                                        <a:latin typeface="Cambria Math" panose="02040503050406030204" pitchFamily="18" charset="0"/>
                                        <a:ea typeface="Cambria Math" panose="02040503050406030204" pitchFamily="18" charset="0"/>
                                      </a:rPr>
                                    </m:ctrlPr>
                                  </m:sSubSupPr>
                                  <m:e>
                                    <m:r>
                                      <a:rPr lang="en-US" sz="2000" b="1" i="1">
                                        <a:solidFill>
                                          <a:schemeClr val="tx1"/>
                                        </a:solidFill>
                                        <a:latin typeface="Cambria Math" panose="02040503050406030204" pitchFamily="18" charset="0"/>
                                        <a:ea typeface="Cambria Math" panose="02040503050406030204" pitchFamily="18" charset="0"/>
                                      </a:rPr>
                                      <m:t>𝑬</m:t>
                                    </m:r>
                                  </m:e>
                                  <m:sub>
                                    <m:r>
                                      <a:rPr lang="en-US" sz="2000" i="1">
                                        <a:solidFill>
                                          <a:schemeClr val="tx1"/>
                                        </a:solidFill>
                                        <a:latin typeface="Cambria Math" panose="02040503050406030204" pitchFamily="18" charset="0"/>
                                        <a:ea typeface="Cambria Math" panose="02040503050406030204" pitchFamily="18" charset="0"/>
                                      </a:rPr>
                                      <m:t>𝐴</m:t>
                                    </m:r>
                                  </m:sub>
                                  <m:sup>
                                    <m:r>
                                      <a:rPr lang="en-US" altLang="zh-TW" sz="2000" b="0" i="1">
                                        <a:solidFill>
                                          <a:schemeClr val="tx1"/>
                                        </a:solidFill>
                                        <a:latin typeface="Cambria Math" panose="02040503050406030204" pitchFamily="18" charset="0"/>
                                        <a:ea typeface="Cambria Math" panose="02040503050406030204" pitchFamily="18" charset="0"/>
                                      </a:rPr>
                                      <m:t>𝐶𝑃</m:t>
                                    </m:r>
                                  </m:sup>
                                </m:sSubSup>
                                <m:r>
                                  <a:rPr lang="en-US" sz="2000" b="1" i="1">
                                    <a:solidFill>
                                      <a:schemeClr val="tx1"/>
                                    </a:solidFill>
                                    <a:latin typeface="Cambria Math" panose="02040503050406030204" pitchFamily="18" charset="0"/>
                                    <a:ea typeface="Cambria Math" panose="02040503050406030204" pitchFamily="18" charset="0"/>
                                  </a:rPr>
                                  <m:t>:</m:t>
                                </m:r>
                                <m:r>
                                  <a:rPr lang="en-US" sz="2000" b="1" i="1">
                                    <a:solidFill>
                                      <a:schemeClr val="tx1"/>
                                    </a:solidFill>
                                    <a:latin typeface="Cambria Math" panose="02040503050406030204" pitchFamily="18" charset="0"/>
                                    <a:ea typeface="Cambria Math" panose="02040503050406030204" pitchFamily="18" charset="0"/>
                                  </a:rPr>
                                  <m:t>𝒗</m:t>
                                </m:r>
                                <m:r>
                                  <a:rPr lang="en-US" sz="2000" b="1" i="1" smtClean="0">
                                    <a:solidFill>
                                      <a:schemeClr val="tx1"/>
                                    </a:solidFill>
                                    <a:latin typeface="Cambria Math" panose="02040503050406030204" pitchFamily="18" charset="0"/>
                                    <a:ea typeface="Cambria Math" panose="02040503050406030204" pitchFamily="18" charset="0"/>
                                  </a:rPr>
                                  <m:t>=</m:t>
                                </m:r>
                                <m:sSub>
                                  <m:sSubPr>
                                    <m:ctrlPr>
                                      <a:rPr lang="en-US" sz="2000" b="1" i="1">
                                        <a:solidFill>
                                          <a:schemeClr val="tx1"/>
                                        </a:solidFill>
                                        <a:latin typeface="Cambria Math" panose="02040503050406030204" pitchFamily="18" charset="0"/>
                                        <a:ea typeface="Cambria Math" panose="02040503050406030204" pitchFamily="18" charset="0"/>
                                      </a:rPr>
                                    </m:ctrlPr>
                                  </m:sSubPr>
                                  <m:e>
                                    <m:d>
                                      <m:dPr>
                                        <m:begChr m:val=""/>
                                        <m:endChr m:val="|"/>
                                        <m:ctrlPr>
                                          <a:rPr lang="en-US" sz="2000" b="1" i="1">
                                            <a:solidFill>
                                              <a:schemeClr val="tx1"/>
                                            </a:solidFill>
                                            <a:latin typeface="Cambria Math" panose="02040503050406030204" pitchFamily="18" charset="0"/>
                                            <a:ea typeface="Cambria Math" panose="02040503050406030204" pitchFamily="18" charset="0"/>
                                          </a:rPr>
                                        </m:ctrlPr>
                                      </m:dPr>
                                      <m:e>
                                        <m:sSubSup>
                                          <m:sSubSupPr>
                                            <m:ctrlPr>
                                              <a:rPr lang="en-US" sz="2000" b="1" i="1">
                                                <a:solidFill>
                                                  <a:schemeClr val="tx1"/>
                                                </a:solidFill>
                                                <a:latin typeface="Cambria Math" panose="02040503050406030204" pitchFamily="18" charset="0"/>
                                                <a:ea typeface="Cambria Math" panose="02040503050406030204" pitchFamily="18" charset="0"/>
                                              </a:rPr>
                                            </m:ctrlPr>
                                          </m:sSubSupPr>
                                          <m:e>
                                            <m:r>
                                              <a:rPr lang="en-US" sz="2000" b="1" i="1">
                                                <a:solidFill>
                                                  <a:schemeClr val="tx1"/>
                                                </a:solidFill>
                                                <a:latin typeface="Cambria Math" panose="02040503050406030204" pitchFamily="18" charset="0"/>
                                                <a:ea typeface="Cambria Math" panose="02040503050406030204" pitchFamily="18" charset="0"/>
                                              </a:rPr>
                                              <m:t>𝜦</m:t>
                                            </m:r>
                                          </m:e>
                                          <m:sub>
                                            <m:r>
                                              <a:rPr lang="en-US" sz="2000" b="1" i="1">
                                                <a:solidFill>
                                                  <a:schemeClr val="tx1"/>
                                                </a:solidFill>
                                                <a:latin typeface="Cambria Math" panose="02040503050406030204" pitchFamily="18" charset="0"/>
                                                <a:ea typeface="Cambria Math" panose="02040503050406030204" pitchFamily="18" charset="0"/>
                                              </a:rPr>
                                              <m:t>∗</m:t>
                                            </m:r>
                                          </m:sub>
                                          <m:sup>
                                            <m:r>
                                              <a:rPr lang="en-US" sz="2000" b="1" i="1">
                                                <a:solidFill>
                                                  <a:schemeClr val="tx1"/>
                                                </a:solidFill>
                                                <a:latin typeface="Cambria Math" panose="02040503050406030204" pitchFamily="18" charset="0"/>
                                                <a:ea typeface="Cambria Math" panose="02040503050406030204" pitchFamily="18" charset="0"/>
                                              </a:rPr>
                                              <m:t>−</m:t>
                                            </m:r>
                                            <m:r>
                                              <a:rPr lang="en-US" sz="2000" b="0" i="1">
                                                <a:solidFill>
                                                  <a:schemeClr val="tx1"/>
                                                </a:solidFill>
                                                <a:latin typeface="Cambria Math" panose="02040503050406030204" pitchFamily="18" charset="0"/>
                                                <a:ea typeface="Cambria Math" panose="02040503050406030204" pitchFamily="18" charset="0"/>
                                              </a:rPr>
                                              <m:t>1</m:t>
                                            </m:r>
                                          </m:sup>
                                        </m:sSubSup>
                                        <m:d>
                                          <m:dPr>
                                            <m:begChr m:val="["/>
                                            <m:endChr m:val="]"/>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𝒗</m:t>
                                            </m:r>
                                          </m:e>
                                        </m:d>
                                      </m:e>
                                    </m:d>
                                  </m:e>
                                  <m:sub>
                                    <m:r>
                                      <a:rPr lang="en-US" altLang="zh-TW" sz="2000" b="0" i="1">
                                        <a:solidFill>
                                          <a:schemeClr val="tx1"/>
                                        </a:solidFill>
                                        <a:latin typeface="Cambria Math" panose="02040503050406030204" pitchFamily="18" charset="0"/>
                                      </a:rPr>
                                      <m:t>𝐴</m:t>
                                    </m:r>
                                  </m:sub>
                                </m:sSub>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927951606"/>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lang="en-US" sz="2000" b="1" i="1" smtClean="0">
                                        <a:solidFill>
                                          <a:schemeClr val="tx1"/>
                                        </a:solidFill>
                                        <a:latin typeface="Cambria Math" panose="02040503050406030204" pitchFamily="18" charset="0"/>
                                        <a:ea typeface="Cambria Math" panose="02040503050406030204" pitchFamily="18" charset="0"/>
                                      </a:rPr>
                                    </m:ctrlPr>
                                  </m:sSubSupPr>
                                  <m:e>
                                    <m:r>
                                      <a:rPr lang="en-US" sz="2000" b="1" i="1" smtClean="0">
                                        <a:solidFill>
                                          <a:schemeClr val="tx1"/>
                                        </a:solidFill>
                                        <a:latin typeface="Cambria Math" panose="02040503050406030204" pitchFamily="18" charset="0"/>
                                        <a:ea typeface="Cambria Math" panose="02040503050406030204" pitchFamily="18" charset="0"/>
                                      </a:rPr>
                                      <m:t>𝑷</m:t>
                                    </m:r>
                                  </m:e>
                                  <m:sub>
                                    <m:r>
                                      <a:rPr lang="en-US" sz="2000" b="0" i="1" smtClean="0">
                                        <a:solidFill>
                                          <a:schemeClr val="tx1"/>
                                        </a:solidFill>
                                        <a:latin typeface="Cambria Math" panose="02040503050406030204" pitchFamily="18" charset="0"/>
                                        <a:ea typeface="Cambria Math" panose="02040503050406030204" pitchFamily="18" charset="0"/>
                                      </a:rPr>
                                      <m:t>𝐴𝐵</m:t>
                                    </m:r>
                                  </m:sub>
                                  <m:sup>
                                    <m:r>
                                      <a:rPr lang="en-US" sz="2000" i="1">
                                        <a:solidFill>
                                          <a:schemeClr val="tx1"/>
                                        </a:solidFill>
                                        <a:latin typeface="Cambria Math" panose="02040503050406030204" pitchFamily="18" charset="0"/>
                                        <a:ea typeface="Cambria Math" panose="02040503050406030204" pitchFamily="18" charset="0"/>
                                      </a:rPr>
                                      <m:t>𝑇𝐹𝐴</m:t>
                                    </m:r>
                                  </m:sup>
                                </m:sSubSup>
                                <m:r>
                                  <a:rPr lang="en-US" sz="2000" b="1" i="1">
                                    <a:solidFill>
                                      <a:schemeClr val="tx1"/>
                                    </a:solidFill>
                                    <a:latin typeface="Cambria Math" panose="02040503050406030204" pitchFamily="18" charset="0"/>
                                    <a:ea typeface="Cambria Math" panose="02040503050406030204" pitchFamily="18" charset="0"/>
                                  </a:rPr>
                                  <m:t>:</m:t>
                                </m:r>
                                <m:r>
                                  <a:rPr lang="en-US" sz="2000" b="1" i="1">
                                    <a:solidFill>
                                      <a:schemeClr val="tx1"/>
                                    </a:solidFill>
                                    <a:latin typeface="Cambria Math" panose="02040503050406030204" pitchFamily="18" charset="0"/>
                                    <a:ea typeface="Cambria Math" panose="02040503050406030204" pitchFamily="18" charset="0"/>
                                  </a:rPr>
                                  <m:t>𝒗</m:t>
                                </m:r>
                                <m:r>
                                  <a:rPr lang="en-US" sz="2000" b="1" i="1" smtClean="0">
                                    <a:solidFill>
                                      <a:schemeClr val="tx1"/>
                                    </a:solidFill>
                                    <a:latin typeface="Cambria Math" panose="02040503050406030204" pitchFamily="18" charset="0"/>
                                    <a:ea typeface="Cambria Math" panose="02040503050406030204" pitchFamily="18" charset="0"/>
                                  </a:rPr>
                                  <m:t>=</m:t>
                                </m:r>
                                <m:sSub>
                                  <m:sSubPr>
                                    <m:ctrlPr>
                                      <a:rPr lang="el-GR" sz="2000" b="1" i="1">
                                        <a:solidFill>
                                          <a:schemeClr val="tx1"/>
                                        </a:solidFill>
                                        <a:latin typeface="Cambria Math" panose="02040503050406030204" pitchFamily="18" charset="0"/>
                                        <a:ea typeface="Cambria Math" panose="02040503050406030204" pitchFamily="18" charset="0"/>
                                      </a:rPr>
                                    </m:ctrlPr>
                                  </m:sSubPr>
                                  <m:e>
                                    <m:d>
                                      <m:dPr>
                                        <m:begChr m:val="⟨"/>
                                        <m:endChr m:val="⟩"/>
                                        <m:ctrlPr>
                                          <a:rPr lang="el-GR" sz="2000" b="1" i="1">
                                            <a:solidFill>
                                              <a:schemeClr val="tx1"/>
                                            </a:solidFill>
                                            <a:latin typeface="Cambria Math" panose="02040503050406030204" pitchFamily="18" charset="0"/>
                                            <a:ea typeface="Cambria Math" panose="02040503050406030204" pitchFamily="18" charset="0"/>
                                          </a:rPr>
                                        </m:ctrlPr>
                                      </m:dPr>
                                      <m:e>
                                        <m:sSubSup>
                                          <m:sSubSupPr>
                                            <m:ctrlPr>
                                              <a:rPr lang="el-GR" sz="2000" b="1" i="1">
                                                <a:solidFill>
                                                  <a:schemeClr val="tx1"/>
                                                </a:solidFill>
                                                <a:latin typeface="Cambria Math" panose="02040503050406030204" pitchFamily="18" charset="0"/>
                                                <a:ea typeface="Cambria Math" panose="02040503050406030204" pitchFamily="18" charset="0"/>
                                              </a:rPr>
                                            </m:ctrlPr>
                                          </m:sSubSupPr>
                                          <m:e>
                                            <m:r>
                                              <a:rPr lang="el-GR" sz="2000" b="1" i="1">
                                                <a:solidFill>
                                                  <a:schemeClr val="tx1"/>
                                                </a:solidFill>
                                                <a:latin typeface="Cambria Math" panose="02040503050406030204" pitchFamily="18" charset="0"/>
                                                <a:ea typeface="Cambria Math" panose="02040503050406030204" pitchFamily="18" charset="0"/>
                                              </a:rPr>
                                              <m:t>𝜦</m:t>
                                            </m:r>
                                          </m:e>
                                          <m:sub>
                                            <m:r>
                                              <a:rPr lang="en-US" sz="2000" i="1">
                                                <a:solidFill>
                                                  <a:schemeClr val="tx1"/>
                                                </a:solidFill>
                                                <a:latin typeface="Cambria Math" panose="02040503050406030204" pitchFamily="18" charset="0"/>
                                                <a:ea typeface="Cambria Math" panose="02040503050406030204" pitchFamily="18" charset="0"/>
                                              </a:rPr>
                                              <m:t>0</m:t>
                                            </m:r>
                                          </m:sub>
                                          <m:sup>
                                            <m:r>
                                              <a:rPr lang="en-US" sz="2000" i="1">
                                                <a:solidFill>
                                                  <a:schemeClr val="tx1"/>
                                                </a:solidFill>
                                                <a:latin typeface="Cambria Math" panose="02040503050406030204" pitchFamily="18" charset="0"/>
                                                <a:ea typeface="Cambria Math" panose="02040503050406030204" pitchFamily="18" charset="0"/>
                                              </a:rPr>
                                              <m:t>−1</m:t>
                                            </m:r>
                                          </m:sup>
                                        </m:sSubSup>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0</m:t>
                                            </m:r>
                                          </m:sub>
                                        </m:sSub>
                                        <m:d>
                                          <m:dPr>
                                            <m:begChr m:val="["/>
                                            <m:endChr m:val="]"/>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𝑪</m:t>
                                            </m:r>
                                            <m:r>
                                              <a:rPr lang="en-US" sz="2000" b="1"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𝜒</m:t>
                                                </m:r>
                                              </m:e>
                                              <m:sub>
                                                <m:r>
                                                  <a:rPr lang="en-US" sz="2000" i="1">
                                                    <a:solidFill>
                                                      <a:schemeClr val="tx1"/>
                                                    </a:solidFill>
                                                    <a:latin typeface="Cambria Math" panose="02040503050406030204" pitchFamily="18" charset="0"/>
                                                  </a:rPr>
                                                  <m:t>𝐵</m:t>
                                                </m:r>
                                              </m:sub>
                                            </m:sSub>
                                            <m:r>
                                              <a:rPr lang="en-US" sz="2000" b="1" i="1">
                                                <a:solidFill>
                                                  <a:schemeClr val="tx1"/>
                                                </a:solidFill>
                                                <a:latin typeface="Cambria Math" panose="02040503050406030204" pitchFamily="18" charset="0"/>
                                              </a:rPr>
                                              <m:t>𝒗</m:t>
                                            </m:r>
                                          </m:e>
                                        </m:d>
                                      </m:e>
                                    </m:d>
                                  </m:e>
                                  <m:sub>
                                    <m:r>
                                      <a:rPr lang="en-US" sz="2000" b="0" i="1" smtClean="0">
                                        <a:solidFill>
                                          <a:schemeClr val="tx1"/>
                                        </a:solidFill>
                                        <a:latin typeface="Cambria Math" panose="02040503050406030204" pitchFamily="18" charset="0"/>
                                        <a:ea typeface="Cambria Math" panose="02040503050406030204" pitchFamily="18" charset="0"/>
                                      </a:rPr>
                                      <m:t>𝐴</m:t>
                                    </m:r>
                                  </m:sub>
                                </m:sSub>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Sup>
                                  <m:sSubSupPr>
                                    <m:ctrlPr>
                                      <a:rPr lang="en-US" sz="2000" b="1" i="1" smtClean="0">
                                        <a:solidFill>
                                          <a:schemeClr val="tx1"/>
                                        </a:solidFill>
                                        <a:latin typeface="Cambria Math" panose="02040503050406030204" pitchFamily="18" charset="0"/>
                                        <a:ea typeface="Cambria Math" panose="02040503050406030204" pitchFamily="18" charset="0"/>
                                      </a:rPr>
                                    </m:ctrlPr>
                                  </m:sSubSupPr>
                                  <m:e>
                                    <m:r>
                                      <a:rPr lang="en-US" sz="2000" b="1" i="1" smtClean="0">
                                        <a:solidFill>
                                          <a:schemeClr val="tx1"/>
                                        </a:solidFill>
                                        <a:latin typeface="Cambria Math" panose="02040503050406030204" pitchFamily="18" charset="0"/>
                                        <a:ea typeface="Cambria Math" panose="02040503050406030204" pitchFamily="18" charset="0"/>
                                      </a:rPr>
                                      <m:t>𝑷</m:t>
                                    </m:r>
                                  </m:e>
                                  <m:sub>
                                    <m:r>
                                      <a:rPr lang="en-US" sz="2000" b="0" i="1" smtClean="0">
                                        <a:solidFill>
                                          <a:schemeClr val="tx1"/>
                                        </a:solidFill>
                                        <a:latin typeface="Cambria Math" panose="02040503050406030204" pitchFamily="18" charset="0"/>
                                        <a:ea typeface="Cambria Math" panose="02040503050406030204" pitchFamily="18" charset="0"/>
                                      </a:rPr>
                                      <m:t>𝐴𝐵</m:t>
                                    </m:r>
                                  </m:sub>
                                  <m:sup>
                                    <m:r>
                                      <a:rPr lang="en-US" altLang="zh-TW" sz="2000" i="1">
                                        <a:solidFill>
                                          <a:schemeClr val="tx1"/>
                                        </a:solidFill>
                                        <a:latin typeface="Cambria Math" panose="02040503050406030204" pitchFamily="18" charset="0"/>
                                        <a:ea typeface="Cambria Math" panose="02040503050406030204" pitchFamily="18" charset="0"/>
                                      </a:rPr>
                                      <m:t>𝐶</m:t>
                                    </m:r>
                                    <m:r>
                                      <a:rPr lang="en-US" altLang="zh-TW" sz="2000" i="1" smtClean="0">
                                        <a:solidFill>
                                          <a:schemeClr val="tx1"/>
                                        </a:solidFill>
                                        <a:latin typeface="Cambria Math" panose="02040503050406030204" pitchFamily="18" charset="0"/>
                                        <a:ea typeface="Cambria Math" panose="02040503050406030204" pitchFamily="18" charset="0"/>
                                      </a:rPr>
                                      <m:t>𝑃</m:t>
                                    </m:r>
                                  </m:sup>
                                </m:sSubSup>
                                <m:r>
                                  <a:rPr lang="en-US" sz="2000" b="1" i="1">
                                    <a:solidFill>
                                      <a:schemeClr val="tx1"/>
                                    </a:solidFill>
                                    <a:latin typeface="Cambria Math" panose="02040503050406030204" pitchFamily="18" charset="0"/>
                                    <a:ea typeface="Cambria Math" panose="02040503050406030204" pitchFamily="18" charset="0"/>
                                  </a:rPr>
                                  <m:t>:</m:t>
                                </m:r>
                                <m:r>
                                  <a:rPr lang="en-US" sz="2000" b="1" i="1">
                                    <a:solidFill>
                                      <a:schemeClr val="tx1"/>
                                    </a:solidFill>
                                    <a:latin typeface="Cambria Math" panose="02040503050406030204" pitchFamily="18" charset="0"/>
                                    <a:ea typeface="Cambria Math" panose="02040503050406030204" pitchFamily="18" charset="0"/>
                                  </a:rPr>
                                  <m:t>𝒗</m:t>
                                </m:r>
                                <m:r>
                                  <a:rPr lang="en-US" sz="2000" b="1" i="1" smtClean="0">
                                    <a:solidFill>
                                      <a:schemeClr val="tx1"/>
                                    </a:solidFill>
                                    <a:latin typeface="Cambria Math" panose="02040503050406030204" pitchFamily="18" charset="0"/>
                                    <a:ea typeface="Cambria Math" panose="02040503050406030204" pitchFamily="18" charset="0"/>
                                  </a:rPr>
                                  <m:t>=</m:t>
                                </m:r>
                                <m:sSub>
                                  <m:sSubPr>
                                    <m:ctrlPr>
                                      <a:rPr lang="en-US" sz="2000" b="1" i="1">
                                        <a:solidFill>
                                          <a:schemeClr val="tx1"/>
                                        </a:solidFill>
                                        <a:latin typeface="Cambria Math" panose="02040503050406030204" pitchFamily="18" charset="0"/>
                                        <a:ea typeface="Cambria Math" panose="02040503050406030204" pitchFamily="18" charset="0"/>
                                      </a:rPr>
                                    </m:ctrlPr>
                                  </m:sSubPr>
                                  <m:e>
                                    <m:d>
                                      <m:dPr>
                                        <m:begChr m:val=""/>
                                        <m:endChr m:val="|"/>
                                        <m:ctrlPr>
                                          <a:rPr lang="en-US" sz="2000" b="1" i="1">
                                            <a:solidFill>
                                              <a:schemeClr val="tx1"/>
                                            </a:solidFill>
                                            <a:latin typeface="Cambria Math" panose="02040503050406030204" pitchFamily="18" charset="0"/>
                                            <a:ea typeface="Cambria Math" panose="02040503050406030204" pitchFamily="18" charset="0"/>
                                          </a:rPr>
                                        </m:ctrlPr>
                                      </m:dPr>
                                      <m:e>
                                        <m:sSubSup>
                                          <m:sSubSupPr>
                                            <m:ctrlPr>
                                              <a:rPr lang="en-US" sz="2000" b="1" i="1">
                                                <a:solidFill>
                                                  <a:schemeClr val="tx1"/>
                                                </a:solidFill>
                                                <a:latin typeface="Cambria Math" panose="02040503050406030204" pitchFamily="18" charset="0"/>
                                                <a:ea typeface="Cambria Math" panose="02040503050406030204" pitchFamily="18" charset="0"/>
                                              </a:rPr>
                                            </m:ctrlPr>
                                          </m:sSubSupPr>
                                          <m:e>
                                            <m:r>
                                              <a:rPr lang="en-US" sz="2000" b="1" i="1">
                                                <a:solidFill>
                                                  <a:schemeClr val="tx1"/>
                                                </a:solidFill>
                                                <a:latin typeface="Cambria Math" panose="02040503050406030204" pitchFamily="18" charset="0"/>
                                                <a:ea typeface="Cambria Math" panose="02040503050406030204" pitchFamily="18" charset="0"/>
                                              </a:rPr>
                                              <m:t>𝜦</m:t>
                                            </m:r>
                                          </m:e>
                                          <m:sub>
                                            <m:r>
                                              <a:rPr lang="en-US" sz="2000" b="1" i="1">
                                                <a:solidFill>
                                                  <a:schemeClr val="tx1"/>
                                                </a:solidFill>
                                                <a:latin typeface="Cambria Math" panose="02040503050406030204" pitchFamily="18" charset="0"/>
                                                <a:ea typeface="Cambria Math" panose="02040503050406030204" pitchFamily="18" charset="0"/>
                                              </a:rPr>
                                              <m:t>∗</m:t>
                                            </m:r>
                                          </m:sub>
                                          <m:sup>
                                            <m:r>
                                              <a:rPr lang="en-US" sz="2000" b="1" i="1">
                                                <a:solidFill>
                                                  <a:schemeClr val="tx1"/>
                                                </a:solidFill>
                                                <a:latin typeface="Cambria Math" panose="02040503050406030204" pitchFamily="18" charset="0"/>
                                                <a:ea typeface="Cambria Math" panose="02040503050406030204" pitchFamily="18" charset="0"/>
                                              </a:rPr>
                                              <m:t>−</m:t>
                                            </m:r>
                                            <m:r>
                                              <a:rPr lang="en-US" sz="2000" b="0" i="1">
                                                <a:solidFill>
                                                  <a:schemeClr val="tx1"/>
                                                </a:solidFill>
                                                <a:latin typeface="Cambria Math" panose="02040503050406030204" pitchFamily="18" charset="0"/>
                                                <a:ea typeface="Cambria Math" panose="02040503050406030204" pitchFamily="18" charset="0"/>
                                              </a:rPr>
                                              <m:t>1</m:t>
                                            </m:r>
                                          </m:sup>
                                        </m:sSubSup>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m:t>
                                            </m:r>
                                          </m:sub>
                                        </m:sSub>
                                        <m:d>
                                          <m:dPr>
                                            <m:begChr m:val="["/>
                                            <m:endChr m:val="]"/>
                                            <m:ctrlPr>
                                              <a:rPr lang="en-US" sz="2000" b="1" i="1">
                                                <a:solidFill>
                                                  <a:schemeClr val="tx1"/>
                                                </a:solidFill>
                                                <a:latin typeface="Cambria Math" panose="02040503050406030204" pitchFamily="18" charset="0"/>
                                              </a:rPr>
                                            </m:ctrlPr>
                                          </m:dPr>
                                          <m:e>
                                            <m:d>
                                              <m:dPr>
                                                <m:ctrlPr>
                                                  <a:rPr lang="en-US" sz="2000" b="1" i="1">
                                                    <a:solidFill>
                                                      <a:schemeClr val="tx1"/>
                                                    </a:solidFill>
                                                    <a:latin typeface="Cambria Math" panose="02040503050406030204" pitchFamily="18" charset="0"/>
                                                  </a:rPr>
                                                </m:ctrlPr>
                                              </m:dPr>
                                              <m:e>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m:t>
                                                    </m:r>
                                                  </m:sub>
                                                </m:sSub>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r>
                                              <a:rPr lang="en-US" sz="2000" b="1" i="1">
                                                <a:solidFill>
                                                  <a:schemeClr val="tx1"/>
                                                </a:solidFill>
                                                <a:latin typeface="Cambria Math" panose="02040503050406030204" pitchFamily="18" charset="0"/>
                                              </a:rPr>
                                              <m:t>:</m:t>
                                            </m:r>
                                            <m:sSub>
                                              <m:sSubPr>
                                                <m:ctrlPr>
                                                  <a:rPr lang="en-US" sz="2000" i="1">
                                                    <a:solidFill>
                                                      <a:schemeClr val="tx1"/>
                                                    </a:solidFill>
                                                    <a:latin typeface="Cambria Math" panose="02040503050406030204" pitchFamily="18" charset="0"/>
                                                  </a:rPr>
                                                </m:ctrlPr>
                                              </m:sSubPr>
                                              <m:e>
                                                <m:r>
                                                  <a:rPr lang="en-US" sz="2000" i="1">
                                                    <a:solidFill>
                                                      <a:schemeClr val="tx1"/>
                                                    </a:solidFill>
                                                    <a:latin typeface="Cambria Math" panose="02040503050406030204" pitchFamily="18" charset="0"/>
                                                  </a:rPr>
                                                  <m:t>𝜒</m:t>
                                                </m:r>
                                              </m:e>
                                              <m:sub>
                                                <m:r>
                                                  <a:rPr lang="en-US" sz="2000" i="1">
                                                    <a:solidFill>
                                                      <a:schemeClr val="tx1"/>
                                                    </a:solidFill>
                                                    <a:latin typeface="Cambria Math" panose="02040503050406030204" pitchFamily="18" charset="0"/>
                                                  </a:rPr>
                                                  <m:t>𝐵</m:t>
                                                </m:r>
                                              </m:sub>
                                            </m:sSub>
                                            <m:r>
                                              <a:rPr lang="en-US" sz="2000" b="1" i="1">
                                                <a:solidFill>
                                                  <a:schemeClr val="tx1"/>
                                                </a:solidFill>
                                                <a:latin typeface="Cambria Math" panose="02040503050406030204" pitchFamily="18" charset="0"/>
                                                <a:ea typeface="Cambria Math" panose="02040503050406030204" pitchFamily="18" charset="0"/>
                                              </a:rPr>
                                              <m:t>𝒗</m:t>
                                            </m:r>
                                          </m:e>
                                        </m:d>
                                      </m:e>
                                    </m:d>
                                  </m:e>
                                  <m:sub>
                                    <m:r>
                                      <a:rPr lang="en-US" altLang="zh-TW" sz="2000" b="0" i="1">
                                        <a:solidFill>
                                          <a:schemeClr val="tx1"/>
                                        </a:solidFill>
                                        <a:latin typeface="Cambria Math" panose="02040503050406030204" pitchFamily="18" charset="0"/>
                                        <a:ea typeface="Cambria Math" panose="02040503050406030204" pitchFamily="18" charset="0"/>
                                      </a:rPr>
                                      <m:t>𝐴</m:t>
                                    </m:r>
                                  </m:sub>
                                </m:sSub>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1181748264"/>
                      </a:ext>
                    </a:extLst>
                  </a:tr>
                </a:tbl>
              </a:graphicData>
            </a:graphic>
          </p:graphicFrame>
        </mc:Choice>
        <mc:Fallback xmlns="">
          <p:graphicFrame>
            <p:nvGraphicFramePr>
              <p:cNvPr id="8" name="Table 7">
                <a:extLst>
                  <a:ext uri="{FF2B5EF4-FFF2-40B4-BE49-F238E27FC236}">
                    <a16:creationId xmlns:a16="http://schemas.microsoft.com/office/drawing/2014/main" id="{854EFA5B-6725-6C25-27CB-D315A69BD11B}"/>
                  </a:ext>
                </a:extLst>
              </p:cNvPr>
              <p:cNvGraphicFramePr>
                <a:graphicFrameLocks noGrp="1"/>
              </p:cNvGraphicFramePr>
              <p:nvPr>
                <p:extLst>
                  <p:ext uri="{D42A27DB-BD31-4B8C-83A1-F6EECF244321}">
                    <p14:modId xmlns:p14="http://schemas.microsoft.com/office/powerpoint/2010/main" val="484062735"/>
                  </p:ext>
                </p:extLst>
              </p:nvPr>
            </p:nvGraphicFramePr>
            <p:xfrm>
              <a:off x="2181860" y="2030306"/>
              <a:ext cx="7863840" cy="3898054"/>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3861926108"/>
                        </a:ext>
                      </a:extLst>
                    </a:gridCol>
                    <a:gridCol w="3931920">
                      <a:extLst>
                        <a:ext uri="{9D8B030D-6E8A-4147-A177-3AD203B41FA5}">
                          <a16:colId xmlns:a16="http://schemas.microsoft.com/office/drawing/2014/main" val="2614438533"/>
                        </a:ext>
                      </a:extLst>
                    </a:gridCol>
                  </a:tblGrid>
                  <a:tr h="606214">
                    <a:tc>
                      <a:txBody>
                        <a:bodyPr/>
                        <a:lstStyle/>
                        <a:p>
                          <a:pPr algn="ctr"/>
                          <a:r>
                            <a:rPr lang="en-US" sz="3200" b="1" dirty="0">
                              <a:solidFill>
                                <a:schemeClr val="tx1"/>
                              </a:solidFill>
                            </a:rPr>
                            <a:t>TFA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algn="ctr"/>
                          <a:r>
                            <a:rPr lang="en-US" sz="3200" b="1" dirty="0">
                              <a:solidFill>
                                <a:schemeClr val="tx1"/>
                              </a:solidFill>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0173072"/>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5" t="-62222" r="-100155" b="-20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10" t="-62222" r="-310" b="-201111"/>
                          </a:stretch>
                        </a:blipFill>
                      </a:tcPr>
                    </a:tc>
                    <a:extLst>
                      <a:ext uri="{0D108BD9-81ED-4DB2-BD59-A6C34878D82A}">
                        <a16:rowId xmlns:a16="http://schemas.microsoft.com/office/drawing/2014/main" val="221943468"/>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5" t="-162222" r="-100155" b="-10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10" t="-162222" r="-310" b="-101111"/>
                          </a:stretch>
                        </a:blipFill>
                      </a:tcPr>
                    </a:tc>
                    <a:extLst>
                      <a:ext uri="{0D108BD9-81ED-4DB2-BD59-A6C34878D82A}">
                        <a16:rowId xmlns:a16="http://schemas.microsoft.com/office/drawing/2014/main" val="927951606"/>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55" t="-262222" r="-100155" b="-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310" t="-262222" r="-310" b="-1111"/>
                          </a:stretch>
                        </a:blipFill>
                      </a:tcPr>
                    </a:tc>
                    <a:extLst>
                      <a:ext uri="{0D108BD9-81ED-4DB2-BD59-A6C34878D82A}">
                        <a16:rowId xmlns:a16="http://schemas.microsoft.com/office/drawing/2014/main" val="1181748264"/>
                      </a:ext>
                    </a:extLst>
                  </a:tr>
                </a:tbl>
              </a:graphicData>
            </a:graphic>
          </p:graphicFrame>
        </mc:Fallback>
      </mc:AlternateContent>
    </p:spTree>
    <p:extLst>
      <p:ext uri="{BB962C8B-B14F-4D97-AF65-F5344CB8AC3E}">
        <p14:creationId xmlns:p14="http://schemas.microsoft.com/office/powerpoint/2010/main" val="31621977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1D0E-83AB-84FB-E6C3-5A0D892B0F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C6290C-6BE6-DA1A-CA72-57393D46BF3A}"/>
              </a:ext>
            </a:extLst>
          </p:cNvPr>
          <p:cNvSpPr>
            <a:spLocks noGrp="1"/>
          </p:cNvSpPr>
          <p:nvPr>
            <p:ph type="title"/>
          </p:nvPr>
        </p:nvSpPr>
        <p:spPr>
          <a:xfrm>
            <a:off x="386997" y="149868"/>
            <a:ext cx="10515600" cy="1325563"/>
          </a:xfrm>
        </p:spPr>
        <p:txBody>
          <a:bodyPr/>
          <a:lstStyle/>
          <a:p>
            <a:r>
              <a:rPr lang="en-US" dirty="0"/>
              <a:t>Final Comparison: TFA vs. CP (Operators)</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77912201-D30D-9004-60DB-3B93BF44AE0F}"/>
                  </a:ext>
                </a:extLst>
              </p:cNvPr>
              <p:cNvGraphicFramePr>
                <a:graphicFrameLocks noGrp="1"/>
              </p:cNvGraphicFramePr>
              <p:nvPr>
                <p:extLst>
                  <p:ext uri="{D42A27DB-BD31-4B8C-83A1-F6EECF244321}">
                    <p14:modId xmlns:p14="http://schemas.microsoft.com/office/powerpoint/2010/main" val="357381467"/>
                  </p:ext>
                </p:extLst>
              </p:nvPr>
            </p:nvGraphicFramePr>
            <p:xfrm>
              <a:off x="1024890" y="1487822"/>
              <a:ext cx="10142220" cy="4995334"/>
            </p:xfrm>
            <a:graphic>
              <a:graphicData uri="http://schemas.openxmlformats.org/drawingml/2006/table">
                <a:tbl>
                  <a:tblPr firstRow="1" bandRow="1">
                    <a:tableStyleId>{5C22544A-7EE6-4342-B048-85BDC9FD1C3A}</a:tableStyleId>
                  </a:tblPr>
                  <a:tblGrid>
                    <a:gridCol w="5071110">
                      <a:extLst>
                        <a:ext uri="{9D8B030D-6E8A-4147-A177-3AD203B41FA5}">
                          <a16:colId xmlns:a16="http://schemas.microsoft.com/office/drawing/2014/main" val="3861926108"/>
                        </a:ext>
                      </a:extLst>
                    </a:gridCol>
                    <a:gridCol w="5071110">
                      <a:extLst>
                        <a:ext uri="{9D8B030D-6E8A-4147-A177-3AD203B41FA5}">
                          <a16:colId xmlns:a16="http://schemas.microsoft.com/office/drawing/2014/main" val="2614438533"/>
                        </a:ext>
                      </a:extLst>
                    </a:gridCol>
                  </a:tblGrid>
                  <a:tr h="606214">
                    <a:tc>
                      <a:txBody>
                        <a:bodyPr/>
                        <a:lstStyle/>
                        <a:p>
                          <a:pPr algn="ctr"/>
                          <a:r>
                            <a:rPr lang="en-US" sz="3200" b="1" dirty="0">
                              <a:solidFill>
                                <a:schemeClr val="tx1"/>
                              </a:solidFill>
                            </a:rPr>
                            <a:t>TFA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algn="ctr"/>
                          <a:r>
                            <a:rPr lang="en-US" sz="3200" b="1" dirty="0">
                              <a:solidFill>
                                <a:schemeClr val="tx1"/>
                              </a:solidFill>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0173072"/>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2000" b="1" i="1" smtClean="0">
                                    <a:solidFill>
                                      <a:schemeClr val="tx1"/>
                                    </a:solidFill>
                                    <a:latin typeface="Cambria Math" panose="02040503050406030204" pitchFamily="18" charset="0"/>
                                  </a:rPr>
                                  <m:t>𝑪</m:t>
                                </m:r>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oMath>
                            </m:oMathPara>
                          </a14:m>
                          <a:endParaRPr lang="en-US" sz="2000" b="1"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p>
                                  <m:sSupPr>
                                    <m:ctrlPr>
                                      <a:rPr lang="en-US" sz="2000" b="1" i="1" smtClean="0">
                                        <a:solidFill>
                                          <a:schemeClr val="tx1"/>
                                        </a:solidFill>
                                        <a:latin typeface="Cambria Math" panose="02040503050406030204" pitchFamily="18" charset="0"/>
                                      </a:rPr>
                                    </m:ctrlPr>
                                  </m:sSupPr>
                                  <m:e>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𝑪</m:t>
                                        </m:r>
                                      </m:e>
                                      <m:sub>
                                        <m:r>
                                          <a:rPr lang="en-US" sz="2000" b="0" i="1" smtClean="0">
                                            <a:solidFill>
                                              <a:schemeClr val="tx1"/>
                                            </a:solidFill>
                                            <a:latin typeface="Cambria Math" panose="02040503050406030204" pitchFamily="18" charset="0"/>
                                          </a:rPr>
                                          <m:t>∗</m:t>
                                        </m:r>
                                      </m:sub>
                                    </m:sSub>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r>
                                      <a:rPr lang="en-US" sz="2000" b="1" i="1" smtClean="0">
                                        <a:solidFill>
                                          <a:schemeClr val="tx1"/>
                                        </a:solidFill>
                                        <a:latin typeface="Cambria Math" panose="02040503050406030204" pitchFamily="18" charset="0"/>
                                      </a:rPr>
                                      <m:t>=</m:t>
                                    </m:r>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𝑪</m:t>
                                        </m:r>
                                      </m:e>
                                      <m:sub>
                                        <m:r>
                                          <a:rPr lang="en-US" sz="2000" b="0" i="1" smtClean="0">
                                            <a:solidFill>
                                              <a:schemeClr val="tx1"/>
                                            </a:solidFill>
                                            <a:latin typeface="Cambria Math" panose="02040503050406030204" pitchFamily="18" charset="0"/>
                                          </a:rPr>
                                          <m:t>0</m:t>
                                        </m:r>
                                      </m:sub>
                                    </m:sSub>
                                    <m:r>
                                      <a:rPr lang="en-US" sz="2000" b="1" i="1" smtClean="0">
                                        <a:solidFill>
                                          <a:schemeClr val="tx1"/>
                                        </a:solidFill>
                                        <a:latin typeface="Cambria Math" panose="02040503050406030204" pitchFamily="18" charset="0"/>
                                      </a:rPr>
                                      <m:t>+</m:t>
                                    </m:r>
                                    <m:d>
                                      <m:dPr>
                                        <m:ctrlPr>
                                          <a:rPr lang="en-US" sz="2000" b="1" i="1">
                                            <a:solidFill>
                                              <a:schemeClr val="tx1"/>
                                            </a:solidFill>
                                            <a:latin typeface="Cambria Math" panose="02040503050406030204" pitchFamily="18" charset="0"/>
                                          </a:rPr>
                                        </m:ctrlPr>
                                      </m:dPr>
                                      <m:e>
                                        <m:sSub>
                                          <m:sSubPr>
                                            <m:ctrlPr>
                                              <a:rPr lang="en-US" sz="2000" b="1" i="1">
                                                <a:solidFill>
                                                  <a:schemeClr val="tx1"/>
                                                </a:solidFill>
                                                <a:latin typeface="Cambria Math" panose="02040503050406030204" pitchFamily="18" charset="0"/>
                                              </a:rPr>
                                            </m:ctrlPr>
                                          </m:sSubPr>
                                          <m:e>
                                            <m:d>
                                              <m:dPr>
                                                <m:begChr m:val="⟨"/>
                                                <m:endChr m:val="⟩"/>
                                                <m:ctrlPr>
                                                  <a:rPr lang="en-US" sz="2000" b="1" i="1">
                                                    <a:solidFill>
                                                      <a:schemeClr val="tx1"/>
                                                    </a:solidFill>
                                                    <a:latin typeface="Cambria Math" panose="02040503050406030204" pitchFamily="18" charset="0"/>
                                                  </a:rPr>
                                                </m:ctrlPr>
                                              </m:dPr>
                                              <m:e>
                                                <m:sSup>
                                                  <m:sSupPr>
                                                    <m:ctrlPr>
                                                      <a:rPr lang="en-US" sz="2000" b="1" i="1">
                                                        <a:solidFill>
                                                          <a:schemeClr val="tx1"/>
                                                        </a:solidFill>
                                                        <a:latin typeface="Cambria Math" panose="02040503050406030204" pitchFamily="18" charset="0"/>
                                                      </a:rPr>
                                                    </m:ctrlPr>
                                                  </m:sSupPr>
                                                  <m:e>
                                                    <m:d>
                                                      <m:dPr>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𝑪</m:t>
                                                        </m:r>
                                                        <m:d>
                                                          <m:dPr>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𝒙</m:t>
                                                            </m:r>
                                                          </m:e>
                                                        </m:d>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e>
                                                  <m:sup>
                                                    <m:r>
                                                      <a:rPr lang="en-US" sz="2000" i="1">
                                                        <a:solidFill>
                                                          <a:schemeClr val="tx1"/>
                                                        </a:solidFill>
                                                        <a:latin typeface="Cambria Math" panose="02040503050406030204" pitchFamily="18" charset="0"/>
                                                      </a:rPr>
                                                      <m:t>−1</m:t>
                                                    </m:r>
                                                  </m:sup>
                                                </m:sSup>
                                              </m:e>
                                            </m:d>
                                          </m:e>
                                          <m:sub>
                                            <m:r>
                                              <a:rPr lang="en-US" sz="2000" i="1">
                                                <a:solidFill>
                                                  <a:schemeClr val="tx1"/>
                                                </a:solidFill>
                                                <a:latin typeface="Cambria Math" panose="02040503050406030204" pitchFamily="18" charset="0"/>
                                              </a:rPr>
                                              <m:t>𝐴</m:t>
                                            </m:r>
                                          </m:sub>
                                        </m:sSub>
                                      </m:e>
                                    </m:d>
                                  </m:e>
                                  <m:sup>
                                    <m:r>
                                      <a:rPr lang="en-US" sz="2000" b="0" i="1" smtClean="0">
                                        <a:solidFill>
                                          <a:schemeClr val="tx1"/>
                                        </a:solidFill>
                                        <a:latin typeface="Cambria Math" panose="02040503050406030204" pitchFamily="18" charset="0"/>
                                      </a:rPr>
                                      <m:t>−1</m:t>
                                    </m:r>
                                  </m:sup>
                                </m:sSup>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1833666317"/>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r>
                                  <a:rPr lang="en-US" sz="2000" b="1" i="1" smtClean="0">
                                    <a:latin typeface="Cambria Math" panose="02040503050406030204" pitchFamily="18" charset="0"/>
                                  </a:rPr>
                                  <m:t>𝝁</m:t>
                                </m:r>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𝝀</m:t>
                                    </m:r>
                                  </m:e>
                                  <m:sub>
                                    <m:r>
                                      <a:rPr lang="en-US" sz="2000" b="0" i="1" smtClean="0">
                                        <a:solidFill>
                                          <a:schemeClr val="tx1"/>
                                        </a:solidFill>
                                        <a:latin typeface="Cambria Math" panose="02040503050406030204" pitchFamily="18" charset="0"/>
                                        <a:ea typeface="Cambria Math" panose="02040503050406030204" pitchFamily="18" charset="0"/>
                                      </a:rPr>
                                      <m:t>∗</m:t>
                                    </m:r>
                                  </m:sub>
                                </m:sSub>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r>
                                  <a:rPr lang="en-US" sz="2000" b="1" i="1" smtClean="0">
                                    <a:solidFill>
                                      <a:schemeClr val="tx1"/>
                                    </a:solidFill>
                                    <a:latin typeface="Cambria Math" panose="02040503050406030204" pitchFamily="18" charset="0"/>
                                  </a:rPr>
                                  <m:t>=</m:t>
                                </m:r>
                                <m:sSub>
                                  <m:sSubPr>
                                    <m:ctrlPr>
                                      <a:rPr lang="en-US" sz="2000" b="1" i="1">
                                        <a:latin typeface="Cambria Math" panose="02040503050406030204" pitchFamily="18" charset="0"/>
                                      </a:rPr>
                                    </m:ctrlPr>
                                  </m:sSubPr>
                                  <m:e>
                                    <m:d>
                                      <m:dPr>
                                        <m:begChr m:val="⟨"/>
                                        <m:endChr m:val="⟩"/>
                                        <m:ctrlPr>
                                          <a:rPr lang="en-US" sz="2000" b="1" i="1">
                                            <a:latin typeface="Cambria Math" panose="02040503050406030204" pitchFamily="18" charset="0"/>
                                          </a:rPr>
                                        </m:ctrlPr>
                                      </m:dPr>
                                      <m:e>
                                        <m:sSup>
                                          <m:sSupPr>
                                            <m:ctrlPr>
                                              <a:rPr lang="en-US" sz="2000" b="1" i="1">
                                                <a:latin typeface="Cambria Math" panose="02040503050406030204" pitchFamily="18" charset="0"/>
                                              </a:rPr>
                                            </m:ctrlPr>
                                          </m:sSupPr>
                                          <m:e>
                                            <m:d>
                                              <m:dPr>
                                                <m:ctrlPr>
                                                  <a:rPr lang="en-US" sz="2000" b="1" i="1">
                                                    <a:latin typeface="Cambria Math" panose="02040503050406030204" pitchFamily="18" charset="0"/>
                                                  </a:rPr>
                                                </m:ctrlPr>
                                              </m:dPr>
                                              <m:e>
                                                <m:r>
                                                  <a:rPr lang="en-US" sz="2000" b="1" i="1">
                                                    <a:latin typeface="Cambria Math" panose="02040503050406030204" pitchFamily="18" charset="0"/>
                                                  </a:rPr>
                                                  <m:t>𝑪</m:t>
                                                </m:r>
                                                <m:d>
                                                  <m:dPr>
                                                    <m:ctrlPr>
                                                      <a:rPr lang="en-US" sz="2000" b="1" i="1">
                                                        <a:latin typeface="Cambria Math" panose="02040503050406030204" pitchFamily="18" charset="0"/>
                                                      </a:rPr>
                                                    </m:ctrlPr>
                                                  </m:dPr>
                                                  <m:e>
                                                    <m:r>
                                                      <a:rPr lang="en-US" sz="2000" b="1" i="1">
                                                        <a:latin typeface="Cambria Math" panose="02040503050406030204" pitchFamily="18" charset="0"/>
                                                      </a:rPr>
                                                      <m:t>𝒙</m:t>
                                                    </m:r>
                                                  </m:e>
                                                </m:d>
                                                <m:r>
                                                  <a:rPr lang="en-US" sz="2000" b="1" i="1">
                                                    <a:latin typeface="Cambria Math" panose="02040503050406030204" pitchFamily="18" charset="0"/>
                                                  </a:rPr>
                                                  <m:t>−</m:t>
                                                </m:r>
                                                <m:sSub>
                                                  <m:sSubPr>
                                                    <m:ctrlPr>
                                                      <a:rPr lang="en-US" sz="2000" b="1" i="1">
                                                        <a:latin typeface="Cambria Math" panose="02040503050406030204" pitchFamily="18" charset="0"/>
                                                      </a:rPr>
                                                    </m:ctrlPr>
                                                  </m:sSubPr>
                                                  <m:e>
                                                    <m:r>
                                                      <a:rPr lang="en-US" sz="2000" b="1" i="1">
                                                        <a:latin typeface="Cambria Math" panose="02040503050406030204" pitchFamily="18" charset="0"/>
                                                      </a:rPr>
                                                      <m:t>𝑪</m:t>
                                                    </m:r>
                                                  </m:e>
                                                  <m:sub>
                                                    <m:r>
                                                      <a:rPr lang="en-US" sz="2000" i="1">
                                                        <a:latin typeface="Cambria Math" panose="02040503050406030204" pitchFamily="18" charset="0"/>
                                                      </a:rPr>
                                                      <m:t>0</m:t>
                                                    </m:r>
                                                  </m:sub>
                                                </m:sSub>
                                              </m:e>
                                            </m:d>
                                          </m:e>
                                          <m:sup>
                                            <m:r>
                                              <a:rPr lang="en-US" sz="2000" i="1">
                                                <a:latin typeface="Cambria Math" panose="02040503050406030204" pitchFamily="18" charset="0"/>
                                              </a:rPr>
                                              <m:t>−1</m:t>
                                            </m:r>
                                          </m:sup>
                                        </m:sSup>
                                        <m:r>
                                          <a:rPr lang="en-US" altLang="zh-TW" sz="2000" b="1" i="1">
                                            <a:latin typeface="Cambria Math" panose="02040503050406030204" pitchFamily="18" charset="0"/>
                                          </a:rPr>
                                          <m:t>:</m:t>
                                        </m:r>
                                        <m:r>
                                          <a:rPr lang="en-US" sz="2000" b="1" i="1">
                                            <a:latin typeface="Cambria Math" panose="02040503050406030204" pitchFamily="18" charset="0"/>
                                          </a:rPr>
                                          <m:t>𝑪</m:t>
                                        </m:r>
                                        <m:d>
                                          <m:dPr>
                                            <m:ctrlPr>
                                              <a:rPr lang="en-US" sz="2000" b="1" i="1">
                                                <a:latin typeface="Cambria Math" panose="02040503050406030204" pitchFamily="18" charset="0"/>
                                              </a:rPr>
                                            </m:ctrlPr>
                                          </m:dPr>
                                          <m:e>
                                            <m:r>
                                              <a:rPr lang="en-US" sz="2000" b="1" i="1">
                                                <a:latin typeface="Cambria Math" panose="02040503050406030204" pitchFamily="18" charset="0"/>
                                              </a:rPr>
                                              <m:t>𝒙</m:t>
                                            </m:r>
                                          </m:e>
                                        </m:d>
                                        <m:r>
                                          <a:rPr lang="en-US" sz="2000" b="1" i="1">
                                            <a:latin typeface="Cambria Math" panose="02040503050406030204" pitchFamily="18" charset="0"/>
                                          </a:rPr>
                                          <m:t>:</m:t>
                                        </m:r>
                                        <m:r>
                                          <a:rPr lang="en-US" sz="2000" b="1" i="1">
                                            <a:latin typeface="Cambria Math" panose="02040503050406030204" pitchFamily="18" charset="0"/>
                                          </a:rPr>
                                          <m:t>𝝁</m:t>
                                        </m:r>
                                        <m:d>
                                          <m:dPr>
                                            <m:ctrlPr>
                                              <a:rPr lang="en-US" sz="2000" b="1" i="1">
                                                <a:latin typeface="Cambria Math" panose="02040503050406030204" pitchFamily="18" charset="0"/>
                                              </a:rPr>
                                            </m:ctrlPr>
                                          </m:dPr>
                                          <m:e>
                                            <m:r>
                                              <a:rPr lang="en-US" sz="2000" b="1" i="1">
                                                <a:latin typeface="Cambria Math" panose="02040503050406030204" pitchFamily="18" charset="0"/>
                                              </a:rPr>
                                              <m:t>𝒙</m:t>
                                            </m:r>
                                          </m:e>
                                        </m:d>
                                      </m:e>
                                    </m:d>
                                  </m:e>
                                  <m:sub>
                                    <m:r>
                                      <a:rPr lang="en-US" sz="2000" i="1">
                                        <a:latin typeface="Cambria Math" panose="02040503050406030204" pitchFamily="18" charset="0"/>
                                      </a:rPr>
                                      <m:t>𝐴</m:t>
                                    </m:r>
                                  </m:sub>
                                </m:sSub>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806221194"/>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n-US" sz="2000" b="1" i="1" smtClean="0">
                                        <a:solidFill>
                                          <a:schemeClr val="tx1"/>
                                        </a:solidFill>
                                        <a:latin typeface="Cambria Math" panose="02040503050406030204" pitchFamily="18" charset="0"/>
                                      </a:rPr>
                                    </m:ctrlPr>
                                  </m:dPr>
                                  <m:e>
                                    <m:sSub>
                                      <m:sSubPr>
                                        <m:ctrlPr>
                                          <a:rPr lang="en-US" sz="2000" b="1" i="0" smtClean="0">
                                            <a:solidFill>
                                              <a:schemeClr val="tx1"/>
                                            </a:solidFill>
                                            <a:latin typeface="Cambria Math" panose="02040503050406030204" pitchFamily="18" charset="0"/>
                                          </a:rPr>
                                        </m:ctrlPr>
                                      </m:sSubPr>
                                      <m:e>
                                        <m:r>
                                          <a:rPr lang="en-US" sz="2000" b="1" i="0" smtClean="0">
                                            <a:solidFill>
                                              <a:schemeClr val="tx1"/>
                                            </a:solidFill>
                                            <a:latin typeface="Cambria Math" panose="02040503050406030204" pitchFamily="18" charset="0"/>
                                          </a:rPr>
                                          <m:t>𝚪</m:t>
                                        </m:r>
                                      </m:e>
                                      <m:sub>
                                        <m:r>
                                          <a:rPr lang="en-US" sz="2000" b="0" i="1" smtClean="0">
                                            <a:solidFill>
                                              <a:schemeClr val="tx1"/>
                                            </a:solidFill>
                                            <a:latin typeface="Cambria Math" panose="02040503050406030204" pitchFamily="18" charset="0"/>
                                          </a:rPr>
                                          <m:t>0</m:t>
                                        </m:r>
                                      </m:sub>
                                    </m:sSub>
                                    <m:d>
                                      <m:dPr>
                                        <m:begChr m:val="["/>
                                        <m:endChr m:val="]"/>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𝒗</m:t>
                                        </m:r>
                                      </m:e>
                                    </m:d>
                                  </m:e>
                                </m:d>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r>
                                  <a:rPr lang="en-US" sz="2000" b="0" i="1" smtClean="0">
                                    <a:solidFill>
                                      <a:schemeClr val="tx1"/>
                                    </a:solidFill>
                                    <a:latin typeface="Cambria Math" panose="02040503050406030204" pitchFamily="18" charset="0"/>
                                  </a:rPr>
                                  <m:t>=</m:t>
                                </m:r>
                                <m:d>
                                  <m:dPr>
                                    <m:ctrlPr>
                                      <a:rPr lang="en-US" sz="2000" i="1">
                                        <a:solidFill>
                                          <a:schemeClr val="tx1"/>
                                        </a:solidFill>
                                        <a:latin typeface="Cambria Math" panose="02040503050406030204" pitchFamily="18" charset="0"/>
                                      </a:rPr>
                                    </m:ctrlPr>
                                  </m:dPr>
                                  <m:e>
                                    <m:sSup>
                                      <m:sSupPr>
                                        <m:ctrlPr>
                                          <a:rPr lang="en-US" sz="2000">
                                            <a:solidFill>
                                              <a:schemeClr val="tx1"/>
                                            </a:solidFill>
                                            <a:latin typeface="Cambria Math" panose="02040503050406030204" pitchFamily="18" charset="0"/>
                                          </a:rPr>
                                        </m:ctrlPr>
                                      </m:sSupPr>
                                      <m:e>
                                        <m:r>
                                          <m:rPr>
                                            <m:sty m:val="p"/>
                                          </m:rPr>
                                          <a:rPr lang="en-US" sz="2000">
                                            <a:solidFill>
                                              <a:schemeClr val="tx1"/>
                                            </a:solidFill>
                                            <a:latin typeface="Cambria Math" panose="02040503050406030204" pitchFamily="18" charset="0"/>
                                          </a:rPr>
                                          <m:t>∇</m:t>
                                        </m:r>
                                      </m:e>
                                      <m:sup>
                                        <m:r>
                                          <a:rPr lang="en-US" sz="2000" i="1">
                                            <a:solidFill>
                                              <a:schemeClr val="tx1"/>
                                            </a:solidFill>
                                            <a:latin typeface="Cambria Math" panose="02040503050406030204" pitchFamily="18" charset="0"/>
                                          </a:rPr>
                                          <m:t>𝑠</m:t>
                                        </m:r>
                                      </m:sup>
                                    </m:sSup>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𝑮</m:t>
                                        </m:r>
                                      </m:e>
                                      <m:sub>
                                        <m:r>
                                          <a:rPr lang="en-US" sz="2000" i="1">
                                            <a:solidFill>
                                              <a:schemeClr val="tx1"/>
                                            </a:solidFill>
                                            <a:latin typeface="Cambria Math" panose="02040503050406030204" pitchFamily="18" charset="0"/>
                                          </a:rPr>
                                          <m:t>0</m:t>
                                        </m:r>
                                      </m:sub>
                                    </m:sSub>
                                    <m:d>
                                      <m:dPr>
                                        <m:begChr m:val="["/>
                                        <m:endChr m:val="]"/>
                                        <m:ctrlPr>
                                          <a:rPr lang="en-US" sz="2000" b="1" smtClean="0">
                                            <a:solidFill>
                                              <a:schemeClr val="tx1"/>
                                            </a:solidFill>
                                            <a:latin typeface="Cambria Math" panose="02040503050406030204" pitchFamily="18" charset="0"/>
                                          </a:rPr>
                                        </m:ctrlPr>
                                      </m:dPr>
                                      <m:e>
                                        <m:r>
                                          <a:rPr lang="en-US" sz="2000" b="1" smtClean="0">
                                            <a:solidFill>
                                              <a:schemeClr val="tx1"/>
                                            </a:solidFill>
                                            <a:latin typeface="Cambria Math" panose="02040503050406030204" pitchFamily="18" charset="0"/>
                                          </a:rPr>
                                          <m:t>𝛁</m:t>
                                        </m:r>
                                        <m:r>
                                          <a:rPr lang="en-US" sz="2000" b="1" i="1">
                                            <a:solidFill>
                                              <a:schemeClr val="tx1"/>
                                            </a:solidFill>
                                            <a:latin typeface="Cambria Math" panose="02040503050406030204" pitchFamily="18" charset="0"/>
                                          </a:rPr>
                                          <m:t> ⋅</m:t>
                                        </m:r>
                                        <m:r>
                                          <a:rPr lang="en-US" sz="2000" b="1" i="1" smtClean="0">
                                            <a:solidFill>
                                              <a:schemeClr val="tx1"/>
                                            </a:solidFill>
                                            <a:latin typeface="Cambria Math" panose="02040503050406030204" pitchFamily="18" charset="0"/>
                                          </a:rPr>
                                          <m:t>𝒗</m:t>
                                        </m:r>
                                      </m:e>
                                    </m:d>
                                  </m:e>
                                </m:d>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n-US" sz="2000" b="1" i="1">
                                        <a:latin typeface="Cambria Math" panose="02040503050406030204" pitchFamily="18" charset="0"/>
                                      </a:rPr>
                                    </m:ctrlPr>
                                  </m:dPr>
                                  <m:e>
                                    <m:sSub>
                                      <m:sSubPr>
                                        <m:ctrlPr>
                                          <a:rPr lang="en-US" sz="2000" b="1">
                                            <a:latin typeface="Cambria Math" panose="02040503050406030204" pitchFamily="18" charset="0"/>
                                          </a:rPr>
                                        </m:ctrlPr>
                                      </m:sSubPr>
                                      <m:e>
                                        <m:r>
                                          <a:rPr lang="en-US" sz="2000" b="1">
                                            <a:latin typeface="Cambria Math" panose="02040503050406030204" pitchFamily="18" charset="0"/>
                                          </a:rPr>
                                          <m:t>𝚪</m:t>
                                        </m:r>
                                      </m:e>
                                      <m:sub>
                                        <m:r>
                                          <a:rPr lang="en-US" sz="2000" i="1">
                                            <a:latin typeface="Cambria Math" panose="02040503050406030204" pitchFamily="18" charset="0"/>
                                          </a:rPr>
                                          <m:t>∗</m:t>
                                        </m:r>
                                      </m:sub>
                                    </m:sSub>
                                    <m:d>
                                      <m:dPr>
                                        <m:begChr m:val="["/>
                                        <m:endChr m:val="]"/>
                                        <m:ctrlPr>
                                          <a:rPr lang="en-US" sz="2000" b="1" i="1">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panose="02040503050406030204" pitchFamily="18" charset="0"/>
                                              </a:rPr>
                                              <m:t>𝒗</m:t>
                                            </m:r>
                                          </m:e>
                                          <m:sub>
                                            <m:r>
                                              <a:rPr lang="en-US" sz="2000" b="1" i="1" smtClean="0">
                                                <a:latin typeface="Cambria Math" panose="02040503050406030204" pitchFamily="18" charset="0"/>
                                              </a:rPr>
                                              <m:t>∗</m:t>
                                            </m:r>
                                          </m:sub>
                                        </m:sSub>
                                      </m:e>
                                    </m:d>
                                  </m:e>
                                </m:d>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r>
                                  <a:rPr lang="en-US" sz="2000" b="1" i="1" smtClean="0">
                                    <a:latin typeface="Cambria Math" panose="02040503050406030204" pitchFamily="18" charset="0"/>
                                  </a:rPr>
                                  <m:t>=</m:t>
                                </m:r>
                                <m:sSub>
                                  <m:sSubPr>
                                    <m:ctrlPr>
                                      <a:rPr lang="en-US" sz="2000" b="1" i="1">
                                        <a:latin typeface="Cambria Math" panose="02040503050406030204" pitchFamily="18" charset="0"/>
                                      </a:rPr>
                                    </m:ctrlPr>
                                  </m:sSubPr>
                                  <m:e>
                                    <m:d>
                                      <m:dPr>
                                        <m:begChr m:val="⟨"/>
                                        <m:endChr m:val="⟩"/>
                                        <m:ctrlPr>
                                          <a:rPr lang="en-US" sz="2000" b="1" i="1">
                                            <a:latin typeface="Cambria Math" panose="02040503050406030204" pitchFamily="18" charset="0"/>
                                          </a:rPr>
                                        </m:ctrlPr>
                                      </m:dPr>
                                      <m:e>
                                        <m:sSub>
                                          <m:sSubPr>
                                            <m:ctrlPr>
                                              <a:rPr lang="en-US" sz="2000" b="1">
                                                <a:latin typeface="Cambria Math" panose="02040503050406030204" pitchFamily="18" charset="0"/>
                                              </a:rPr>
                                            </m:ctrlPr>
                                          </m:sSubPr>
                                          <m:e>
                                            <m:r>
                                              <a:rPr lang="en-US" sz="2000" b="1">
                                                <a:latin typeface="Cambria Math" panose="02040503050406030204" pitchFamily="18" charset="0"/>
                                              </a:rPr>
                                              <m:t>𝚪</m:t>
                                            </m:r>
                                          </m:e>
                                          <m:sub>
                                            <m:r>
                                              <a:rPr lang="en-US" sz="2000" i="1">
                                                <a:latin typeface="Cambria Math" panose="02040503050406030204" pitchFamily="18" charset="0"/>
                                              </a:rPr>
                                              <m:t>0</m:t>
                                            </m:r>
                                          </m:sub>
                                        </m:sSub>
                                        <m:d>
                                          <m:dPr>
                                            <m:begChr m:val="["/>
                                            <m:endChr m:val="]"/>
                                            <m:ctrlPr>
                                              <a:rPr lang="en-US" sz="2000" b="1" i="1" smtClean="0">
                                                <a:latin typeface="Cambria Math" panose="02040503050406030204" pitchFamily="18" charset="0"/>
                                              </a:rPr>
                                            </m:ctrlPr>
                                          </m:dPr>
                                          <m:e>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𝒗</m:t>
                                                </m:r>
                                              </m:e>
                                              <m:sub>
                                                <m:r>
                                                  <a:rPr lang="en-US" sz="2000" b="1" i="1" smtClean="0">
                                                    <a:latin typeface="Cambria Math" panose="02040503050406030204" pitchFamily="18" charset="0"/>
                                                  </a:rPr>
                                                  <m:t>∗</m:t>
                                                </m:r>
                                              </m:sub>
                                            </m:sSub>
                                          </m:e>
                                        </m:d>
                                      </m:e>
                                    </m:d>
                                  </m:e>
                                  <m:sub>
                                    <m:r>
                                      <a:rPr lang="en-US" sz="2000" i="1">
                                        <a:latin typeface="Cambria Math" panose="02040503050406030204" pitchFamily="18" charset="0"/>
                                      </a:rPr>
                                      <m:t>𝐴</m:t>
                                    </m:r>
                                  </m:sub>
                                </m:sSub>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943468"/>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l-GR" sz="2000" b="1" i="1" smtClean="0">
                                        <a:solidFill>
                                          <a:schemeClr val="tx1"/>
                                        </a:solidFill>
                                        <a:latin typeface="Cambria Math" panose="02040503050406030204" pitchFamily="18" charset="0"/>
                                        <a:ea typeface="Cambria Math" panose="02040503050406030204" pitchFamily="18" charset="0"/>
                                      </a:rPr>
                                    </m:ctrlPr>
                                  </m:dPr>
                                  <m:e>
                                    <m:sSub>
                                      <m:sSubPr>
                                        <m:ctrlPr>
                                          <a:rPr lang="el-GR" sz="2000" b="1" i="1" smtClean="0">
                                            <a:solidFill>
                                              <a:schemeClr val="tx1"/>
                                            </a:solidFill>
                                            <a:latin typeface="Cambria Math" panose="02040503050406030204" pitchFamily="18" charset="0"/>
                                            <a:ea typeface="Cambria Math" panose="02040503050406030204" pitchFamily="18" charset="0"/>
                                          </a:rPr>
                                        </m:ctrlPr>
                                      </m:sSubPr>
                                      <m:e>
                                        <m:r>
                                          <a:rPr lang="el-GR" sz="2000" b="1" i="1" smtClean="0">
                                            <a:solidFill>
                                              <a:schemeClr val="tx1"/>
                                            </a:solidFill>
                                            <a:latin typeface="Cambria Math" panose="02040503050406030204" pitchFamily="18" charset="0"/>
                                            <a:ea typeface="Cambria Math" panose="02040503050406030204" pitchFamily="18" charset="0"/>
                                          </a:rPr>
                                          <m:t>𝜦</m:t>
                                        </m:r>
                                      </m:e>
                                      <m:sub>
                                        <m:r>
                                          <a:rPr lang="en-US" sz="2000" b="0" i="1" smtClean="0">
                                            <a:solidFill>
                                              <a:schemeClr val="tx1"/>
                                            </a:solidFill>
                                            <a:latin typeface="Cambria Math" panose="02040503050406030204" pitchFamily="18" charset="0"/>
                                            <a:ea typeface="Cambria Math" panose="02040503050406030204" pitchFamily="18" charset="0"/>
                                          </a:rPr>
                                          <m:t>0</m:t>
                                        </m:r>
                                      </m:sub>
                                    </m:sSub>
                                    <m:d>
                                      <m:dPr>
                                        <m:begChr m:val="["/>
                                        <m:endChr m:val="]"/>
                                        <m:ctrlPr>
                                          <a:rPr lang="en-US" sz="2000" b="1" i="1" smtClean="0">
                                            <a:solidFill>
                                              <a:schemeClr val="tx1"/>
                                            </a:solidFill>
                                            <a:latin typeface="Cambria Math" panose="02040503050406030204" pitchFamily="18" charset="0"/>
                                            <a:ea typeface="Cambria Math" panose="02040503050406030204" pitchFamily="18" charset="0"/>
                                          </a:rPr>
                                        </m:ctrlPr>
                                      </m:dPr>
                                      <m:e>
                                        <m:r>
                                          <a:rPr lang="en-US" sz="2000" b="1" i="1" smtClean="0">
                                            <a:solidFill>
                                              <a:schemeClr val="tx1"/>
                                            </a:solidFill>
                                            <a:latin typeface="Cambria Math" panose="02040503050406030204" pitchFamily="18" charset="0"/>
                                            <a:ea typeface="Cambria Math" panose="02040503050406030204" pitchFamily="18" charset="0"/>
                                          </a:rPr>
                                          <m:t>𝒗</m:t>
                                        </m:r>
                                      </m:e>
                                    </m:d>
                                  </m:e>
                                </m:d>
                                <m:d>
                                  <m:dPr>
                                    <m:ctrlPr>
                                      <a:rPr lang="en-US" sz="2000" b="1" i="1" smtClean="0">
                                        <a:solidFill>
                                          <a:schemeClr val="tx1"/>
                                        </a:solidFill>
                                        <a:latin typeface="Cambria Math" panose="02040503050406030204" pitchFamily="18" charset="0"/>
                                        <a:ea typeface="Cambria Math" panose="02040503050406030204" pitchFamily="18" charset="0"/>
                                      </a:rPr>
                                    </m:ctrlPr>
                                  </m:dPr>
                                  <m:e>
                                    <m:r>
                                      <a:rPr lang="en-US" sz="2000" b="1" i="1" smtClean="0">
                                        <a:solidFill>
                                          <a:schemeClr val="tx1"/>
                                        </a:solidFill>
                                        <a:latin typeface="Cambria Math" panose="02040503050406030204" pitchFamily="18" charset="0"/>
                                        <a:ea typeface="Cambria Math" panose="02040503050406030204" pitchFamily="18" charset="0"/>
                                      </a:rPr>
                                      <m:t>𝒙</m:t>
                                    </m:r>
                                  </m:e>
                                </m:d>
                                <m:r>
                                  <a:rPr lang="en-US" sz="2000" b="0" i="1" smtClean="0">
                                    <a:solidFill>
                                      <a:schemeClr val="tx1"/>
                                    </a:solidFill>
                                    <a:latin typeface="Cambria Math" panose="02040503050406030204" pitchFamily="18" charset="0"/>
                                    <a:ea typeface="Cambria Math" panose="02040503050406030204" pitchFamily="18" charset="0"/>
                                  </a:rPr>
                                  <m:t>=</m:t>
                                </m:r>
                                <m:d>
                                  <m:dPr>
                                    <m:ctrlPr>
                                      <a:rPr lang="en-US" sz="2000" b="1" i="1" smtClean="0">
                                        <a:solidFill>
                                          <a:schemeClr val="tx1"/>
                                        </a:solidFill>
                                        <a:latin typeface="Cambria Math" panose="02040503050406030204" pitchFamily="18" charset="0"/>
                                        <a:ea typeface="Cambria Math" panose="02040503050406030204" pitchFamily="18" charset="0"/>
                                      </a:rPr>
                                    </m:ctrlPr>
                                  </m:dPr>
                                  <m:e>
                                    <m:r>
                                      <a:rPr lang="en-US" sz="2000" b="1" i="1" smtClean="0">
                                        <a:solidFill>
                                          <a:schemeClr val="tx1"/>
                                        </a:solidFill>
                                        <a:latin typeface="Cambria Math" panose="02040503050406030204" pitchFamily="18" charset="0"/>
                                        <a:ea typeface="Cambria Math" panose="02040503050406030204" pitchFamily="18" charset="0"/>
                                      </a:rPr>
                                      <m:t>𝒗</m:t>
                                    </m:r>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0</m:t>
                                        </m:r>
                                      </m:sub>
                                    </m:sSub>
                                    <m:d>
                                      <m:dPr>
                                        <m:begChr m:val="["/>
                                        <m:endChr m:val="]"/>
                                        <m:ctrlPr>
                                          <a:rPr lang="en-US" sz="2000" b="1" i="1">
                                            <a:solidFill>
                                              <a:schemeClr val="tx1"/>
                                            </a:solidFill>
                                            <a:latin typeface="Cambria Math" panose="02040503050406030204" pitchFamily="18" charset="0"/>
                                          </a:rPr>
                                        </m:ctrlPr>
                                      </m:dPr>
                                      <m:e>
                                        <m:d>
                                          <m:dPr>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𝑪</m:t>
                                            </m:r>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r>
                                          <a:rPr lang="en-US" sz="2000" b="1" i="1">
                                            <a:solidFill>
                                              <a:schemeClr val="tx1"/>
                                            </a:solidFill>
                                            <a:latin typeface="Cambria Math" panose="02040503050406030204" pitchFamily="18" charset="0"/>
                                          </a:rPr>
                                          <m:t>:</m:t>
                                        </m:r>
                                        <m:r>
                                          <a:rPr lang="en-US" sz="2000" b="1" i="1" smtClean="0">
                                            <a:solidFill>
                                              <a:schemeClr val="tx1"/>
                                            </a:solidFill>
                                            <a:latin typeface="Cambria Math" panose="02040503050406030204" pitchFamily="18" charset="0"/>
                                          </a:rPr>
                                          <m:t>𝒗</m:t>
                                        </m:r>
                                      </m:e>
                                    </m:d>
                                  </m:e>
                                </m:d>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d>
                                  <m:dPr>
                                    <m:ctrlPr>
                                      <a:rPr lang="el-GR" sz="2000" b="1" i="1" smtClean="0">
                                        <a:solidFill>
                                          <a:schemeClr val="tx1"/>
                                        </a:solidFill>
                                        <a:latin typeface="Cambria Math" panose="02040503050406030204" pitchFamily="18" charset="0"/>
                                        <a:ea typeface="Cambria Math" panose="02040503050406030204" pitchFamily="18" charset="0"/>
                                      </a:rPr>
                                    </m:ctrlPr>
                                  </m:dPr>
                                  <m:e>
                                    <m:sSub>
                                      <m:sSubPr>
                                        <m:ctrlPr>
                                          <a:rPr lang="el-GR" sz="2000" b="1" i="1" smtClean="0">
                                            <a:solidFill>
                                              <a:schemeClr val="tx1"/>
                                            </a:solidFill>
                                            <a:latin typeface="Cambria Math" panose="02040503050406030204" pitchFamily="18" charset="0"/>
                                            <a:ea typeface="Cambria Math" panose="02040503050406030204" pitchFamily="18" charset="0"/>
                                          </a:rPr>
                                        </m:ctrlPr>
                                      </m:sSubPr>
                                      <m:e>
                                        <m:r>
                                          <a:rPr lang="el-GR" sz="2000" b="1" i="1" smtClean="0">
                                            <a:solidFill>
                                              <a:schemeClr val="tx1"/>
                                            </a:solidFill>
                                            <a:latin typeface="Cambria Math" panose="02040503050406030204" pitchFamily="18" charset="0"/>
                                            <a:ea typeface="Cambria Math" panose="02040503050406030204" pitchFamily="18" charset="0"/>
                                          </a:rPr>
                                          <m:t>𝜦</m:t>
                                        </m:r>
                                      </m:e>
                                      <m:sub>
                                        <m:r>
                                          <a:rPr lang="en-US" sz="2000" b="0" i="1" smtClean="0">
                                            <a:solidFill>
                                              <a:schemeClr val="tx1"/>
                                            </a:solidFill>
                                            <a:latin typeface="Cambria Math" panose="02040503050406030204" pitchFamily="18" charset="0"/>
                                            <a:ea typeface="Cambria Math" panose="02040503050406030204" pitchFamily="18" charset="0"/>
                                          </a:rPr>
                                          <m:t>∗</m:t>
                                        </m:r>
                                      </m:sub>
                                    </m:sSub>
                                    <m:d>
                                      <m:dPr>
                                        <m:begChr m:val="["/>
                                        <m:endChr m:val="]"/>
                                        <m:ctrlPr>
                                          <a:rPr lang="en-US" sz="2000" b="1" i="1" smtClean="0">
                                            <a:solidFill>
                                              <a:schemeClr val="tx1"/>
                                            </a:solidFill>
                                            <a:latin typeface="Cambria Math" panose="02040503050406030204" pitchFamily="18" charset="0"/>
                                            <a:ea typeface="Cambria Math" panose="02040503050406030204" pitchFamily="18" charset="0"/>
                                          </a:rPr>
                                        </m:ctrlPr>
                                      </m:dPr>
                                      <m:e>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𝒗</m:t>
                                            </m:r>
                                          </m:e>
                                          <m:sub>
                                            <m:r>
                                              <a:rPr lang="en-US" sz="2000" b="1" i="1" smtClean="0">
                                                <a:solidFill>
                                                  <a:schemeClr val="tx1"/>
                                                </a:solidFill>
                                                <a:latin typeface="Cambria Math" panose="02040503050406030204" pitchFamily="18" charset="0"/>
                                                <a:ea typeface="Cambria Math" panose="02040503050406030204" pitchFamily="18" charset="0"/>
                                              </a:rPr>
                                              <m:t>∗</m:t>
                                            </m:r>
                                          </m:sub>
                                        </m:sSub>
                                      </m:e>
                                    </m:d>
                                  </m:e>
                                </m:d>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r>
                                  <a:rPr lang="en-US" sz="2000" b="0" i="1" smtClean="0">
                                    <a:solidFill>
                                      <a:schemeClr val="tx1"/>
                                    </a:solidFill>
                                    <a:latin typeface="Cambria Math" panose="02040503050406030204" pitchFamily="18" charset="0"/>
                                    <a:ea typeface="Cambria Math" panose="02040503050406030204" pitchFamily="18" charset="0"/>
                                  </a:rPr>
                                  <m:t>=</m:t>
                                </m:r>
                                <m:d>
                                  <m:dPr>
                                    <m:ctrlPr>
                                      <a:rPr lang="en-US" sz="2000" b="1" i="1" smtClean="0">
                                        <a:solidFill>
                                          <a:schemeClr val="tx1"/>
                                        </a:solidFill>
                                        <a:latin typeface="Cambria Math" panose="02040503050406030204" pitchFamily="18" charset="0"/>
                                        <a:ea typeface="Cambria Math" panose="02040503050406030204" pitchFamily="18" charset="0"/>
                                      </a:rPr>
                                    </m:ctrlPr>
                                  </m:dPr>
                                  <m:e>
                                    <m:sSub>
                                      <m:sSubPr>
                                        <m:ctrlPr>
                                          <a:rPr lang="en-US" sz="2000" b="1" i="1" smtClean="0">
                                            <a:solidFill>
                                              <a:schemeClr val="tx1"/>
                                            </a:solidFill>
                                            <a:latin typeface="Cambria Math" panose="02040503050406030204" pitchFamily="18" charset="0"/>
                                            <a:ea typeface="Cambria Math" panose="02040503050406030204" pitchFamily="18" charset="0"/>
                                          </a:rPr>
                                        </m:ctrlPr>
                                      </m:sSubPr>
                                      <m:e>
                                        <m:r>
                                          <a:rPr lang="en-US" sz="2000" b="1" i="1" smtClean="0">
                                            <a:solidFill>
                                              <a:schemeClr val="tx1"/>
                                            </a:solidFill>
                                            <a:latin typeface="Cambria Math" panose="02040503050406030204" pitchFamily="18" charset="0"/>
                                            <a:ea typeface="Cambria Math" panose="02040503050406030204" pitchFamily="18" charset="0"/>
                                          </a:rPr>
                                          <m:t>𝒗</m:t>
                                        </m:r>
                                      </m:e>
                                      <m:sub>
                                        <m:r>
                                          <a:rPr lang="en-US" sz="2000" b="1" i="1" smtClean="0">
                                            <a:solidFill>
                                              <a:schemeClr val="tx1"/>
                                            </a:solidFill>
                                            <a:latin typeface="Cambria Math" panose="02040503050406030204" pitchFamily="18" charset="0"/>
                                            <a:ea typeface="Cambria Math" panose="02040503050406030204" pitchFamily="18" charset="0"/>
                                          </a:rPr>
                                          <m:t>∗</m:t>
                                        </m:r>
                                      </m:sub>
                                    </m:sSub>
                                    <m:r>
                                      <a:rPr lang="en-US" sz="2000" b="0" i="1" smtClean="0">
                                        <a:solidFill>
                                          <a:schemeClr val="tx1"/>
                                        </a:solidFill>
                                        <a:latin typeface="Cambria Math" panose="02040503050406030204" pitchFamily="18" charset="0"/>
                                        <a:ea typeface="Cambria Math" panose="02040503050406030204" pitchFamily="18" charset="0"/>
                                      </a:rPr>
                                      <m:t>+</m:t>
                                    </m:r>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m:t>
                                        </m:r>
                                      </m:sub>
                                    </m:sSub>
                                    <m:d>
                                      <m:dPr>
                                        <m:begChr m:val="["/>
                                        <m:endChr m:val="]"/>
                                        <m:ctrlPr>
                                          <a:rPr lang="en-US" sz="2000" b="1" i="1">
                                            <a:solidFill>
                                              <a:schemeClr val="tx1"/>
                                            </a:solidFill>
                                            <a:latin typeface="Cambria Math" panose="02040503050406030204" pitchFamily="18" charset="0"/>
                                          </a:rPr>
                                        </m:ctrlPr>
                                      </m:dPr>
                                      <m:e>
                                        <m:d>
                                          <m:dPr>
                                            <m:ctrlPr>
                                              <a:rPr lang="en-US" sz="2000" b="1" i="1">
                                                <a:solidFill>
                                                  <a:schemeClr val="tx1"/>
                                                </a:solidFill>
                                                <a:latin typeface="Cambria Math" panose="02040503050406030204" pitchFamily="18" charset="0"/>
                                              </a:rPr>
                                            </m:ctrlPr>
                                          </m:dPr>
                                          <m:e>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b="1" i="1">
                                                    <a:solidFill>
                                                      <a:schemeClr val="tx1"/>
                                                    </a:solidFill>
                                                    <a:latin typeface="Cambria Math" panose="02040503050406030204" pitchFamily="18" charset="0"/>
                                                  </a:rPr>
                                                  <m:t>∗</m:t>
                                                </m:r>
                                              </m:sub>
                                            </m:sSub>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𝒗</m:t>
                                            </m:r>
                                          </m:e>
                                          <m:sub>
                                            <m:r>
                                              <a:rPr lang="en-US" sz="2000" b="1" i="1">
                                                <a:solidFill>
                                                  <a:schemeClr val="tx1"/>
                                                </a:solidFill>
                                                <a:latin typeface="Cambria Math" panose="02040503050406030204" pitchFamily="18" charset="0"/>
                                              </a:rPr>
                                              <m:t>∗</m:t>
                                            </m:r>
                                          </m:sub>
                                        </m:sSub>
                                      </m:e>
                                    </m:d>
                                  </m:e>
                                </m:d>
                                <m:d>
                                  <m:dPr>
                                    <m:ctrlPr>
                                      <a:rPr lang="en-US" sz="2000" b="1" i="1" smtClean="0">
                                        <a:solidFill>
                                          <a:schemeClr val="tx1"/>
                                        </a:solidFill>
                                        <a:latin typeface="Cambria Math" panose="02040503050406030204" pitchFamily="18" charset="0"/>
                                      </a:rPr>
                                    </m:ctrlPr>
                                  </m:dPr>
                                  <m:e>
                                    <m:r>
                                      <a:rPr lang="en-US" sz="2000" b="1" i="1" smtClean="0">
                                        <a:solidFill>
                                          <a:schemeClr val="tx1"/>
                                        </a:solidFill>
                                        <a:latin typeface="Cambria Math" panose="02040503050406030204" pitchFamily="18" charset="0"/>
                                      </a:rPr>
                                      <m:t>𝒙</m:t>
                                    </m:r>
                                  </m:e>
                                </m:d>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927951606"/>
                      </a:ext>
                    </a:extLst>
                  </a:tr>
                </a:tbl>
              </a:graphicData>
            </a:graphic>
          </p:graphicFrame>
        </mc:Choice>
        <mc:Fallback xmlns="">
          <p:graphicFrame>
            <p:nvGraphicFramePr>
              <p:cNvPr id="8" name="Table 7">
                <a:extLst>
                  <a:ext uri="{FF2B5EF4-FFF2-40B4-BE49-F238E27FC236}">
                    <a16:creationId xmlns:a16="http://schemas.microsoft.com/office/drawing/2014/main" id="{77912201-D30D-9004-60DB-3B93BF44AE0F}"/>
                  </a:ext>
                </a:extLst>
              </p:cNvPr>
              <p:cNvGraphicFramePr>
                <a:graphicFrameLocks noGrp="1"/>
              </p:cNvGraphicFramePr>
              <p:nvPr>
                <p:extLst>
                  <p:ext uri="{D42A27DB-BD31-4B8C-83A1-F6EECF244321}">
                    <p14:modId xmlns:p14="http://schemas.microsoft.com/office/powerpoint/2010/main" val="357381467"/>
                  </p:ext>
                </p:extLst>
              </p:nvPr>
            </p:nvGraphicFramePr>
            <p:xfrm>
              <a:off x="1024890" y="1487822"/>
              <a:ext cx="10142220" cy="4995334"/>
            </p:xfrm>
            <a:graphic>
              <a:graphicData uri="http://schemas.openxmlformats.org/drawingml/2006/table">
                <a:tbl>
                  <a:tblPr firstRow="1" bandRow="1">
                    <a:tableStyleId>{5C22544A-7EE6-4342-B048-85BDC9FD1C3A}</a:tableStyleId>
                  </a:tblPr>
                  <a:tblGrid>
                    <a:gridCol w="5071110">
                      <a:extLst>
                        <a:ext uri="{9D8B030D-6E8A-4147-A177-3AD203B41FA5}">
                          <a16:colId xmlns:a16="http://schemas.microsoft.com/office/drawing/2014/main" val="3861926108"/>
                        </a:ext>
                      </a:extLst>
                    </a:gridCol>
                    <a:gridCol w="5071110">
                      <a:extLst>
                        <a:ext uri="{9D8B030D-6E8A-4147-A177-3AD203B41FA5}">
                          <a16:colId xmlns:a16="http://schemas.microsoft.com/office/drawing/2014/main" val="2614438533"/>
                        </a:ext>
                      </a:extLst>
                    </a:gridCol>
                  </a:tblGrid>
                  <a:tr h="606214">
                    <a:tc>
                      <a:txBody>
                        <a:bodyPr/>
                        <a:lstStyle/>
                        <a:p>
                          <a:pPr algn="ctr"/>
                          <a:r>
                            <a:rPr lang="en-US" sz="3200" b="1" dirty="0">
                              <a:solidFill>
                                <a:schemeClr val="tx1"/>
                              </a:solidFill>
                            </a:rPr>
                            <a:t>TFA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algn="ctr"/>
                          <a:r>
                            <a:rPr lang="en-US" sz="3200" b="1" dirty="0">
                              <a:solidFill>
                                <a:schemeClr val="tx1"/>
                              </a:solidFill>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0173072"/>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 t="-62222" r="-100240" b="-30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20" t="-62222" r="-240" b="-301111"/>
                          </a:stretch>
                        </a:blipFill>
                      </a:tcPr>
                    </a:tc>
                    <a:extLst>
                      <a:ext uri="{0D108BD9-81ED-4DB2-BD59-A6C34878D82A}">
                        <a16:rowId xmlns:a16="http://schemas.microsoft.com/office/drawing/2014/main" val="1833666317"/>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 t="-162222" r="-100240" b="-20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20" t="-162222" r="-240" b="-201111"/>
                          </a:stretch>
                        </a:blipFill>
                      </a:tcPr>
                    </a:tc>
                    <a:extLst>
                      <a:ext uri="{0D108BD9-81ED-4DB2-BD59-A6C34878D82A}">
                        <a16:rowId xmlns:a16="http://schemas.microsoft.com/office/drawing/2014/main" val="806221194"/>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 t="-262222" r="-100240" b="-10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20" t="-262222" r="-240" b="-101111"/>
                          </a:stretch>
                        </a:blipFill>
                      </a:tcPr>
                    </a:tc>
                    <a:extLst>
                      <a:ext uri="{0D108BD9-81ED-4DB2-BD59-A6C34878D82A}">
                        <a16:rowId xmlns:a16="http://schemas.microsoft.com/office/drawing/2014/main" val="221943468"/>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 t="-362222" r="-100240" b="-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20" t="-362222" r="-240" b="-1111"/>
                          </a:stretch>
                        </a:blipFill>
                      </a:tcPr>
                    </a:tc>
                    <a:extLst>
                      <a:ext uri="{0D108BD9-81ED-4DB2-BD59-A6C34878D82A}">
                        <a16:rowId xmlns:a16="http://schemas.microsoft.com/office/drawing/2014/main" val="927951606"/>
                      </a:ext>
                    </a:extLst>
                  </a:tr>
                </a:tbl>
              </a:graphicData>
            </a:graphic>
          </p:graphicFrame>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F6C8AB-5F6B-C24D-329F-509A370E6C78}"/>
                  </a:ext>
                </a:extLst>
              </p:cNvPr>
              <p:cNvSpPr txBox="1"/>
              <p:nvPr/>
            </p:nvSpPr>
            <p:spPr>
              <a:xfrm>
                <a:off x="9833610" y="1659374"/>
                <a:ext cx="1333500" cy="369332"/>
              </a:xfrm>
              <a:prstGeom prst="rect">
                <a:avLst/>
              </a:prstGeom>
              <a:noFill/>
            </p:spPr>
            <p:txBody>
              <a:bodyPr wrap="square">
                <a:spAutoFit/>
              </a:bodyPr>
              <a:lstStyle/>
              <a:p>
                <a:r>
                  <a:rPr lang="en-US" sz="1800" b="0" dirty="0">
                    <a:solidFill>
                      <a:schemeClr val="tx1"/>
                    </a:solidFill>
                  </a:rPr>
                  <a:t>(for </a:t>
                </a:r>
                <a14:m>
                  <m:oMath xmlns:m="http://schemas.openxmlformats.org/officeDocument/2006/math">
                    <m:r>
                      <a:rPr lang="en-US" sz="1800" b="1" i="1" smtClean="0">
                        <a:solidFill>
                          <a:schemeClr val="tx1"/>
                        </a:solidFill>
                        <a:latin typeface="Cambria Math" panose="02040503050406030204" pitchFamily="18" charset="0"/>
                      </a:rPr>
                      <m:t>𝒙</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𝛩</m:t>
                        </m:r>
                      </m:e>
                      <m:sub>
                        <m:r>
                          <a:rPr lang="en-US" sz="1800" i="1">
                            <a:solidFill>
                              <a:schemeClr val="tx1"/>
                            </a:solidFill>
                            <a:latin typeface="Cambria Math" panose="02040503050406030204" pitchFamily="18" charset="0"/>
                          </a:rPr>
                          <m:t>𝐴</m:t>
                        </m:r>
                      </m:sub>
                    </m:sSub>
                    <m:r>
                      <a:rPr lang="en-US" sz="1800" b="1" i="1" smtClean="0">
                        <a:solidFill>
                          <a:schemeClr val="tx1"/>
                        </a:solidFill>
                        <a:latin typeface="Cambria Math" panose="02040503050406030204" pitchFamily="18" charset="0"/>
                      </a:rPr>
                      <m:t>)</m:t>
                    </m:r>
                  </m:oMath>
                </a14:m>
                <a:endParaRPr lang="en-US" dirty="0"/>
              </a:p>
            </p:txBody>
          </p:sp>
        </mc:Choice>
        <mc:Fallback xmlns="">
          <p:sp>
            <p:nvSpPr>
              <p:cNvPr id="4" name="TextBox 3">
                <a:extLst>
                  <a:ext uri="{FF2B5EF4-FFF2-40B4-BE49-F238E27FC236}">
                    <a16:creationId xmlns:a16="http://schemas.microsoft.com/office/drawing/2014/main" id="{28F6C8AB-5F6B-C24D-329F-509A370E6C78}"/>
                  </a:ext>
                </a:extLst>
              </p:cNvPr>
              <p:cNvSpPr txBox="1">
                <a:spLocks noRot="1" noChangeAspect="1" noMove="1" noResize="1" noEditPoints="1" noAdjustHandles="1" noChangeArrowheads="1" noChangeShapeType="1" noTextEdit="1"/>
              </p:cNvSpPr>
              <p:nvPr/>
            </p:nvSpPr>
            <p:spPr>
              <a:xfrm>
                <a:off x="9833610" y="1659374"/>
                <a:ext cx="1333500" cy="369332"/>
              </a:xfrm>
              <a:prstGeom prst="rect">
                <a:avLst/>
              </a:prstGeom>
              <a:blipFill>
                <a:blip r:embed="rId3"/>
                <a:stretch>
                  <a:fillRect l="-3653" t="-6557" b="-26230"/>
                </a:stretch>
              </a:blipFill>
            </p:spPr>
            <p:txBody>
              <a:bodyPr/>
              <a:lstStyle/>
              <a:p>
                <a:r>
                  <a:rPr lang="en-US">
                    <a:noFill/>
                  </a:rPr>
                  <a:t> </a:t>
                </a:r>
              </a:p>
            </p:txBody>
          </p:sp>
        </mc:Fallback>
      </mc:AlternateContent>
    </p:spTree>
    <p:extLst>
      <p:ext uri="{BB962C8B-B14F-4D97-AF65-F5344CB8AC3E}">
        <p14:creationId xmlns:p14="http://schemas.microsoft.com/office/powerpoint/2010/main" val="9706214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9130D-7581-33E1-ADD0-3823D9A85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A0EA03-9468-6885-1354-F293E2F340E1}"/>
              </a:ext>
            </a:extLst>
          </p:cNvPr>
          <p:cNvSpPr>
            <a:spLocks noGrp="1"/>
          </p:cNvSpPr>
          <p:nvPr>
            <p:ph type="title"/>
          </p:nvPr>
        </p:nvSpPr>
        <p:spPr>
          <a:xfrm>
            <a:off x="371756" y="355608"/>
            <a:ext cx="11622123" cy="1325563"/>
          </a:xfrm>
        </p:spPr>
        <p:txBody>
          <a:bodyPr>
            <a:normAutofit/>
          </a:bodyPr>
          <a:lstStyle/>
          <a:p>
            <a:r>
              <a:rPr lang="en-US" sz="4000" dirty="0"/>
              <a:t>Final Comparison: TFA vs. CP (Lippmann-Schwinger)</a:t>
            </a: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605E3FD8-04B3-55A1-6D26-86F1987EB15C}"/>
                  </a:ext>
                </a:extLst>
              </p:cNvPr>
              <p:cNvGraphicFramePr>
                <a:graphicFrameLocks noGrp="1"/>
              </p:cNvGraphicFramePr>
              <p:nvPr>
                <p:extLst>
                  <p:ext uri="{D42A27DB-BD31-4B8C-83A1-F6EECF244321}">
                    <p14:modId xmlns:p14="http://schemas.microsoft.com/office/powerpoint/2010/main" val="1074375507"/>
                  </p:ext>
                </p:extLst>
              </p:nvPr>
            </p:nvGraphicFramePr>
            <p:xfrm>
              <a:off x="678180" y="2409842"/>
              <a:ext cx="10835640" cy="1703494"/>
            </p:xfrm>
            <a:graphic>
              <a:graphicData uri="http://schemas.openxmlformats.org/drawingml/2006/table">
                <a:tbl>
                  <a:tblPr firstRow="1" bandRow="1">
                    <a:tableStyleId>{5C22544A-7EE6-4342-B048-85BDC9FD1C3A}</a:tableStyleId>
                  </a:tblPr>
                  <a:tblGrid>
                    <a:gridCol w="5417820">
                      <a:extLst>
                        <a:ext uri="{9D8B030D-6E8A-4147-A177-3AD203B41FA5}">
                          <a16:colId xmlns:a16="http://schemas.microsoft.com/office/drawing/2014/main" val="3861926108"/>
                        </a:ext>
                      </a:extLst>
                    </a:gridCol>
                    <a:gridCol w="5417820">
                      <a:extLst>
                        <a:ext uri="{9D8B030D-6E8A-4147-A177-3AD203B41FA5}">
                          <a16:colId xmlns:a16="http://schemas.microsoft.com/office/drawing/2014/main" val="2614438533"/>
                        </a:ext>
                      </a:extLst>
                    </a:gridCol>
                  </a:tblGrid>
                  <a:tr h="606214">
                    <a:tc>
                      <a:txBody>
                        <a:bodyPr/>
                        <a:lstStyle/>
                        <a:p>
                          <a:pPr algn="ctr"/>
                          <a:r>
                            <a:rPr lang="en-US" sz="3200" b="1" dirty="0">
                              <a:solidFill>
                                <a:schemeClr val="tx1"/>
                              </a:solidFill>
                            </a:rPr>
                            <a:t>TFA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algn="ctr"/>
                          <a:r>
                            <a:rPr lang="en-US" sz="3200" b="1" dirty="0">
                              <a:solidFill>
                                <a:schemeClr val="tx1"/>
                              </a:solidFill>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0173072"/>
                      </a:ext>
                    </a:extLst>
                  </a:tr>
                  <a:tr h="109728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2000" b="1" i="1" smtClean="0">
                                  <a:solidFill>
                                    <a:schemeClr val="tx1"/>
                                  </a:solidFill>
                                  <a:latin typeface="Cambria Math" panose="02040503050406030204" pitchFamily="18" charset="0"/>
                                </a:rPr>
                                <m:t>𝜺</m:t>
                              </m:r>
                              <m:r>
                                <a:rPr lang="en-US" sz="2000" b="1" i="1" smtClean="0">
                                  <a:solidFill>
                                    <a:schemeClr val="tx1"/>
                                  </a:solidFill>
                                  <a:latin typeface="Cambria Math" panose="02040503050406030204" pitchFamily="18" charset="0"/>
                                </a:rPr>
                                <m:t>+</m:t>
                              </m:r>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0</m:t>
                                  </m:r>
                                </m:sub>
                              </m:sSub>
                              <m:d>
                                <m:dPr>
                                  <m:begChr m:val="["/>
                                  <m:endChr m:val="]"/>
                                  <m:ctrlPr>
                                    <a:rPr lang="en-US" sz="2000" b="1" i="1">
                                      <a:solidFill>
                                        <a:schemeClr val="tx1"/>
                                      </a:solidFill>
                                      <a:latin typeface="Cambria Math" panose="02040503050406030204" pitchFamily="18" charset="0"/>
                                    </a:rPr>
                                  </m:ctrlPr>
                                </m:dPr>
                                <m:e>
                                  <m:d>
                                    <m:dPr>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𝑪</m:t>
                                      </m:r>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r>
                                    <a:rPr lang="en-US" sz="2000" b="1" i="1">
                                      <a:solidFill>
                                        <a:schemeClr val="tx1"/>
                                      </a:solidFill>
                                      <a:latin typeface="Cambria Math" panose="02040503050406030204" pitchFamily="18" charset="0"/>
                                    </a:rPr>
                                    <m:t>:</m:t>
                                  </m:r>
                                  <m:r>
                                    <a:rPr lang="en-US" sz="2000" b="1" i="1">
                                      <a:solidFill>
                                        <a:schemeClr val="tx1"/>
                                      </a:solidFill>
                                      <a:latin typeface="Cambria Math" panose="02040503050406030204" pitchFamily="18" charset="0"/>
                                    </a:rPr>
                                    <m:t>𝜺</m:t>
                                  </m:r>
                                </m:e>
                              </m:d>
                              <m:r>
                                <a:rPr lang="en-US" sz="2000" b="1" i="1" smtClean="0">
                                  <a:solidFill>
                                    <a:schemeClr val="tx1"/>
                                  </a:solidFill>
                                  <a:latin typeface="Cambria Math" panose="02040503050406030204" pitchFamily="18" charset="0"/>
                                </a:rPr>
                                <m:t>=</m:t>
                              </m:r>
                              <m:acc>
                                <m:accPr>
                                  <m:chr m:val="̅"/>
                                  <m:ctrlPr>
                                    <a:rPr lang="en-US" sz="2000" b="1" i="1">
                                      <a:solidFill>
                                        <a:schemeClr val="tx1"/>
                                      </a:solidFill>
                                      <a:latin typeface="Cambria Math" panose="02040503050406030204" pitchFamily="18" charset="0"/>
                                    </a:rPr>
                                  </m:ctrlPr>
                                </m:accPr>
                                <m:e>
                                  <m:r>
                                    <a:rPr lang="en-US" sz="2000" b="1" i="1">
                                      <a:solidFill>
                                        <a:schemeClr val="tx1"/>
                                      </a:solidFill>
                                      <a:latin typeface="Cambria Math" panose="02040503050406030204" pitchFamily="18" charset="0"/>
                                    </a:rPr>
                                    <m:t>𝜺</m:t>
                                  </m:r>
                                </m:e>
                              </m:acc>
                              <m:r>
                                <a:rPr lang="en-US" sz="2000" b="1" i="1" smtClean="0">
                                  <a:solidFill>
                                    <a:schemeClr val="tx1"/>
                                  </a:solidFill>
                                  <a:latin typeface="Cambria Math" panose="02040503050406030204" pitchFamily="18" charset="0"/>
                                </a:rPr>
                                <m:t>+</m:t>
                              </m:r>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0</m:t>
                                  </m:r>
                                </m:sub>
                              </m:sSub>
                            </m:oMath>
                          </a14:m>
                          <a:r>
                            <a:rPr lang="en-US" sz="2000" b="1" dirty="0">
                              <a:solidFill>
                                <a:schemeClr val="tx1"/>
                              </a:solidFill>
                            </a:rPr>
                            <a:t> </a:t>
                          </a:r>
                          <a14:m>
                            <m:oMath xmlns:m="http://schemas.openxmlformats.org/officeDocument/2006/math">
                              <m:d>
                                <m:dPr>
                                  <m:begChr m:val="["/>
                                  <m:endChr m:val="]"/>
                                  <m:ctrlPr>
                                    <a:rPr lang="en-US" sz="2000" b="1" i="1">
                                      <a:solidFill>
                                        <a:schemeClr val="tx1"/>
                                      </a:solidFill>
                                      <a:latin typeface="Cambria Math" panose="02040503050406030204" pitchFamily="18" charset="0"/>
                                    </a:rPr>
                                  </m:ctrlPr>
                                </m:dPr>
                                <m:e>
                                  <m:r>
                                    <a:rPr lang="en-US" sz="2000" b="1" i="1">
                                      <a:solidFill>
                                        <a:schemeClr val="tx1"/>
                                      </a:solidFill>
                                      <a:latin typeface="Cambria Math" panose="02040503050406030204" pitchFamily="18" charset="0"/>
                                    </a:rPr>
                                    <m:t>𝑪</m:t>
                                  </m:r>
                                  <m:r>
                                    <a:rPr lang="en-US" sz="2000" b="1" i="1">
                                      <a:solidFill>
                                        <a:schemeClr val="tx1"/>
                                      </a:solidFill>
                                      <a:latin typeface="Cambria Math" panose="02040503050406030204" pitchFamily="18" charset="0"/>
                                    </a:rPr>
                                    <m:t>:</m:t>
                                  </m:r>
                                  <m:r>
                                    <a:rPr lang="en-US" sz="2000" b="1" i="1">
                                      <a:solidFill>
                                        <a:schemeClr val="tx1"/>
                                      </a:solidFill>
                                      <a:latin typeface="Cambria Math" panose="02040503050406030204" pitchFamily="18" charset="0"/>
                                    </a:rPr>
                                    <m:t>𝝁</m:t>
                                  </m:r>
                                </m:e>
                              </m:d>
                            </m:oMath>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
                                <m:sSub>
                                  <m:sSubPr>
                                    <m:ctrlPr>
                                      <a:rPr lang="en-US" sz="2000" b="1" i="1" smtClean="0">
                                        <a:solidFill>
                                          <a:schemeClr val="tx1"/>
                                        </a:solidFill>
                                        <a:latin typeface="Cambria Math" panose="02040503050406030204" pitchFamily="18" charset="0"/>
                                      </a:rPr>
                                    </m:ctrlPr>
                                  </m:sSubPr>
                                  <m:e>
                                    <m:r>
                                      <a:rPr lang="en-US" sz="2000" b="1" i="1" smtClean="0">
                                        <a:solidFill>
                                          <a:schemeClr val="tx1"/>
                                        </a:solidFill>
                                        <a:latin typeface="Cambria Math" panose="02040503050406030204" pitchFamily="18" charset="0"/>
                                      </a:rPr>
                                      <m:t>𝜺</m:t>
                                    </m:r>
                                  </m:e>
                                  <m:sub>
                                    <m:r>
                                      <a:rPr lang="en-US" sz="2000" b="1" i="1" smtClean="0">
                                        <a:solidFill>
                                          <a:schemeClr val="tx1"/>
                                        </a:solidFill>
                                        <a:latin typeface="Cambria Math" panose="02040503050406030204" pitchFamily="18" charset="0"/>
                                      </a:rPr>
                                      <m:t>∗</m:t>
                                    </m:r>
                                  </m:sub>
                                </m:sSub>
                                <m:r>
                                  <a:rPr lang="en-US" sz="2000" b="1" i="1" smtClean="0">
                                    <a:solidFill>
                                      <a:schemeClr val="tx1"/>
                                    </a:solidFill>
                                    <a:latin typeface="Cambria Math" panose="02040503050406030204" pitchFamily="18" charset="0"/>
                                  </a:rPr>
                                  <m:t>+</m:t>
                                </m:r>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m:t>
                                    </m:r>
                                  </m:sub>
                                </m:sSub>
                                <m:d>
                                  <m:dPr>
                                    <m:begChr m:val="["/>
                                    <m:endChr m:val="]"/>
                                    <m:ctrlPr>
                                      <a:rPr lang="en-US" sz="2000" b="1" i="1">
                                        <a:solidFill>
                                          <a:schemeClr val="tx1"/>
                                        </a:solidFill>
                                        <a:latin typeface="Cambria Math" panose="02040503050406030204" pitchFamily="18" charset="0"/>
                                      </a:rPr>
                                    </m:ctrlPr>
                                  </m:dPr>
                                  <m:e>
                                    <m:d>
                                      <m:dPr>
                                        <m:ctrlPr>
                                          <a:rPr lang="en-US" sz="2000" b="1" i="1">
                                            <a:solidFill>
                                              <a:schemeClr val="tx1"/>
                                            </a:solidFill>
                                            <a:latin typeface="Cambria Math" panose="02040503050406030204" pitchFamily="18" charset="0"/>
                                          </a:rPr>
                                        </m:ctrlPr>
                                      </m:dPr>
                                      <m:e>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b="1" i="1">
                                                <a:solidFill>
                                                  <a:schemeClr val="tx1"/>
                                                </a:solidFill>
                                                <a:latin typeface="Cambria Math" panose="02040503050406030204" pitchFamily="18" charset="0"/>
                                              </a:rPr>
                                              <m:t>∗</m:t>
                                            </m:r>
                                          </m:sub>
                                        </m:sSub>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𝜺</m:t>
                                        </m:r>
                                      </m:e>
                                      <m:sub>
                                        <m:r>
                                          <a:rPr lang="en-US" sz="2000" i="1">
                                            <a:solidFill>
                                              <a:schemeClr val="tx1"/>
                                            </a:solidFill>
                                            <a:latin typeface="Cambria Math" panose="02040503050406030204" pitchFamily="18" charset="0"/>
                                          </a:rPr>
                                          <m:t>∗</m:t>
                                        </m:r>
                                      </m:sub>
                                    </m:sSub>
                                  </m:e>
                                </m:d>
                                <m:r>
                                  <a:rPr lang="en-US" sz="2000" b="1" i="1" smtClean="0">
                                    <a:solidFill>
                                      <a:schemeClr val="tx1"/>
                                    </a:solidFill>
                                    <a:latin typeface="Cambria Math" panose="02040503050406030204" pitchFamily="18" charset="0"/>
                                  </a:rPr>
                                  <m:t>=</m:t>
                                </m:r>
                                <m:acc>
                                  <m:accPr>
                                    <m:chr m:val="̅"/>
                                    <m:ctrlPr>
                                      <a:rPr lang="en-US" sz="2000" b="1" i="1">
                                        <a:solidFill>
                                          <a:schemeClr val="tx1"/>
                                        </a:solidFill>
                                        <a:latin typeface="Cambria Math" panose="02040503050406030204" pitchFamily="18" charset="0"/>
                                      </a:rPr>
                                    </m:ctrlPr>
                                  </m:accPr>
                                  <m:e>
                                    <m:r>
                                      <a:rPr lang="en-US" sz="2000" b="1" i="1">
                                        <a:solidFill>
                                          <a:schemeClr val="tx1"/>
                                        </a:solidFill>
                                        <a:latin typeface="Cambria Math" panose="02040503050406030204" pitchFamily="18" charset="0"/>
                                      </a:rPr>
                                      <m:t>𝜺</m:t>
                                    </m:r>
                                  </m:e>
                                </m:acc>
                                <m:r>
                                  <a:rPr lang="en-US" sz="2000" b="1" i="0" smtClean="0">
                                    <a:solidFill>
                                      <a:schemeClr val="tx1"/>
                                    </a:solidFill>
                                    <a:latin typeface="Cambria Math" panose="02040503050406030204" pitchFamily="18" charset="0"/>
                                  </a:rPr>
                                  <m:t>+</m:t>
                                </m:r>
                                <m:sSub>
                                  <m:sSubPr>
                                    <m:ctrlPr>
                                      <a:rPr lang="en-US" sz="2000" b="1">
                                        <a:solidFill>
                                          <a:schemeClr val="tx1"/>
                                        </a:solidFill>
                                        <a:latin typeface="Cambria Math" panose="02040503050406030204" pitchFamily="18" charset="0"/>
                                      </a:rPr>
                                    </m:ctrlPr>
                                  </m:sSubPr>
                                  <m:e>
                                    <m:r>
                                      <a:rPr lang="en-US" sz="2000" b="1">
                                        <a:solidFill>
                                          <a:schemeClr val="tx1"/>
                                        </a:solidFill>
                                        <a:latin typeface="Cambria Math" panose="02040503050406030204" pitchFamily="18" charset="0"/>
                                      </a:rPr>
                                      <m:t>𝚪</m:t>
                                    </m:r>
                                  </m:e>
                                  <m:sub>
                                    <m:r>
                                      <a:rPr lang="en-US" sz="2000" i="1">
                                        <a:solidFill>
                                          <a:schemeClr val="tx1"/>
                                        </a:solidFill>
                                        <a:latin typeface="Cambria Math" panose="02040503050406030204" pitchFamily="18" charset="0"/>
                                      </a:rPr>
                                      <m:t>∗</m:t>
                                    </m:r>
                                  </m:sub>
                                </m:sSub>
                                <m:d>
                                  <m:dPr>
                                    <m:begChr m:val="["/>
                                    <m:endChr m:val="]"/>
                                    <m:ctrlPr>
                                      <a:rPr lang="en-US" sz="2000" b="1" i="1">
                                        <a:solidFill>
                                          <a:schemeClr val="tx1"/>
                                        </a:solidFill>
                                        <a:latin typeface="Cambria Math" panose="02040503050406030204" pitchFamily="18" charset="0"/>
                                      </a:rPr>
                                    </m:ctrlPr>
                                  </m:dPr>
                                  <m:e>
                                    <m:d>
                                      <m:dPr>
                                        <m:ctrlPr>
                                          <a:rPr lang="en-US" sz="2000" b="1" i="1">
                                            <a:solidFill>
                                              <a:schemeClr val="tx1"/>
                                            </a:solidFill>
                                            <a:latin typeface="Cambria Math" panose="02040503050406030204" pitchFamily="18" charset="0"/>
                                          </a:rPr>
                                        </m:ctrlPr>
                                      </m:dPr>
                                      <m:e>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m:t>
                                            </m:r>
                                          </m:sub>
                                        </m:sSub>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rPr>
                                            </m:ctrlPr>
                                          </m:sSubPr>
                                          <m:e>
                                            <m:r>
                                              <a:rPr lang="en-US" sz="2000" b="1" i="1">
                                                <a:solidFill>
                                                  <a:schemeClr val="tx1"/>
                                                </a:solidFill>
                                                <a:latin typeface="Cambria Math" panose="02040503050406030204" pitchFamily="18" charset="0"/>
                                              </a:rPr>
                                              <m:t>𝑪</m:t>
                                            </m:r>
                                          </m:e>
                                          <m:sub>
                                            <m:r>
                                              <a:rPr lang="en-US" sz="2000" i="1">
                                                <a:solidFill>
                                                  <a:schemeClr val="tx1"/>
                                                </a:solidFill>
                                                <a:latin typeface="Cambria Math" panose="02040503050406030204" pitchFamily="18" charset="0"/>
                                              </a:rPr>
                                              <m:t>0</m:t>
                                            </m:r>
                                          </m:sub>
                                        </m:sSub>
                                      </m:e>
                                    </m:d>
                                    <m:r>
                                      <a:rPr lang="en-US" sz="2000" b="1" i="1">
                                        <a:solidFill>
                                          <a:schemeClr val="tx1"/>
                                        </a:solidFill>
                                        <a:latin typeface="Cambria Math" panose="02040503050406030204" pitchFamily="18" charset="0"/>
                                      </a:rPr>
                                      <m:t>:</m:t>
                                    </m:r>
                                    <m:sSub>
                                      <m:sSubPr>
                                        <m:ctrlPr>
                                          <a:rPr lang="en-US" sz="2000" b="1" i="1">
                                            <a:solidFill>
                                              <a:schemeClr val="tx1"/>
                                            </a:solidFill>
                                            <a:latin typeface="Cambria Math" panose="02040503050406030204" pitchFamily="18" charset="0"/>
                                            <a:ea typeface="Cambria Math" panose="02040503050406030204" pitchFamily="18" charset="0"/>
                                          </a:rPr>
                                        </m:ctrlPr>
                                      </m:sSubPr>
                                      <m:e>
                                        <m:r>
                                          <a:rPr lang="en-US" sz="2000" b="1" i="1">
                                            <a:solidFill>
                                              <a:schemeClr val="tx1"/>
                                            </a:solidFill>
                                            <a:latin typeface="Cambria Math" panose="02040503050406030204" pitchFamily="18" charset="0"/>
                                            <a:ea typeface="Cambria Math" panose="02040503050406030204" pitchFamily="18" charset="0"/>
                                          </a:rPr>
                                          <m:t>𝝀</m:t>
                                        </m:r>
                                      </m:e>
                                      <m:sub>
                                        <m:r>
                                          <a:rPr lang="en-US" sz="2000" i="1">
                                            <a:solidFill>
                                              <a:schemeClr val="tx1"/>
                                            </a:solidFill>
                                            <a:latin typeface="Cambria Math" panose="02040503050406030204" pitchFamily="18" charset="0"/>
                                            <a:ea typeface="Cambria Math" panose="02040503050406030204" pitchFamily="18" charset="0"/>
                                          </a:rPr>
                                          <m:t>∗</m:t>
                                        </m:r>
                                      </m:sub>
                                    </m:sSub>
                                  </m:e>
                                </m:d>
                              </m:oMath>
                            </m:oMathPara>
                          </a14:m>
                          <a:endParaRPr lang="en-US" sz="2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1833666317"/>
                      </a:ext>
                    </a:extLst>
                  </a:tr>
                </a:tbl>
              </a:graphicData>
            </a:graphic>
          </p:graphicFrame>
        </mc:Choice>
        <mc:Fallback xmlns="">
          <p:graphicFrame>
            <p:nvGraphicFramePr>
              <p:cNvPr id="8" name="Table 7">
                <a:extLst>
                  <a:ext uri="{FF2B5EF4-FFF2-40B4-BE49-F238E27FC236}">
                    <a16:creationId xmlns:a16="http://schemas.microsoft.com/office/drawing/2014/main" id="{605E3FD8-04B3-55A1-6D26-86F1987EB15C}"/>
                  </a:ext>
                </a:extLst>
              </p:cNvPr>
              <p:cNvGraphicFramePr>
                <a:graphicFrameLocks noGrp="1"/>
              </p:cNvGraphicFramePr>
              <p:nvPr>
                <p:extLst>
                  <p:ext uri="{D42A27DB-BD31-4B8C-83A1-F6EECF244321}">
                    <p14:modId xmlns:p14="http://schemas.microsoft.com/office/powerpoint/2010/main" val="1074375507"/>
                  </p:ext>
                </p:extLst>
              </p:nvPr>
            </p:nvGraphicFramePr>
            <p:xfrm>
              <a:off x="678180" y="2409842"/>
              <a:ext cx="10835640" cy="1703494"/>
            </p:xfrm>
            <a:graphic>
              <a:graphicData uri="http://schemas.openxmlformats.org/drawingml/2006/table">
                <a:tbl>
                  <a:tblPr firstRow="1" bandRow="1">
                    <a:tableStyleId>{5C22544A-7EE6-4342-B048-85BDC9FD1C3A}</a:tableStyleId>
                  </a:tblPr>
                  <a:tblGrid>
                    <a:gridCol w="5417820">
                      <a:extLst>
                        <a:ext uri="{9D8B030D-6E8A-4147-A177-3AD203B41FA5}">
                          <a16:colId xmlns:a16="http://schemas.microsoft.com/office/drawing/2014/main" val="3861926108"/>
                        </a:ext>
                      </a:extLst>
                    </a:gridCol>
                    <a:gridCol w="5417820">
                      <a:extLst>
                        <a:ext uri="{9D8B030D-6E8A-4147-A177-3AD203B41FA5}">
                          <a16:colId xmlns:a16="http://schemas.microsoft.com/office/drawing/2014/main" val="2614438533"/>
                        </a:ext>
                      </a:extLst>
                    </a:gridCol>
                  </a:tblGrid>
                  <a:tr h="606214">
                    <a:tc>
                      <a:txBody>
                        <a:bodyPr/>
                        <a:lstStyle/>
                        <a:p>
                          <a:pPr algn="ctr"/>
                          <a:r>
                            <a:rPr lang="en-US" sz="3200" b="1" dirty="0">
                              <a:solidFill>
                                <a:schemeClr val="tx1"/>
                              </a:solidFill>
                            </a:rPr>
                            <a:t>TFA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tc>
                      <a:txBody>
                        <a:bodyPr/>
                        <a:lstStyle/>
                        <a:p>
                          <a:pPr algn="ctr"/>
                          <a:r>
                            <a:rPr lang="en-US" sz="3200" b="1" dirty="0">
                              <a:solidFill>
                                <a:schemeClr val="tx1"/>
                              </a:solidFill>
                            </a:rPr>
                            <a:t>CP</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F3FB"/>
                        </a:solidFill>
                      </a:tcPr>
                    </a:tc>
                    <a:extLst>
                      <a:ext uri="{0D108BD9-81ED-4DB2-BD59-A6C34878D82A}">
                        <a16:rowId xmlns:a16="http://schemas.microsoft.com/office/drawing/2014/main" val="2210173072"/>
                      </a:ext>
                    </a:extLst>
                  </a:tr>
                  <a:tr h="1097280">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2" t="-62222" r="-100225" b="-1111"/>
                          </a:stretch>
                        </a:blipFill>
                      </a:tcPr>
                    </a:tc>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112" t="-62222" r="-225" b="-1111"/>
                          </a:stretch>
                        </a:blipFill>
                      </a:tcPr>
                    </a:tc>
                    <a:extLst>
                      <a:ext uri="{0D108BD9-81ED-4DB2-BD59-A6C34878D82A}">
                        <a16:rowId xmlns:a16="http://schemas.microsoft.com/office/drawing/2014/main" val="1833666317"/>
                      </a:ext>
                    </a:extLst>
                  </a:tr>
                </a:tbl>
              </a:graphicData>
            </a:graphic>
          </p:graphicFrame>
        </mc:Fallback>
      </mc:AlternateContent>
      <p:sp>
        <p:nvSpPr>
          <p:cNvPr id="5" name="TextBox 4">
            <a:extLst>
              <a:ext uri="{FF2B5EF4-FFF2-40B4-BE49-F238E27FC236}">
                <a16:creationId xmlns:a16="http://schemas.microsoft.com/office/drawing/2014/main" id="{6885CEB6-0F8A-DEF0-F37B-5A9E734FB847}"/>
              </a:ext>
            </a:extLst>
          </p:cNvPr>
          <p:cNvSpPr txBox="1"/>
          <p:nvPr/>
        </p:nvSpPr>
        <p:spPr>
          <a:xfrm>
            <a:off x="4095608" y="4615195"/>
            <a:ext cx="4000784" cy="646331"/>
          </a:xfrm>
          <a:prstGeom prst="rect">
            <a:avLst/>
          </a:prstGeom>
          <a:noFill/>
        </p:spPr>
        <p:txBody>
          <a:bodyPr wrap="square" rtlCol="0">
            <a:spAutoFit/>
          </a:bodyPr>
          <a:lstStyle/>
          <a:p>
            <a:pPr algn="just"/>
            <a:r>
              <a:rPr lang="en-US" altLang="zh-TW" dirty="0">
                <a:solidFill>
                  <a:srgbClr val="0000FF"/>
                </a:solidFill>
              </a:rPr>
              <a:t>To achieve the FFT acceleration, these are the equations we must solve online. </a:t>
            </a:r>
            <a:endParaRPr lang="en-US" dirty="0">
              <a:solidFill>
                <a:srgbClr val="0000FF"/>
              </a:solidFill>
            </a:endParaRPr>
          </a:p>
        </p:txBody>
      </p:sp>
    </p:spTree>
    <p:extLst>
      <p:ext uri="{BB962C8B-B14F-4D97-AF65-F5344CB8AC3E}">
        <p14:creationId xmlns:p14="http://schemas.microsoft.com/office/powerpoint/2010/main" val="36991936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1240D-6B68-E84B-D89A-3D8F4B852349}"/>
              </a:ext>
            </a:extLst>
          </p:cNvPr>
          <p:cNvSpPr>
            <a:spLocks noGrp="1"/>
          </p:cNvSpPr>
          <p:nvPr>
            <p:ph type="title"/>
          </p:nvPr>
        </p:nvSpPr>
        <p:spPr>
          <a:xfrm>
            <a:off x="666750" y="296545"/>
            <a:ext cx="10515600" cy="1325563"/>
          </a:xfrm>
        </p:spPr>
        <p:txBody>
          <a:bodyPr/>
          <a:lstStyle/>
          <a:p>
            <a:r>
              <a:rPr lang="en-US" dirty="0"/>
              <a:t>Thoughts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1076B4A-C985-7F89-6ADF-ABF1913E31E0}"/>
                  </a:ext>
                </a:extLst>
              </p:cNvPr>
              <p:cNvSpPr>
                <a:spLocks noGrp="1"/>
              </p:cNvSpPr>
              <p:nvPr>
                <p:ph idx="1"/>
              </p:nvPr>
            </p:nvSpPr>
            <p:spPr>
              <a:xfrm>
                <a:off x="666750" y="1690687"/>
                <a:ext cx="10858500" cy="4489619"/>
              </a:xfrm>
            </p:spPr>
            <p:txBody>
              <a:bodyPr>
                <a:normAutofit fontScale="77500" lnSpcReduction="20000"/>
              </a:bodyPr>
              <a:lstStyle/>
              <a:p>
                <a:pPr algn="just"/>
                <a:r>
                  <a:rPr lang="en-US" dirty="0"/>
                  <a:t>For the constant polarization scheme, neither strain, nor eigenstrain, are ever assumed constant within each partition. Theoretically, it also allows for multiple material states per partition. </a:t>
                </a:r>
              </a:p>
              <a:p>
                <a:pPr algn="just"/>
                <a:endParaRPr lang="en-US" dirty="0"/>
              </a:p>
              <a:p>
                <a:pPr algn="just"/>
                <a:r>
                  <a:rPr lang="en-US" dirty="0"/>
                  <a:t>The Lippmann-Schwinger version of the TFA equations shown on the previous slide could also be accelerated using FFT but would only achieve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𝑁𝑙𝑜𝑔𝑁</m:t>
                        </m:r>
                      </m:e>
                    </m:d>
                  </m:oMath>
                </a14:m>
                <a:r>
                  <a:rPr lang="en-US" dirty="0"/>
                  <a:t> complexity rather than </a:t>
                </a:r>
                <a14:m>
                  <m:oMath xmlns:m="http://schemas.openxmlformats.org/officeDocument/2006/math">
                    <m:r>
                      <a:rPr lang="en-US" i="1">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𝑀</m:t>
                        </m:r>
                        <m:r>
                          <a:rPr lang="en-US" i="1">
                            <a:latin typeface="Cambria Math" panose="02040503050406030204" pitchFamily="18" charset="0"/>
                          </a:rPr>
                          <m:t>𝑙𝑜𝑔</m:t>
                        </m:r>
                        <m:r>
                          <a:rPr lang="en-US" b="0" i="1" smtClean="0">
                            <a:latin typeface="Cambria Math" panose="02040503050406030204" pitchFamily="18" charset="0"/>
                          </a:rPr>
                          <m:t>𝑀</m:t>
                        </m:r>
                      </m:e>
                    </m:d>
                  </m:oMath>
                </a14:m>
                <a:r>
                  <a:rPr lang="en-US" dirty="0"/>
                  <a:t> (where </a:t>
                </a:r>
                <a14:m>
                  <m:oMath xmlns:m="http://schemas.openxmlformats.org/officeDocument/2006/math">
                    <m:r>
                      <a:rPr lang="en-US" b="0" i="1" smtClean="0">
                        <a:latin typeface="Cambria Math" panose="02040503050406030204" pitchFamily="18" charset="0"/>
                      </a:rPr>
                      <m:t>𝑁</m:t>
                    </m:r>
                  </m:oMath>
                </a14:m>
                <a:r>
                  <a:rPr lang="en-US" dirty="0"/>
                  <a:t> is the number of voxels and </a:t>
                </a:r>
                <a14:m>
                  <m:oMath xmlns:m="http://schemas.openxmlformats.org/officeDocument/2006/math">
                    <m:r>
                      <a:rPr lang="en-US" b="0" i="1" smtClean="0">
                        <a:latin typeface="Cambria Math" panose="02040503050406030204" pitchFamily="18" charset="0"/>
                      </a:rPr>
                      <m:t>𝑀</m:t>
                    </m:r>
                  </m:oMath>
                </a14:m>
                <a:r>
                  <a:rPr lang="en-US" dirty="0"/>
                  <a:t> is the number of partitions). It is unclear to me how that would provide any advantage over standard FFT schemes. The constant polarization scheme, however, achieves </a:t>
                </a:r>
                <a14:m>
                  <m:oMath xmlns:m="http://schemas.openxmlformats.org/officeDocument/2006/math">
                    <m:r>
                      <a:rPr lang="en-US" i="1">
                        <a:latin typeface="Cambria Math" panose="02040503050406030204" pitchFamily="18" charset="0"/>
                      </a:rPr>
                      <m:t>𝑂</m:t>
                    </m:r>
                    <m:d>
                      <m:dPr>
                        <m:ctrlPr>
                          <a:rPr lang="en-US" i="1">
                            <a:latin typeface="Cambria Math" panose="02040503050406030204" pitchFamily="18" charset="0"/>
                          </a:rPr>
                        </m:ctrlPr>
                      </m:dPr>
                      <m:e>
                        <m:r>
                          <a:rPr lang="en-US" i="1">
                            <a:latin typeface="Cambria Math" panose="02040503050406030204" pitchFamily="18" charset="0"/>
                          </a:rPr>
                          <m:t>𝑀𝑙𝑜𝑔𝑀</m:t>
                        </m:r>
                      </m:e>
                    </m:d>
                  </m:oMath>
                </a14:m>
                <a:r>
                  <a:rPr lang="en-US" dirty="0"/>
                  <a:t>. </a:t>
                </a:r>
              </a:p>
              <a:p>
                <a:pPr algn="just"/>
                <a:endParaRPr lang="en-US" dirty="0"/>
              </a:p>
              <a:p>
                <a:pPr algn="just"/>
                <a:r>
                  <a:rPr lang="en-US" dirty="0"/>
                  <a:t>Many of the ideas in this derivation have been employed before (namely, constant polarization FFT schemes).  However, although I’m still reading many papers and familiarizing myself with what’s out there, I can at least confidently say that I haven’t encountered this full derivation anywhere. I also haven’t seen the constant polarization scheme expressed in terms of TFA operators anywhere either. I am still learning though, and I will keep reading other related papers !  </a:t>
                </a:r>
              </a:p>
            </p:txBody>
          </p:sp>
        </mc:Choice>
        <mc:Fallback xmlns="">
          <p:sp>
            <p:nvSpPr>
              <p:cNvPr id="3" name="Content Placeholder 2">
                <a:extLst>
                  <a:ext uri="{FF2B5EF4-FFF2-40B4-BE49-F238E27FC236}">
                    <a16:creationId xmlns:a16="http://schemas.microsoft.com/office/drawing/2014/main" id="{11076B4A-C985-7F89-6ADF-ABF1913E31E0}"/>
                  </a:ext>
                </a:extLst>
              </p:cNvPr>
              <p:cNvSpPr>
                <a:spLocks noGrp="1" noRot="1" noChangeAspect="1" noMove="1" noResize="1" noEditPoints="1" noAdjustHandles="1" noChangeArrowheads="1" noChangeShapeType="1" noTextEdit="1"/>
              </p:cNvSpPr>
              <p:nvPr>
                <p:ph idx="1"/>
              </p:nvPr>
            </p:nvSpPr>
            <p:spPr>
              <a:xfrm>
                <a:off x="666750" y="1690687"/>
                <a:ext cx="10858500" cy="4489619"/>
              </a:xfrm>
              <a:blipFill>
                <a:blip r:embed="rId2"/>
                <a:stretch>
                  <a:fillRect l="-617" t="-2578" r="-673" b="-271"/>
                </a:stretch>
              </a:blipFill>
            </p:spPr>
            <p:txBody>
              <a:bodyPr/>
              <a:lstStyle/>
              <a:p>
                <a:r>
                  <a:rPr lang="en-US">
                    <a:noFill/>
                  </a:rPr>
                  <a:t> </a:t>
                </a:r>
              </a:p>
            </p:txBody>
          </p:sp>
        </mc:Fallback>
      </mc:AlternateContent>
    </p:spTree>
    <p:extLst>
      <p:ext uri="{BB962C8B-B14F-4D97-AF65-F5344CB8AC3E}">
        <p14:creationId xmlns:p14="http://schemas.microsoft.com/office/powerpoint/2010/main" val="2119424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59AE6-4E39-CB5E-4A55-D624C5EF24D7}"/>
              </a:ext>
            </a:extLst>
          </p:cNvPr>
          <p:cNvSpPr>
            <a:spLocks noGrp="1"/>
          </p:cNvSpPr>
          <p:nvPr>
            <p:ph type="title"/>
          </p:nvPr>
        </p:nvSpPr>
        <p:spPr>
          <a:xfrm>
            <a:off x="320040" y="267652"/>
            <a:ext cx="10515600" cy="1325563"/>
          </a:xfrm>
        </p:spPr>
        <p:txBody>
          <a:bodyPr/>
          <a:lstStyle/>
          <a:p>
            <a:r>
              <a:rPr lang="en-US" b="1" dirty="0"/>
              <a:t>Part 3: </a:t>
            </a:r>
            <a:r>
              <a:rPr lang="en-US" dirty="0"/>
              <a:t>Results - Problem Setting</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25B3E1EA-225A-7C5B-AB13-1F5AE5535D7F}"/>
                  </a:ext>
                </a:extLst>
              </p:cNvPr>
              <p:cNvSpPr>
                <a:spLocks noGrp="1"/>
              </p:cNvSpPr>
              <p:nvPr>
                <p:ph idx="1"/>
              </p:nvPr>
            </p:nvSpPr>
            <p:spPr>
              <a:xfrm>
                <a:off x="320040" y="1674496"/>
                <a:ext cx="6088380" cy="4839652"/>
              </a:xfrm>
            </p:spPr>
            <p:txBody>
              <a:bodyPr>
                <a:normAutofit/>
              </a:bodyPr>
              <a:lstStyle/>
              <a:p>
                <a:pPr marL="0" indent="0" algn="just">
                  <a:buNone/>
                </a:pPr>
                <a:r>
                  <a:rPr lang="en-US" sz="2400" dirty="0"/>
                  <a:t>This problem setting aligns the material interfaces perfectly with both the voxels and partitions. It’s an easy toy problem to test out the framework.  </a:t>
                </a:r>
              </a:p>
              <a:p>
                <a:pPr marL="0" indent="0" algn="just">
                  <a:buNone/>
                </a:pPr>
                <a:endParaRPr lang="en-US" sz="2400" b="1" dirty="0"/>
              </a:p>
              <a:p>
                <a:pPr marL="0" indent="0" algn="just">
                  <a:buNone/>
                </a:pPr>
                <a:r>
                  <a:rPr lang="en-US" sz="2400" dirty="0"/>
                  <a:t>I still apply the same loading conditions as the first example from the EBH paper. </a:t>
                </a:r>
              </a:p>
              <a:p>
                <a:pPr marL="0" indent="0" algn="just">
                  <a:buNone/>
                </a:pPr>
                <a:endParaRPr lang="en-US" sz="2400" dirty="0"/>
              </a:p>
              <a:p>
                <a:pPr marL="0" indent="0" algn="just">
                  <a:buNone/>
                </a:pPr>
                <a14:m>
                  <m:oMath xmlns:m="http://schemas.openxmlformats.org/officeDocument/2006/math">
                    <m:r>
                      <a:rPr lang="en-US" sz="2400" i="1">
                        <a:latin typeface="Cambria Math" panose="02040503050406030204" pitchFamily="18" charset="0"/>
                      </a:rPr>
                      <m:t>64×64×3</m:t>
                    </m:r>
                  </m:oMath>
                </a14:m>
                <a:r>
                  <a:rPr lang="en-US" sz="2400" dirty="0"/>
                  <a:t> elements</a:t>
                </a:r>
              </a:p>
              <a:p>
                <a:pPr marL="0" indent="0" algn="just">
                  <a:buNone/>
                </a:pPr>
                <a14:m>
                  <m:oMath xmlns:m="http://schemas.openxmlformats.org/officeDocument/2006/math">
                    <m:r>
                      <a:rPr lang="en-US" sz="2400" i="1">
                        <a:latin typeface="Cambria Math" panose="02040503050406030204" pitchFamily="18" charset="0"/>
                      </a:rPr>
                      <m:t>32×32×1</m:t>
                    </m:r>
                  </m:oMath>
                </a14:m>
                <a:r>
                  <a:rPr lang="en-US" sz="2400" dirty="0"/>
                  <a:t> partitions</a:t>
                </a:r>
              </a:p>
              <a:p>
                <a:pPr marL="0" indent="0" algn="just">
                  <a:buNone/>
                </a:pPr>
                <a:endParaRPr lang="en-US" sz="2400" dirty="0"/>
              </a:p>
            </p:txBody>
          </p:sp>
        </mc:Choice>
        <mc:Fallback xmlns="">
          <p:sp>
            <p:nvSpPr>
              <p:cNvPr id="4" name="Content Placeholder 2">
                <a:extLst>
                  <a:ext uri="{FF2B5EF4-FFF2-40B4-BE49-F238E27FC236}">
                    <a16:creationId xmlns:a16="http://schemas.microsoft.com/office/drawing/2014/main" id="{25B3E1EA-225A-7C5B-AB13-1F5AE5535D7F}"/>
                  </a:ext>
                </a:extLst>
              </p:cNvPr>
              <p:cNvSpPr>
                <a:spLocks noGrp="1" noRot="1" noChangeAspect="1" noMove="1" noResize="1" noEditPoints="1" noAdjustHandles="1" noChangeArrowheads="1" noChangeShapeType="1" noTextEdit="1"/>
              </p:cNvSpPr>
              <p:nvPr>
                <p:ph idx="1"/>
              </p:nvPr>
            </p:nvSpPr>
            <p:spPr>
              <a:xfrm>
                <a:off x="320040" y="1674496"/>
                <a:ext cx="6088380" cy="4839652"/>
              </a:xfrm>
              <a:blipFill>
                <a:blip r:embed="rId2"/>
                <a:stretch>
                  <a:fillRect l="-1603" t="-1637" r="-160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999FC874-0442-09EE-4D87-8404AC81C51D}"/>
              </a:ext>
            </a:extLst>
          </p:cNvPr>
          <p:cNvPicPr>
            <a:picLocks noChangeAspect="1"/>
          </p:cNvPicPr>
          <p:nvPr/>
        </p:nvPicPr>
        <p:blipFill>
          <a:blip r:embed="rId3"/>
          <a:stretch>
            <a:fillRect/>
          </a:stretch>
        </p:blipFill>
        <p:spPr>
          <a:xfrm>
            <a:off x="6835140" y="1674496"/>
            <a:ext cx="4748212" cy="4748212"/>
          </a:xfrm>
          <a:prstGeom prst="rect">
            <a:avLst/>
          </a:prstGeom>
        </p:spPr>
      </p:pic>
    </p:spTree>
    <p:extLst>
      <p:ext uri="{BB962C8B-B14F-4D97-AF65-F5344CB8AC3E}">
        <p14:creationId xmlns:p14="http://schemas.microsoft.com/office/powerpoint/2010/main" val="1274671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B4CC9B-3666-4615-C7D4-7ABE74149147}"/>
              </a:ext>
            </a:extLst>
          </p:cNvPr>
          <p:cNvSpPr>
            <a:spLocks noGrp="1"/>
          </p:cNvSpPr>
          <p:nvPr>
            <p:ph type="title"/>
          </p:nvPr>
        </p:nvSpPr>
        <p:spPr>
          <a:xfrm>
            <a:off x="281940" y="273685"/>
            <a:ext cx="10515600" cy="1325563"/>
          </a:xfrm>
        </p:spPr>
        <p:txBody>
          <a:bodyPr/>
          <a:lstStyle/>
          <a:p>
            <a:r>
              <a:rPr lang="en-US" dirty="0"/>
              <a:t>Results - Stress Contour</a:t>
            </a:r>
          </a:p>
        </p:txBody>
      </p:sp>
      <p:pic>
        <p:nvPicPr>
          <p:cNvPr id="5" name="Picture 4">
            <a:extLst>
              <a:ext uri="{FF2B5EF4-FFF2-40B4-BE49-F238E27FC236}">
                <a16:creationId xmlns:a16="http://schemas.microsoft.com/office/drawing/2014/main" id="{81E5AA81-3139-C968-4370-4B837396269C}"/>
              </a:ext>
            </a:extLst>
          </p:cNvPr>
          <p:cNvPicPr>
            <a:picLocks noChangeAspect="1"/>
          </p:cNvPicPr>
          <p:nvPr/>
        </p:nvPicPr>
        <p:blipFill>
          <a:blip r:embed="rId2"/>
          <a:stretch>
            <a:fillRect/>
          </a:stretch>
        </p:blipFill>
        <p:spPr>
          <a:xfrm>
            <a:off x="64770" y="1484948"/>
            <a:ext cx="12062460" cy="2814574"/>
          </a:xfrm>
          <a:prstGeom prst="rect">
            <a:avLst/>
          </a:prstGeom>
        </p:spPr>
      </p:pic>
      <p:sp>
        <p:nvSpPr>
          <p:cNvPr id="9" name="TextBox 8">
            <a:extLst>
              <a:ext uri="{FF2B5EF4-FFF2-40B4-BE49-F238E27FC236}">
                <a16:creationId xmlns:a16="http://schemas.microsoft.com/office/drawing/2014/main" id="{F8CF8321-07E2-8C96-CDAD-1C850D65787E}"/>
              </a:ext>
            </a:extLst>
          </p:cNvPr>
          <p:cNvSpPr txBox="1"/>
          <p:nvPr/>
        </p:nvSpPr>
        <p:spPr>
          <a:xfrm>
            <a:off x="373380" y="4366260"/>
            <a:ext cx="2430780" cy="646331"/>
          </a:xfrm>
          <a:prstGeom prst="rect">
            <a:avLst/>
          </a:prstGeom>
          <a:noFill/>
        </p:spPr>
        <p:txBody>
          <a:bodyPr wrap="square" rtlCol="0">
            <a:spAutoFit/>
          </a:bodyPr>
          <a:lstStyle/>
          <a:p>
            <a:pPr algn="just"/>
            <a:r>
              <a:rPr lang="en-US" dirty="0"/>
              <a:t>Basic FFT solver on the fine grid. </a:t>
            </a:r>
          </a:p>
        </p:txBody>
      </p:sp>
      <p:sp>
        <p:nvSpPr>
          <p:cNvPr id="11" name="TextBox 10">
            <a:extLst>
              <a:ext uri="{FF2B5EF4-FFF2-40B4-BE49-F238E27FC236}">
                <a16:creationId xmlns:a16="http://schemas.microsoft.com/office/drawing/2014/main" id="{DAB09368-C467-37B4-972F-923C294FB20E}"/>
              </a:ext>
            </a:extLst>
          </p:cNvPr>
          <p:cNvSpPr txBox="1"/>
          <p:nvPr/>
        </p:nvSpPr>
        <p:spPr>
          <a:xfrm>
            <a:off x="3108960" y="4366260"/>
            <a:ext cx="2491740" cy="646331"/>
          </a:xfrm>
          <a:prstGeom prst="rect">
            <a:avLst/>
          </a:prstGeom>
          <a:noFill/>
        </p:spPr>
        <p:txBody>
          <a:bodyPr wrap="square" rtlCol="0">
            <a:spAutoFit/>
          </a:bodyPr>
          <a:lstStyle/>
          <a:p>
            <a:pPr algn="just"/>
            <a:r>
              <a:rPr lang="en-US" dirty="0"/>
              <a:t>The proposed constant polarization scheme. </a:t>
            </a:r>
          </a:p>
        </p:txBody>
      </p:sp>
      <p:sp>
        <p:nvSpPr>
          <p:cNvPr id="13" name="TextBox 12">
            <a:extLst>
              <a:ext uri="{FF2B5EF4-FFF2-40B4-BE49-F238E27FC236}">
                <a16:creationId xmlns:a16="http://schemas.microsoft.com/office/drawing/2014/main" id="{FD93471E-A418-B9CB-691D-F9C4F2E2B3D7}"/>
              </a:ext>
            </a:extLst>
          </p:cNvPr>
          <p:cNvSpPr txBox="1"/>
          <p:nvPr/>
        </p:nvSpPr>
        <p:spPr>
          <a:xfrm>
            <a:off x="5905500" y="4366260"/>
            <a:ext cx="2430780" cy="646331"/>
          </a:xfrm>
          <a:prstGeom prst="rect">
            <a:avLst/>
          </a:prstGeom>
          <a:noFill/>
        </p:spPr>
        <p:txBody>
          <a:bodyPr wrap="square" rtlCol="0">
            <a:spAutoFit/>
          </a:bodyPr>
          <a:lstStyle/>
          <a:p>
            <a:pPr algn="just"/>
            <a:r>
              <a:rPr lang="en-US" dirty="0"/>
              <a:t>Basic FFT solver on the coarse grid. </a:t>
            </a:r>
          </a:p>
        </p:txBody>
      </p:sp>
      <p:sp>
        <p:nvSpPr>
          <p:cNvPr id="15" name="TextBox 14">
            <a:extLst>
              <a:ext uri="{FF2B5EF4-FFF2-40B4-BE49-F238E27FC236}">
                <a16:creationId xmlns:a16="http://schemas.microsoft.com/office/drawing/2014/main" id="{88667F2E-326F-F845-EF13-BEC080A8910B}"/>
              </a:ext>
            </a:extLst>
          </p:cNvPr>
          <p:cNvSpPr txBox="1"/>
          <p:nvPr/>
        </p:nvSpPr>
        <p:spPr>
          <a:xfrm>
            <a:off x="8641080" y="4366260"/>
            <a:ext cx="2430780" cy="369332"/>
          </a:xfrm>
          <a:prstGeom prst="rect">
            <a:avLst/>
          </a:prstGeom>
          <a:noFill/>
        </p:spPr>
        <p:txBody>
          <a:bodyPr wrap="square" rtlCol="0">
            <a:spAutoFit/>
          </a:bodyPr>
          <a:lstStyle/>
          <a:p>
            <a:pPr algn="just"/>
            <a:r>
              <a:rPr lang="en-US" dirty="0"/>
              <a:t>Standard TFA scheme. </a:t>
            </a:r>
          </a:p>
        </p:txBody>
      </p:sp>
      <p:sp>
        <p:nvSpPr>
          <p:cNvPr id="16" name="Content Placeholder 2">
            <a:extLst>
              <a:ext uri="{FF2B5EF4-FFF2-40B4-BE49-F238E27FC236}">
                <a16:creationId xmlns:a16="http://schemas.microsoft.com/office/drawing/2014/main" id="{5A3A5030-E548-4C6F-2AB1-A84B346FC9F7}"/>
              </a:ext>
            </a:extLst>
          </p:cNvPr>
          <p:cNvSpPr>
            <a:spLocks noGrp="1"/>
          </p:cNvSpPr>
          <p:nvPr>
            <p:ph idx="1"/>
          </p:nvPr>
        </p:nvSpPr>
        <p:spPr>
          <a:xfrm>
            <a:off x="373380" y="5510785"/>
            <a:ext cx="11308080" cy="1073530"/>
          </a:xfrm>
        </p:spPr>
        <p:txBody>
          <a:bodyPr>
            <a:normAutofit lnSpcReduction="10000"/>
          </a:bodyPr>
          <a:lstStyle/>
          <a:p>
            <a:pPr marL="0" indent="0" algn="just">
              <a:buNone/>
            </a:pPr>
            <a:r>
              <a:rPr lang="en-US" sz="2400" dirty="0"/>
              <a:t>I compare with the basic FFT schemes. They are known for strong ringing near the material interfaces. There are more complex schemes that improve this, I just haven’t implemented them.  </a:t>
            </a:r>
          </a:p>
        </p:txBody>
      </p:sp>
    </p:spTree>
    <p:extLst>
      <p:ext uri="{BB962C8B-B14F-4D97-AF65-F5344CB8AC3E}">
        <p14:creationId xmlns:p14="http://schemas.microsoft.com/office/powerpoint/2010/main" val="40419084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6F382-4CFA-D63D-4BC8-2216C4BAD3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5E1A1-09C5-7C98-C15C-E39E54F3BD7C}"/>
              </a:ext>
            </a:extLst>
          </p:cNvPr>
          <p:cNvSpPr>
            <a:spLocks noGrp="1"/>
          </p:cNvSpPr>
          <p:nvPr>
            <p:ph type="title"/>
          </p:nvPr>
        </p:nvSpPr>
        <p:spPr>
          <a:xfrm>
            <a:off x="281940" y="273685"/>
            <a:ext cx="10515600" cy="1325563"/>
          </a:xfrm>
        </p:spPr>
        <p:txBody>
          <a:bodyPr/>
          <a:lstStyle/>
          <a:p>
            <a:r>
              <a:rPr lang="en-US" dirty="0"/>
              <a:t>Results - Stress-Strain Curve</a:t>
            </a:r>
          </a:p>
        </p:txBody>
      </p:sp>
      <p:pic>
        <p:nvPicPr>
          <p:cNvPr id="7" name="Picture 6">
            <a:extLst>
              <a:ext uri="{FF2B5EF4-FFF2-40B4-BE49-F238E27FC236}">
                <a16:creationId xmlns:a16="http://schemas.microsoft.com/office/drawing/2014/main" id="{B324BD4B-37D8-B5ED-FA58-3A28E6C50004}"/>
              </a:ext>
            </a:extLst>
          </p:cNvPr>
          <p:cNvPicPr>
            <a:picLocks noChangeAspect="1"/>
          </p:cNvPicPr>
          <p:nvPr/>
        </p:nvPicPr>
        <p:blipFill>
          <a:blip r:embed="rId2"/>
          <a:stretch>
            <a:fillRect/>
          </a:stretch>
        </p:blipFill>
        <p:spPr>
          <a:xfrm>
            <a:off x="647700" y="2007870"/>
            <a:ext cx="10896600" cy="3268980"/>
          </a:xfrm>
          <a:prstGeom prst="rect">
            <a:avLst/>
          </a:prstGeom>
        </p:spPr>
      </p:pic>
      <p:sp>
        <p:nvSpPr>
          <p:cNvPr id="8" name="Content Placeholder 2">
            <a:extLst>
              <a:ext uri="{FF2B5EF4-FFF2-40B4-BE49-F238E27FC236}">
                <a16:creationId xmlns:a16="http://schemas.microsoft.com/office/drawing/2014/main" id="{61CC83B2-9E71-47B0-3B10-57873CE38988}"/>
              </a:ext>
            </a:extLst>
          </p:cNvPr>
          <p:cNvSpPr>
            <a:spLocks noGrp="1"/>
          </p:cNvSpPr>
          <p:nvPr>
            <p:ph idx="1"/>
          </p:nvPr>
        </p:nvSpPr>
        <p:spPr>
          <a:xfrm>
            <a:off x="441960" y="5685472"/>
            <a:ext cx="11308080" cy="524828"/>
          </a:xfrm>
        </p:spPr>
        <p:txBody>
          <a:bodyPr>
            <a:normAutofit/>
          </a:bodyPr>
          <a:lstStyle/>
          <a:p>
            <a:pPr marL="0" indent="0" algn="just">
              <a:buNone/>
            </a:pPr>
            <a:r>
              <a:rPr lang="en-US" sz="2400" dirty="0"/>
              <a:t>They all seem to perform similarly. </a:t>
            </a:r>
          </a:p>
        </p:txBody>
      </p:sp>
    </p:spTree>
    <p:extLst>
      <p:ext uri="{BB962C8B-B14F-4D97-AF65-F5344CB8AC3E}">
        <p14:creationId xmlns:p14="http://schemas.microsoft.com/office/powerpoint/2010/main" val="31330447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06695-3821-4999-B262-FDB37CF1BD7C}"/>
              </a:ext>
            </a:extLst>
          </p:cNvPr>
          <p:cNvSpPr>
            <a:spLocks noGrp="1"/>
          </p:cNvSpPr>
          <p:nvPr>
            <p:ph type="title"/>
          </p:nvPr>
        </p:nvSpPr>
        <p:spPr>
          <a:xfrm>
            <a:off x="236220" y="339409"/>
            <a:ext cx="10515600" cy="1325563"/>
          </a:xfrm>
        </p:spPr>
        <p:txBody>
          <a:bodyPr/>
          <a:lstStyle/>
          <a:p>
            <a:r>
              <a:rPr lang="en-US" dirty="0"/>
              <a:t>Results - Timing Comparison</a:t>
            </a:r>
          </a:p>
        </p:txBody>
      </p:sp>
      <p:sp>
        <p:nvSpPr>
          <p:cNvPr id="4" name="Content Placeholder 2">
            <a:extLst>
              <a:ext uri="{FF2B5EF4-FFF2-40B4-BE49-F238E27FC236}">
                <a16:creationId xmlns:a16="http://schemas.microsoft.com/office/drawing/2014/main" id="{71B24AB6-F75B-ED77-D4BF-C7A737091F6E}"/>
              </a:ext>
            </a:extLst>
          </p:cNvPr>
          <p:cNvSpPr>
            <a:spLocks noGrp="1"/>
          </p:cNvSpPr>
          <p:nvPr>
            <p:ph idx="1"/>
          </p:nvPr>
        </p:nvSpPr>
        <p:spPr>
          <a:xfrm>
            <a:off x="236220" y="1674496"/>
            <a:ext cx="11574780" cy="862964"/>
          </a:xfrm>
        </p:spPr>
        <p:txBody>
          <a:bodyPr>
            <a:normAutofit/>
          </a:bodyPr>
          <a:lstStyle/>
          <a:p>
            <a:pPr marL="0" indent="0" algn="just">
              <a:buNone/>
            </a:pPr>
            <a:r>
              <a:rPr lang="en-US" dirty="0"/>
              <a:t>I calculated the average online time of 5 runs for each scheme. The results are as follows:</a:t>
            </a:r>
          </a:p>
          <a:p>
            <a:pPr marL="0" indent="0" algn="just">
              <a:buNone/>
            </a:pPr>
            <a:endParaRPr lang="en-US" dirty="0"/>
          </a:p>
          <a:p>
            <a:pPr marL="0" indent="0" algn="just">
              <a:buNone/>
            </a:pPr>
            <a:endParaRPr lang="en-US" dirty="0"/>
          </a:p>
        </p:txBody>
      </p:sp>
      <p:grpSp>
        <p:nvGrpSpPr>
          <p:cNvPr id="9" name="Group 8">
            <a:extLst>
              <a:ext uri="{FF2B5EF4-FFF2-40B4-BE49-F238E27FC236}">
                <a16:creationId xmlns:a16="http://schemas.microsoft.com/office/drawing/2014/main" id="{679255A5-A544-3EB6-7CAE-3F9AAAA80CCC}"/>
              </a:ext>
            </a:extLst>
          </p:cNvPr>
          <p:cNvGrpSpPr/>
          <p:nvPr/>
        </p:nvGrpSpPr>
        <p:grpSpPr>
          <a:xfrm>
            <a:off x="3108007" y="2644170"/>
            <a:ext cx="5975985" cy="1569660"/>
            <a:chOff x="1819275" y="2819430"/>
            <a:chExt cx="5975985" cy="1569660"/>
          </a:xfrm>
        </p:grpSpPr>
        <p:sp>
          <p:nvSpPr>
            <p:cNvPr id="6" name="TextBox 5">
              <a:extLst>
                <a:ext uri="{FF2B5EF4-FFF2-40B4-BE49-F238E27FC236}">
                  <a16:creationId xmlns:a16="http://schemas.microsoft.com/office/drawing/2014/main" id="{6CC8CDC8-FAEF-3810-001C-2265510562BF}"/>
                </a:ext>
              </a:extLst>
            </p:cNvPr>
            <p:cNvSpPr txBox="1"/>
            <p:nvPr/>
          </p:nvSpPr>
          <p:spPr>
            <a:xfrm>
              <a:off x="1819275" y="2819430"/>
              <a:ext cx="4398645" cy="1569660"/>
            </a:xfrm>
            <a:prstGeom prst="rect">
              <a:avLst/>
            </a:prstGeom>
            <a:noFill/>
          </p:spPr>
          <p:txBody>
            <a:bodyPr wrap="square">
              <a:spAutoFit/>
            </a:bodyPr>
            <a:lstStyle/>
            <a:p>
              <a:pPr marL="0" indent="0">
                <a:buNone/>
              </a:pPr>
              <a:r>
                <a:rPr lang="en-US" sz="2400" dirty="0"/>
                <a:t>Fine grid FFT:</a:t>
              </a:r>
            </a:p>
            <a:p>
              <a:pPr marL="0" indent="0">
                <a:buNone/>
              </a:pPr>
              <a:r>
                <a:rPr lang="en-US" sz="2400" dirty="0"/>
                <a:t>Coarse grid FFT:</a:t>
              </a:r>
            </a:p>
            <a:p>
              <a:pPr marL="0" indent="0">
                <a:buNone/>
              </a:pPr>
              <a:r>
                <a:rPr lang="en-US" sz="2400" dirty="0">
                  <a:solidFill>
                    <a:srgbClr val="FF0000"/>
                  </a:solidFill>
                </a:rPr>
                <a:t>Proposed constant polarization: </a:t>
              </a:r>
            </a:p>
            <a:p>
              <a:pPr marL="0" indent="0">
                <a:buNone/>
              </a:pPr>
              <a:r>
                <a:rPr lang="en-US" sz="2400" dirty="0"/>
                <a:t>TFA:</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73C89C2-47C4-BE15-D28B-96F3B7401789}"/>
                    </a:ext>
                  </a:extLst>
                </p:cNvPr>
                <p:cNvSpPr txBox="1"/>
                <p:nvPr/>
              </p:nvSpPr>
              <p:spPr>
                <a:xfrm>
                  <a:off x="6475095" y="2819430"/>
                  <a:ext cx="1320165" cy="1569660"/>
                </a:xfrm>
                <a:prstGeom prst="rect">
                  <a:avLst/>
                </a:prstGeom>
                <a:noFill/>
              </p:spPr>
              <p:txBody>
                <a:bodyPr wrap="square">
                  <a:spAutoFit/>
                </a:bodyPr>
                <a:lstStyle/>
                <a:p>
                  <a:pPr marL="0" indent="0">
                    <a:buNone/>
                  </a:pPr>
                  <a14:m>
                    <m:oMathPara xmlns:m="http://schemas.openxmlformats.org/officeDocument/2006/math">
                      <m:oMathParaPr>
                        <m:jc m:val="left"/>
                      </m:oMathParaPr>
                      <m:oMath>
                        <m:r>
                          <a:rPr lang="en-US" sz="2400" b="0" i="1" smtClean="0">
                            <a:latin typeface="Cambria Math" panose="02040503050406030204" pitchFamily="18" charset="0"/>
                          </a:rPr>
                          <m:t>29.40 </m:t>
                        </m:r>
                        <m:r>
                          <a:rPr lang="en-US" sz="2400" b="0" i="1" smtClean="0">
                            <a:latin typeface="Cambria Math" panose="02040503050406030204" pitchFamily="18" charset="0"/>
                          </a:rPr>
                          <m:t>𝑠</m:t>
                        </m:r>
                      </m:oMath>
                    </m:oMathPara>
                  </a14:m>
                  <a:endParaRPr lang="en-US" sz="2400" dirty="0"/>
                </a:p>
                <a:p>
                  <a:pPr marL="0" indent="0">
                    <a:buNone/>
                  </a:pPr>
                  <a14:m>
                    <m:oMathPara xmlns:m="http://schemas.openxmlformats.org/officeDocument/2006/math">
                      <m:oMathParaPr>
                        <m:jc m:val="left"/>
                      </m:oMathParaPr>
                      <m:oMath>
                        <m:r>
                          <a:rPr lang="en-US" sz="2400" b="0" i="1" smtClean="0">
                            <a:latin typeface="Cambria Math" panose="02040503050406030204" pitchFamily="18" charset="0"/>
                          </a:rPr>
                          <m:t>6.35 </m:t>
                        </m:r>
                        <m:r>
                          <a:rPr lang="en-US" sz="2400" b="0" i="1" smtClean="0">
                            <a:latin typeface="Cambria Math" panose="02040503050406030204" pitchFamily="18" charset="0"/>
                          </a:rPr>
                          <m:t>𝑠</m:t>
                        </m:r>
                      </m:oMath>
                    </m:oMathPara>
                  </a14:m>
                  <a:endParaRPr lang="en-US" sz="2400" dirty="0"/>
                </a:p>
                <a:p>
                  <a:pPr marL="0" indent="0">
                    <a:buNone/>
                  </a:pPr>
                  <a14:m>
                    <m:oMathPara xmlns:m="http://schemas.openxmlformats.org/officeDocument/2006/math">
                      <m:oMathParaPr>
                        <m:jc m:val="left"/>
                      </m:oMathParaPr>
                      <m:oMath>
                        <m:r>
                          <a:rPr lang="en-US" sz="2400" b="0" i="1" smtClean="0">
                            <a:solidFill>
                              <a:srgbClr val="FF0000"/>
                            </a:solidFill>
                            <a:latin typeface="Cambria Math" panose="02040503050406030204" pitchFamily="18" charset="0"/>
                          </a:rPr>
                          <m:t>5.86 </m:t>
                        </m:r>
                        <m:r>
                          <a:rPr lang="en-US" sz="2400" b="0" i="1" smtClean="0">
                            <a:solidFill>
                              <a:srgbClr val="FF0000"/>
                            </a:solidFill>
                            <a:latin typeface="Cambria Math" panose="02040503050406030204" pitchFamily="18" charset="0"/>
                          </a:rPr>
                          <m:t>𝑠</m:t>
                        </m:r>
                      </m:oMath>
                    </m:oMathPara>
                  </a14:m>
                  <a:endParaRPr lang="en-US" sz="2400" dirty="0">
                    <a:solidFill>
                      <a:srgbClr val="FF0000"/>
                    </a:solidFill>
                  </a:endParaRPr>
                </a:p>
                <a:p>
                  <a:pPr marL="0" indent="0">
                    <a:buNone/>
                  </a:pPr>
                  <a14:m>
                    <m:oMathPara xmlns:m="http://schemas.openxmlformats.org/officeDocument/2006/math">
                      <m:oMathParaPr>
                        <m:jc m:val="left"/>
                      </m:oMathParaPr>
                      <m:oMath>
                        <m:r>
                          <a:rPr lang="en-US" sz="2400" b="0" i="1" smtClean="0">
                            <a:latin typeface="Cambria Math" panose="02040503050406030204" pitchFamily="18" charset="0"/>
                          </a:rPr>
                          <m:t>9.93 </m:t>
                        </m:r>
                        <m:r>
                          <a:rPr lang="en-US" sz="2400" b="0" i="1" smtClean="0">
                            <a:latin typeface="Cambria Math" panose="02040503050406030204" pitchFamily="18" charset="0"/>
                          </a:rPr>
                          <m:t>𝑠</m:t>
                        </m:r>
                      </m:oMath>
                    </m:oMathPara>
                  </a14:m>
                  <a:endParaRPr lang="en-US" sz="2400" dirty="0"/>
                </a:p>
              </p:txBody>
            </p:sp>
          </mc:Choice>
          <mc:Fallback xmlns="">
            <p:sp>
              <p:nvSpPr>
                <p:cNvPr id="8" name="TextBox 7">
                  <a:extLst>
                    <a:ext uri="{FF2B5EF4-FFF2-40B4-BE49-F238E27FC236}">
                      <a16:creationId xmlns:a16="http://schemas.microsoft.com/office/drawing/2014/main" id="{D73C89C2-47C4-BE15-D28B-96F3B7401789}"/>
                    </a:ext>
                  </a:extLst>
                </p:cNvPr>
                <p:cNvSpPr txBox="1">
                  <a:spLocks noRot="1" noChangeAspect="1" noMove="1" noResize="1" noEditPoints="1" noAdjustHandles="1" noChangeArrowheads="1" noChangeShapeType="1" noTextEdit="1"/>
                </p:cNvSpPr>
                <p:nvPr/>
              </p:nvSpPr>
              <p:spPr>
                <a:xfrm>
                  <a:off x="6475095" y="2819430"/>
                  <a:ext cx="1320165" cy="1569660"/>
                </a:xfrm>
                <a:prstGeom prst="rect">
                  <a:avLst/>
                </a:prstGeom>
                <a:blipFill>
                  <a:blip r:embed="rId2"/>
                  <a:stretch>
                    <a:fillRect l="-1852"/>
                  </a:stretch>
                </a:blipFill>
              </p:spPr>
              <p:txBody>
                <a:bodyPr/>
                <a:lstStyle/>
                <a:p>
                  <a:r>
                    <a:rPr lang="en-US">
                      <a:noFill/>
                    </a:rPr>
                    <a:t> </a:t>
                  </a:r>
                </a:p>
              </p:txBody>
            </p:sp>
          </mc:Fallback>
        </mc:AlternateContent>
      </p:grpSp>
      <p:sp>
        <p:nvSpPr>
          <p:cNvPr id="10" name="Content Placeholder 2">
            <a:extLst>
              <a:ext uri="{FF2B5EF4-FFF2-40B4-BE49-F238E27FC236}">
                <a16:creationId xmlns:a16="http://schemas.microsoft.com/office/drawing/2014/main" id="{23B194E2-2F06-6892-01D8-8C1BE3B4D672}"/>
              </a:ext>
            </a:extLst>
          </p:cNvPr>
          <p:cNvSpPr txBox="1">
            <a:spLocks/>
          </p:cNvSpPr>
          <p:nvPr/>
        </p:nvSpPr>
        <p:spPr>
          <a:xfrm>
            <a:off x="236220" y="4480606"/>
            <a:ext cx="11574780" cy="862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The constant polarization scheme is the fastest. The gains vs. TFA and the fine grid FFT solver only improve as the number of partitions increases.  </a:t>
            </a:r>
          </a:p>
        </p:txBody>
      </p:sp>
      <p:sp>
        <p:nvSpPr>
          <p:cNvPr id="12" name="Content Placeholder 2">
            <a:extLst>
              <a:ext uri="{FF2B5EF4-FFF2-40B4-BE49-F238E27FC236}">
                <a16:creationId xmlns:a16="http://schemas.microsoft.com/office/drawing/2014/main" id="{71FC8DB8-89E9-94ED-289E-E4492926EEA7}"/>
              </a:ext>
            </a:extLst>
          </p:cNvPr>
          <p:cNvSpPr txBox="1">
            <a:spLocks/>
          </p:cNvSpPr>
          <p:nvPr/>
        </p:nvSpPr>
        <p:spPr>
          <a:xfrm>
            <a:off x="236220" y="5610347"/>
            <a:ext cx="11574780" cy="8629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dirty="0"/>
              <a:t>Note: TFA performs the best, by far, for smaller partition counts. </a:t>
            </a:r>
          </a:p>
        </p:txBody>
      </p:sp>
    </p:spTree>
    <p:extLst>
      <p:ext uri="{BB962C8B-B14F-4D97-AF65-F5344CB8AC3E}">
        <p14:creationId xmlns:p14="http://schemas.microsoft.com/office/powerpoint/2010/main" val="33987187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34F0B-8C6D-4079-2889-3F42BDD6E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865F50-9F6D-DAF7-2C1E-AEECA885D079}"/>
              </a:ext>
            </a:extLst>
          </p:cNvPr>
          <p:cNvSpPr>
            <a:spLocks noGrp="1"/>
          </p:cNvSpPr>
          <p:nvPr>
            <p:ph type="title"/>
          </p:nvPr>
        </p:nvSpPr>
        <p:spPr>
          <a:xfrm>
            <a:off x="769620" y="0"/>
            <a:ext cx="10515600" cy="1325563"/>
          </a:xfrm>
        </p:spPr>
        <p:txBody>
          <a:bodyPr/>
          <a:lstStyle/>
          <a:p>
            <a:br>
              <a:rPr lang="en-US" dirty="0"/>
            </a:br>
            <a:r>
              <a:rPr lang="en-US" dirty="0"/>
              <a:t>Closing Thoughts / Going Forward</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F36586D-46F0-F3A4-BE1B-09EDA5E4432E}"/>
                  </a:ext>
                </a:extLst>
              </p:cNvPr>
              <p:cNvSpPr>
                <a:spLocks noGrp="1"/>
              </p:cNvSpPr>
              <p:nvPr>
                <p:ph idx="1"/>
              </p:nvPr>
            </p:nvSpPr>
            <p:spPr>
              <a:xfrm>
                <a:off x="769620" y="1657984"/>
                <a:ext cx="10622280" cy="4834255"/>
              </a:xfrm>
            </p:spPr>
            <p:txBody>
              <a:bodyPr>
                <a:normAutofit fontScale="92500" lnSpcReduction="10000"/>
              </a:bodyPr>
              <a:lstStyle/>
              <a:p>
                <a:pPr algn="just"/>
                <a:r>
                  <a:rPr lang="en-US" sz="2400" dirty="0"/>
                  <a:t>The constant polarization framework should theoretically work even when partitions contain multiple material states. This is important, because not all RVE geometries will conform well to the requirement of both uniform voxels and uniform partitions (where each partition is a uniform group of voxels). I want to try an example of this. </a:t>
                </a:r>
              </a:p>
              <a:p>
                <a:pPr algn="just"/>
                <a:endParaRPr lang="en-US" sz="2400" dirty="0"/>
              </a:p>
              <a:p>
                <a:pPr algn="just"/>
                <a:r>
                  <a:rPr lang="en-US" sz="2400" dirty="0"/>
                  <a:t>We solve the Lippmann-Schwinger version of the equations online to achieve FFT acceleration. There is no offline calculation. Therefore, the number of partitions in each RVE can be easily updated during the online simulation (assuming the above point regarding multiple material states per partition holds). Is it possible that we could think of an adaptive scheme where the derived TFA-like operators (</a:t>
                </a:r>
                <a14:m>
                  <m:oMath xmlns:m="http://schemas.openxmlformats.org/officeDocument/2006/math">
                    <m:sSubSup>
                      <m:sSubSupPr>
                        <m:ctrlPr>
                          <a:rPr lang="en-US" sz="2400" b="1" i="1">
                            <a:latin typeface="Cambria Math" panose="02040503050406030204" pitchFamily="18" charset="0"/>
                            <a:ea typeface="Cambria Math" panose="02040503050406030204" pitchFamily="18" charset="0"/>
                          </a:rPr>
                        </m:ctrlPr>
                      </m:sSubSupPr>
                      <m:e>
                        <m:r>
                          <a:rPr lang="en-US" sz="2400" b="1" i="1">
                            <a:latin typeface="Cambria Math" panose="02040503050406030204" pitchFamily="18" charset="0"/>
                            <a:ea typeface="Cambria Math" panose="02040503050406030204" pitchFamily="18" charset="0"/>
                          </a:rPr>
                          <m:t>𝑬</m:t>
                        </m:r>
                      </m:e>
                      <m:sub>
                        <m:r>
                          <a:rPr lang="en-US" sz="2400" i="1">
                            <a:latin typeface="Cambria Math" panose="02040503050406030204" pitchFamily="18" charset="0"/>
                            <a:ea typeface="Cambria Math" panose="02040503050406030204" pitchFamily="18" charset="0"/>
                          </a:rPr>
                          <m:t>𝐴</m:t>
                        </m:r>
                      </m:sub>
                      <m:sup>
                        <m:r>
                          <a:rPr lang="en-US" sz="2400" b="0" i="1" smtClean="0">
                            <a:latin typeface="Cambria Math" panose="02040503050406030204" pitchFamily="18" charset="0"/>
                            <a:ea typeface="Cambria Math" panose="02040503050406030204" pitchFamily="18" charset="0"/>
                          </a:rPr>
                          <m:t>𝐶𝑃</m:t>
                        </m:r>
                      </m:sup>
                    </m:sSubSup>
                  </m:oMath>
                </a14:m>
                <a:r>
                  <a:rPr lang="en-US" sz="2400" dirty="0"/>
                  <a:t> and </a:t>
                </a:r>
                <a14:m>
                  <m:oMath xmlns:m="http://schemas.openxmlformats.org/officeDocument/2006/math">
                    <m:sSubSup>
                      <m:sSubSupPr>
                        <m:ctrlPr>
                          <a:rPr lang="en-US" sz="2400" b="1" i="1" smtClean="0">
                            <a:latin typeface="Cambria Math" panose="02040503050406030204" pitchFamily="18" charset="0"/>
                            <a:ea typeface="Cambria Math" panose="02040503050406030204" pitchFamily="18" charset="0"/>
                          </a:rPr>
                        </m:ctrlPr>
                      </m:sSubSupPr>
                      <m:e>
                        <m:r>
                          <a:rPr lang="en-US" sz="2400" b="1" i="1" smtClean="0">
                            <a:latin typeface="Cambria Math" panose="02040503050406030204" pitchFamily="18" charset="0"/>
                            <a:ea typeface="Cambria Math" panose="02040503050406030204" pitchFamily="18" charset="0"/>
                          </a:rPr>
                          <m:t>𝑷</m:t>
                        </m:r>
                      </m:e>
                      <m:sub>
                        <m:r>
                          <a:rPr lang="en-US" sz="2400" i="1">
                            <a:latin typeface="Cambria Math" panose="02040503050406030204" pitchFamily="18" charset="0"/>
                            <a:ea typeface="Cambria Math" panose="02040503050406030204" pitchFamily="18" charset="0"/>
                          </a:rPr>
                          <m:t>𝐴</m:t>
                        </m:r>
                        <m:r>
                          <a:rPr lang="en-US" sz="2400" b="0" i="1" smtClean="0">
                            <a:latin typeface="Cambria Math" panose="02040503050406030204" pitchFamily="18" charset="0"/>
                            <a:ea typeface="Cambria Math" panose="02040503050406030204" pitchFamily="18" charset="0"/>
                          </a:rPr>
                          <m:t>𝐵</m:t>
                        </m:r>
                      </m:sub>
                      <m:sup>
                        <m:r>
                          <a:rPr lang="en-US" sz="2400" b="0" i="1" smtClean="0">
                            <a:latin typeface="Cambria Math" panose="02040503050406030204" pitchFamily="18" charset="0"/>
                            <a:ea typeface="Cambria Math" panose="02040503050406030204" pitchFamily="18" charset="0"/>
                          </a:rPr>
                          <m:t>𝐶𝑃</m:t>
                        </m:r>
                      </m:sup>
                    </m:sSubSup>
                  </m:oMath>
                </a14:m>
                <a:r>
                  <a:rPr lang="en-US" sz="2400" dirty="0"/>
                  <a:t>) are used for low partition counts, and the Lippmann-Schwinger equation is solved for high partition counts ? This would make use of the </a:t>
                </a:r>
                <a14:m>
                  <m:oMath xmlns:m="http://schemas.openxmlformats.org/officeDocument/2006/math">
                    <m:r>
                      <a:rPr lang="en-US" sz="2400" b="0" i="1" smtClean="0">
                        <a:latin typeface="Cambria Math" panose="02040503050406030204" pitchFamily="18" charset="0"/>
                      </a:rPr>
                      <m:t>𝑂</m:t>
                    </m:r>
                    <m:d>
                      <m:dPr>
                        <m:ctrlPr>
                          <a:rPr lang="en-US" sz="2400" i="1">
                            <a:latin typeface="Cambria Math" panose="02040503050406030204" pitchFamily="18" charset="0"/>
                          </a:rPr>
                        </m:ctrlPr>
                      </m:dPr>
                      <m:e>
                        <m:r>
                          <a:rPr lang="en-US" sz="2400" i="1">
                            <a:latin typeface="Cambria Math" panose="02040503050406030204" pitchFamily="18" charset="0"/>
                          </a:rPr>
                          <m:t>𝑀𝑙𝑜𝑔</m:t>
                        </m:r>
                        <m:d>
                          <m:dPr>
                            <m:ctrlPr>
                              <a:rPr lang="en-US" sz="2400" i="1">
                                <a:latin typeface="Cambria Math" panose="02040503050406030204" pitchFamily="18" charset="0"/>
                              </a:rPr>
                            </m:ctrlPr>
                          </m:dPr>
                          <m:e>
                            <m:r>
                              <a:rPr lang="en-US" sz="2400" i="1">
                                <a:latin typeface="Cambria Math" panose="02040503050406030204" pitchFamily="18" charset="0"/>
                              </a:rPr>
                              <m:t>𝑀</m:t>
                            </m:r>
                          </m:e>
                        </m:d>
                      </m:e>
                    </m:d>
                  </m:oMath>
                </a14:m>
                <a:r>
                  <a:rPr lang="en-US" sz="2400" dirty="0"/>
                  <a:t> complexity at high partition counts, and the </a:t>
                </a:r>
                <a14:m>
                  <m:oMath xmlns:m="http://schemas.openxmlformats.org/officeDocument/2006/math">
                    <m:r>
                      <a:rPr lang="en-US" sz="2400" b="0" i="1" smtClean="0">
                        <a:latin typeface="Cambria Math" panose="02040503050406030204" pitchFamily="18" charset="0"/>
                      </a:rPr>
                      <m:t>𝑂</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𝑀</m:t>
                            </m:r>
                          </m:e>
                          <m:sup>
                            <m:r>
                              <a:rPr lang="en-US" sz="2400" b="0" i="1" smtClean="0">
                                <a:latin typeface="Cambria Math" panose="02040503050406030204" pitchFamily="18" charset="0"/>
                              </a:rPr>
                              <m:t>2</m:t>
                            </m:r>
                          </m:sup>
                        </m:sSup>
                      </m:e>
                    </m:d>
                  </m:oMath>
                </a14:m>
                <a:r>
                  <a:rPr lang="en-US" sz="2400" dirty="0"/>
                  <a:t> complexity at low partition counts (which is actually significantly faster in that regime, due to not having to perform the FFT and IFFT). </a:t>
                </a:r>
              </a:p>
              <a:p>
                <a:pPr algn="just"/>
                <a:endParaRPr lang="en-US" sz="2400" dirty="0"/>
              </a:p>
              <a:p>
                <a:pPr algn="just"/>
                <a:endParaRPr lang="en-US" sz="2400" dirty="0"/>
              </a:p>
            </p:txBody>
          </p:sp>
        </mc:Choice>
        <mc:Fallback>
          <p:sp>
            <p:nvSpPr>
              <p:cNvPr id="3" name="Content Placeholder 2">
                <a:extLst>
                  <a:ext uri="{FF2B5EF4-FFF2-40B4-BE49-F238E27FC236}">
                    <a16:creationId xmlns:a16="http://schemas.microsoft.com/office/drawing/2014/main" id="{AF36586D-46F0-F3A4-BE1B-09EDA5E4432E}"/>
                  </a:ext>
                </a:extLst>
              </p:cNvPr>
              <p:cNvSpPr>
                <a:spLocks noGrp="1" noRot="1" noChangeAspect="1" noMove="1" noResize="1" noEditPoints="1" noAdjustHandles="1" noChangeArrowheads="1" noChangeShapeType="1" noTextEdit="1"/>
              </p:cNvSpPr>
              <p:nvPr>
                <p:ph idx="1"/>
              </p:nvPr>
            </p:nvSpPr>
            <p:spPr>
              <a:xfrm>
                <a:off x="769620" y="1657984"/>
                <a:ext cx="10622280" cy="4834255"/>
              </a:xfrm>
              <a:blipFill>
                <a:blip r:embed="rId2"/>
                <a:stretch>
                  <a:fillRect l="-631" t="-2018" r="-746"/>
                </a:stretch>
              </a:blipFill>
            </p:spPr>
            <p:txBody>
              <a:bodyPr/>
              <a:lstStyle/>
              <a:p>
                <a:r>
                  <a:rPr lang="en-US">
                    <a:noFill/>
                  </a:rPr>
                  <a:t> </a:t>
                </a:r>
              </a:p>
            </p:txBody>
          </p:sp>
        </mc:Fallback>
      </mc:AlternateContent>
    </p:spTree>
    <p:extLst>
      <p:ext uri="{BB962C8B-B14F-4D97-AF65-F5344CB8AC3E}">
        <p14:creationId xmlns:p14="http://schemas.microsoft.com/office/powerpoint/2010/main" val="19623392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904174-AAFD-48C9-3751-11EDE14CB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0EA85-1495-9AB9-4D24-4D93C71FDDAC}"/>
              </a:ext>
            </a:extLst>
          </p:cNvPr>
          <p:cNvSpPr>
            <a:spLocks noGrp="1"/>
          </p:cNvSpPr>
          <p:nvPr>
            <p:ph type="ctrTitle"/>
          </p:nvPr>
        </p:nvSpPr>
        <p:spPr>
          <a:xfrm>
            <a:off x="1524000" y="1165906"/>
            <a:ext cx="9144000" cy="2387600"/>
          </a:xfrm>
        </p:spPr>
        <p:txBody>
          <a:bodyPr/>
          <a:lstStyle/>
          <a:p>
            <a:r>
              <a:rPr lang="en-US" dirty="0"/>
              <a:t>Thanks !</a:t>
            </a:r>
          </a:p>
        </p:txBody>
      </p:sp>
    </p:spTree>
    <p:extLst>
      <p:ext uri="{BB962C8B-B14F-4D97-AF65-F5344CB8AC3E}">
        <p14:creationId xmlns:p14="http://schemas.microsoft.com/office/powerpoint/2010/main" val="22922190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24567</TotalTime>
  <Words>2253</Words>
  <Application>Microsoft Office PowerPoint</Application>
  <PresentationFormat>Widescreen</PresentationFormat>
  <Paragraphs>216</Paragraphs>
  <Slides>31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Aptos</vt:lpstr>
      <vt:lpstr>Aptos Display</vt:lpstr>
      <vt:lpstr>Arial</vt:lpstr>
      <vt:lpstr>Cambria Math</vt:lpstr>
      <vt:lpstr>Office Theme</vt:lpstr>
      <vt:lpstr>Progress Update</vt:lpstr>
      <vt:lpstr>Part 1: Lippmann-Schwinger to TFA</vt:lpstr>
      <vt:lpstr>Derivation: LS to TFA (1)</vt:lpstr>
      <vt:lpstr>PowerPoint Presentation</vt:lpstr>
      <vt:lpstr>PowerPoint Presentation</vt:lpstr>
      <vt:lpstr>PowerPoint Presentation</vt:lpstr>
      <vt:lpstr>PowerPoint Presentation</vt:lpstr>
      <vt:lpstr>PowerPoint Presentation</vt:lpstr>
      <vt:lpstr>PowerPoint Presentation</vt:lpstr>
      <vt:lpstr>Part 2: Lippmann-Schwinger to Constant Polarization </vt:lpstr>
      <vt:lpstr>Derivation: LS to CP (1)</vt:lpstr>
      <vt:lpstr>Derivation: LS to CP (2)</vt:lpstr>
      <vt:lpstr>Derivation: LS to CP (3)</vt:lpstr>
      <vt:lpstr>Derivation: LS to CP (4)</vt:lpstr>
      <vt:lpstr>Derivation: LS to CP (5)</vt:lpstr>
      <vt:lpstr>Derivation: LS to CP (6)</vt:lpstr>
      <vt:lpstr>Derivation: LS to CP (7)</vt:lpstr>
      <vt:lpstr>Derivation: LS to CP (8)</vt:lpstr>
      <vt:lpstr>Derivation: LS to CP (9)</vt:lpstr>
      <vt:lpstr>PowerPoint Presentation</vt:lpstr>
      <vt:lpstr>PowerPoint Presentation</vt:lpstr>
      <vt:lpstr>Final Comparison: TFA vs. CP</vt:lpstr>
      <vt:lpstr>Final Comparison: TFA vs. CP (Operators)</vt:lpstr>
      <vt:lpstr>Final Comparison: TFA vs. CP (Lippmann-Schwinger)</vt:lpstr>
      <vt:lpstr>Thoughts</vt:lpstr>
      <vt:lpstr>Part 3: Results - Problem Setting</vt:lpstr>
      <vt:lpstr>Results - Stress Contour</vt:lpstr>
      <vt:lpstr>Results - Stress-Strain Curve</vt:lpstr>
      <vt:lpstr>Results - Timing Comparison</vt:lpstr>
      <vt:lpstr> Closing Thoughts / Going Forward</vt:lpstr>
      <vt:lpstr>Thanks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cjr2210</dc:creator>
  <cp:lastModifiedBy>Cameron Rodriguez</cp:lastModifiedBy>
  <cp:revision>1305</cp:revision>
  <dcterms:created xsi:type="dcterms:W3CDTF">2026-06-04T15:53:12Z</dcterms:created>
  <dcterms:modified xsi:type="dcterms:W3CDTF">2026-10-21T01:57:20Z</dcterms:modified>
</cp:coreProperties>
</file>